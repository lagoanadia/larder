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Portada. Larder es el Proyecto Transversal de 2o DAM (P1). Presentar el nombre y encuadrar: es un documento de ideacion, no todavia el producto acabado.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dato de 1.040€/año sale de una estimacion propia (10€ de media perdidos por viaje), no de una fuente externa. Es honesto explicar que la primera cifra que se penso (120€/ano) no cuadraba con las cuentas reales, y se corrigio.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fuente principal ya no es busqueda por IA sino conversaciones reales con estudiantes/gente joven que comparten piso (mismo perfil que el mercado objetivo). AnyList tiene reconocimiento inteligente al escribir y codigo de barras -casi tan rapido como Notas-, pero todo su valor extra apunta a cocinar. La fila de Out of Milk se genero con IA (IA-2) y no se pudo verificar como app real: se documenta la retractacion en vez de ocultarla.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Conclusion del estado del arte: el hueco no es "mas bonita", es rapidez de Notas + colaboracion de Bring + foco en ahorro/stock, que ninguna cubre. Tambien vale mencionar el testimonio propio: en casa se abandono una app similar tras 2 usos por pereza de abrir "otra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RESULTADOS FINALES -- encuesta cerrada el 17/09/2026, n=32 (2 envios duplicados por accidente descartados: "las cantidades" y la broma "Amor y Paz", cada par contado una vez). El dato mas fuerte de toda la encuesta: 0/32 usa una app HOY como metodo (Pregunta 3) -- las 2 que probaron una app (Bring!, "Notas") la abandonaron, sin excepcion, en las 4 tandas de la recogida. El "metodo ganador" (Papel vs Notas) nunca se asento -- cambio de lider en cada tanda por 1-2 respuestas -- es un empate tecnico, se documenta asi en vez de forzar un ganador. El dato conjunto (53%, 17/32) se mantuvo estable por encima de la mitad en las ultimas tres tandas (58%-&gt;55%-&gt;53%) -- la senal mas solida de toda la encuesta.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RESULTADOS FINALES, n=32 (encuesta cerrada 17/09/2026; 2 duplicados por envio accidental descartados). Categorizacion: "no se quien compro que" y "llevar la cuenta de quien compro que antes" cuentan para AMBAS columnas (coop + tracker de gastos), "no saber que quieren los otros"/"comen mis cosas"/"compran cosas que no quiero"/"people eating my food"/"dudar en comprar algo y que se lo coma otro" es coop puro, "no participan/tardan en pagar" es tracker de gastos puro. Cooperacion termino como el tema mas repetido con diferencia (8/32, 25%) en toda la recogida. La queja de caducidad/comida que se estropea se mantiene en 4 menciones independientes -- segundo tema mas repetido, una de ellas describe literalmente el "aviso de stock bajo" que ya estaba en el alcance de Fridge. Las menciones de precio (2) siguen fuera de esta diapositiva por espacio -- estan en ideacion.md. La ultima respuesta (n=32) no aporto cita nueva (frustracion: "nada").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amplio el segmento objetivo a estudiantes+parejas+cualquiera que comparta gastos. Al no encontrar un desglose fiable para ese cruce en A Coruña, el mercado objetivo se iguala al accesible, y se documenta honestamente la limitacion de la busqueda.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Coste fijo 0 porque se usa el tier gratuito de Render, sin dominio de pago. Eso hace el punto de equilibrio trivial (1 hogar), pero viene con un coste tecnico real: sleep del servicio y disco efimero para SQLite.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Nadie nos elegiria por construir facturacion o cobro con tarjeta propios; si por como llevamos nevera y lista compartida. Orden de construccion: una pantalla completa antes de abrir la siguiente.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nombre Larder es una palabra inglesa comun (despensa) — revisar en P5 si dificulta encontrarlo en buscadores. De momento se mantiene.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Recalcar que lo entregado el viernes es la ideacion completa (docs/ideacion.md), no codigo terminado — eso es correcto para P1 en esta fase.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2119"/>
        </a:solidFill>
      </p:bgPr>
    </p:bg>
    <p:spTree>
      <p:nvGrpSpPr>
        <p:cNvPr id="1" name=""/>
        <p:cNvGrpSpPr/>
        <p:nvPr/>
      </p:nvGrpSpPr>
      <p:grpSpPr>
        <a:xfrm>
          <a:off x="0" y="0"/>
          <a:ext cx="0" cy="0"/>
          <a:chOff x="0" y="0"/>
          <a:chExt cx="0" cy="0"/>
        </a:xfrm>
      </p:grpSpPr>
      <p:sp>
        <p:nvSpPr>
          <p:cNvPr id="2" name="Shape 0"/>
          <p:cNvSpPr/>
          <p:nvPr/>
        </p:nvSpPr>
        <p:spPr>
          <a:xfrm>
            <a:off x="822960" y="685800"/>
            <a:ext cx="822960" cy="822960"/>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1020470" y="883310"/>
            <a:ext cx="427939" cy="427939"/>
          </a:xfrm>
          <a:prstGeom prst="rect">
            <a:avLst/>
          </a:prstGeom>
        </p:spPr>
      </p:pic>
      <p:sp>
        <p:nvSpPr>
          <p:cNvPr id="4" name="Text 1"/>
          <p:cNvSpPr txBox="1"/>
          <p:nvPr/>
        </p:nvSpPr>
        <p:spPr>
          <a:xfrm>
            <a:off x="777240" y="2286000"/>
            <a:ext cx="8229600" cy="118872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LARDER</a:t>
            </a:r>
            <a:endParaRPr lang="en-US" sz="6000" dirty="0"/>
          </a:p>
        </p:txBody>
      </p:sp>
      <p:sp>
        <p:nvSpPr>
          <p:cNvPr id="5" name="Text 2"/>
          <p:cNvSpPr txBox="1"/>
          <p:nvPr/>
        </p:nvSpPr>
        <p:spPr>
          <a:xfrm>
            <a:off x="822960" y="3429000"/>
            <a:ext cx="8686800" cy="548640"/>
          </a:xfrm>
          <a:prstGeom prst="rect">
            <a:avLst/>
          </a:prstGeom>
          <a:noFill/>
          <a:ln/>
        </p:spPr>
        <p:txBody>
          <a:bodyPr wrap="square" lIns="0" tIns="0" rIns="0" bIns="0" rtlCol="0" anchor="ctr"/>
          <a:lstStyle/>
          <a:p>
            <a:pPr indent="0" marL="0">
              <a:buNone/>
            </a:pPr>
            <a:r>
              <a:rPr lang="en-US" sz="1800" i="1" dirty="0">
                <a:solidFill>
                  <a:srgbClr val="D9A441"/>
                </a:solidFill>
                <a:latin typeface="Calibri" pitchFamily="34" charset="0"/>
                <a:ea typeface="Calibri" pitchFamily="34" charset="-122"/>
                <a:cs typeface="Calibri" pitchFamily="34" charset="-120"/>
              </a:rPr>
              <a:t>La nevera y la compra de un hogar compartido, sin líos ni WhatsApp</a:t>
            </a:r>
            <a:endParaRPr lang="en-US" sz="1800" dirty="0"/>
          </a:p>
        </p:txBody>
      </p:sp>
      <p:sp>
        <p:nvSpPr>
          <p:cNvPr id="6" name="Shape 3"/>
          <p:cNvSpPr/>
          <p:nvPr/>
        </p:nvSpPr>
        <p:spPr>
          <a:xfrm>
            <a:off x="822960" y="5394960"/>
            <a:ext cx="7498080" cy="777240"/>
          </a:xfrm>
          <a:prstGeom prst="roundRect">
            <a:avLst>
              <a:gd name="adj" fmla="val 11765"/>
            </a:avLst>
          </a:prstGeom>
          <a:solidFill>
            <a:srgbClr val="3D2E23"/>
          </a:solidFill>
          <a:ln/>
        </p:spPr>
      </p:sp>
      <p:sp>
        <p:nvSpPr>
          <p:cNvPr id="7" name="Text 4"/>
          <p:cNvSpPr txBox="1"/>
          <p:nvPr/>
        </p:nvSpPr>
        <p:spPr>
          <a:xfrm>
            <a:off x="1051560" y="5486400"/>
            <a:ext cx="7132320" cy="5943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Proyecto Transversal · Sesión 00</a:t>
            </a:r>
            <a:endParaRPr lang="en-US" sz="1300" dirty="0"/>
          </a:p>
          <a:p>
            <a:pPr indent="0" marL="0">
              <a:buNone/>
            </a:pPr>
            <a:r>
              <a:rPr lang="en-US" sz="1300" dirty="0">
                <a:solidFill>
                  <a:srgbClr val="D8CBBE"/>
                </a:solidFill>
                <a:latin typeface="Calibri" pitchFamily="34" charset="0"/>
                <a:ea typeface="Calibri" pitchFamily="34" charset="-122"/>
                <a:cs typeface="Calibri" pitchFamily="34" charset="-120"/>
              </a:rPr>
              <a:t>2º DAM  ·  Bloque P1 — Que exista  ·  Documento de ideación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1</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La frase del dolor</a:t>
            </a:r>
            <a:endParaRPr lang="en-US" sz="2800" dirty="0"/>
          </a:p>
        </p:txBody>
      </p:sp>
      <p:sp>
        <p:nvSpPr>
          <p:cNvPr id="6" name="Shape 3"/>
          <p:cNvSpPr/>
          <p:nvPr/>
        </p:nvSpPr>
        <p:spPr>
          <a:xfrm>
            <a:off x="548640" y="1417320"/>
            <a:ext cx="5212080" cy="2286000"/>
          </a:xfrm>
          <a:prstGeom prst="roundRect">
            <a:avLst>
              <a:gd name="adj" fmla="val 4800"/>
            </a:avLst>
          </a:prstGeom>
          <a:solidFill>
            <a:srgbClr val="EDE6DC"/>
          </a:solidFill>
          <a:ln/>
          <a:effectLst>
            <a:outerShdw sx="100000" sy="100000" kx="0" ky="0" algn="bl" rotWithShape="0" blurRad="76200" dist="25400" dir="5400000">
              <a:srgbClr val="000000">
                <a:alpha val="12000"/>
              </a:srgbClr>
            </a:outerShdw>
          </a:effectLst>
        </p:spPr>
      </p:sp>
      <p:sp>
        <p:nvSpPr>
          <p:cNvPr id="7" name="Text 4"/>
          <p:cNvSpPr txBox="1"/>
          <p:nvPr/>
        </p:nvSpPr>
        <p:spPr>
          <a:xfrm>
            <a:off x="777240" y="1600200"/>
            <a:ext cx="2743200" cy="274320"/>
          </a:xfrm>
          <a:prstGeom prst="rect">
            <a:avLst/>
          </a:prstGeom>
          <a:noFill/>
          <a:ln/>
        </p:spPr>
        <p:txBody>
          <a:bodyPr wrap="square" lIns="0" tIns="0" rIns="0" bIns="0" rtlCol="0" anchor="ctr"/>
          <a:lstStyle/>
          <a:p>
            <a:pPr indent="0" marL="0">
              <a:buNone/>
            </a:pPr>
            <a:r>
              <a:rPr lang="en-US" sz="1200" b="1" spc="200" kern="0" dirty="0">
                <a:solidFill>
                  <a:srgbClr val="8A7A6D"/>
                </a:solidFill>
                <a:latin typeface="Calibri" pitchFamily="34" charset="0"/>
                <a:ea typeface="Calibri" pitchFamily="34" charset="-122"/>
                <a:cs typeface="Calibri" pitchFamily="34" charset="-120"/>
              </a:rPr>
              <a:t>ANTES</a:t>
            </a:r>
            <a:endParaRPr lang="en-US" sz="1200" dirty="0"/>
          </a:p>
        </p:txBody>
      </p:sp>
      <p:sp>
        <p:nvSpPr>
          <p:cNvPr id="8" name="Text 5"/>
          <p:cNvSpPr txBox="1"/>
          <p:nvPr/>
        </p:nvSpPr>
        <p:spPr>
          <a:xfrm>
            <a:off x="777240" y="1920240"/>
            <a:ext cx="4754880" cy="1554480"/>
          </a:xfrm>
          <a:prstGeom prst="rect">
            <a:avLst/>
          </a:prstGeom>
          <a:noFill/>
          <a:ln/>
        </p:spPr>
        <p:txBody>
          <a:bodyPr wrap="square" lIns="0" tIns="0" rIns="0" bIns="0" rtlCol="0" anchor="t"/>
          <a:lstStyle/>
          <a:p>
            <a:pPr indent="0" marL="0">
              <a:buNone/>
            </a:pPr>
            <a:r>
              <a:rPr lang="en-US" sz="1500" i="1" dirty="0">
                <a:solidFill>
                  <a:srgbClr val="2E2119"/>
                </a:solidFill>
                <a:latin typeface="Calibri" pitchFamily="34" charset="0"/>
                <a:ea typeface="Calibri" pitchFamily="34" charset="-122"/>
                <a:cs typeface="Calibri" pitchFamily="34" charset="-120"/>
              </a:rPr>
              <a:t>"En mi casa perdemos tiempo controlando qué queda en la nevera y organizando la compra."</a:t>
            </a:r>
            <a:endParaRPr lang="en-US" sz="1500" dirty="0"/>
          </a:p>
        </p:txBody>
      </p:sp>
      <p:sp>
        <p:nvSpPr>
          <p:cNvPr id="9" name="Shape 6"/>
          <p:cNvSpPr/>
          <p:nvPr/>
        </p:nvSpPr>
        <p:spPr>
          <a:xfrm>
            <a:off x="5989320" y="1417320"/>
            <a:ext cx="5669280" cy="2286000"/>
          </a:xfrm>
          <a:prstGeom prst="roundRect">
            <a:avLst>
              <a:gd name="adj" fmla="val 4800"/>
            </a:avLst>
          </a:prstGeom>
          <a:solidFill>
            <a:srgbClr val="F4E9DA"/>
          </a:solidFill>
          <a:ln/>
          <a:effectLst>
            <a:outerShdw sx="100000" sy="100000" kx="0" ky="0" algn="bl" rotWithShape="0" blurRad="76200" dist="25400" dir="5400000">
              <a:srgbClr val="000000">
                <a:alpha val="12000"/>
              </a:srgbClr>
            </a:outerShdw>
          </a:effectLst>
        </p:spPr>
      </p:sp>
      <p:sp>
        <p:nvSpPr>
          <p:cNvPr id="10" name="Text 7"/>
          <p:cNvSpPr txBox="1"/>
          <p:nvPr/>
        </p:nvSpPr>
        <p:spPr>
          <a:xfrm>
            <a:off x="6217920" y="1600200"/>
            <a:ext cx="3657600" cy="274320"/>
          </a:xfrm>
          <a:prstGeom prst="rect">
            <a:avLst/>
          </a:prstGeom>
          <a:noFill/>
          <a:ln/>
        </p:spPr>
        <p:txBody>
          <a:bodyPr wrap="square" lIns="0" tIns="0" rIns="0" bIns="0" rtlCol="0" anchor="ctr"/>
          <a:lstStyle/>
          <a:p>
            <a:pPr indent="0" marL="0">
              <a:buNone/>
            </a:pPr>
            <a:r>
              <a:rPr lang="en-US" sz="1200" b="1" spc="100" kern="0" dirty="0">
                <a:solidFill>
                  <a:srgbClr val="C9682B"/>
                </a:solidFill>
                <a:latin typeface="Calibri" pitchFamily="34" charset="0"/>
                <a:ea typeface="Calibri" pitchFamily="34" charset="-122"/>
                <a:cs typeface="Calibri" pitchFamily="34" charset="-120"/>
              </a:rPr>
              <a:t>DESPUÉS — con datos reales</a:t>
            </a:r>
            <a:endParaRPr lang="en-US" sz="1200" dirty="0"/>
          </a:p>
        </p:txBody>
      </p:sp>
      <p:sp>
        <p:nvSpPr>
          <p:cNvPr id="11" name="Text 8"/>
          <p:cNvSpPr txBox="1"/>
          <p:nvPr/>
        </p:nvSpPr>
        <p:spPr>
          <a:xfrm>
            <a:off x="6217920" y="1920240"/>
            <a:ext cx="5212080" cy="1691640"/>
          </a:xfrm>
          <a:prstGeom prst="rect">
            <a:avLst/>
          </a:prstGeom>
          <a:noFill/>
          <a:ln/>
        </p:spPr>
        <p:txBody>
          <a:bodyPr wrap="square" lIns="0" tIns="0" rIns="0" bIns="0" rtlCol="0" anchor="t"/>
          <a:lstStyle/>
          <a:p>
            <a:pPr indent="0" marL="0">
              <a:buNone/>
            </a:pPr>
            <a:r>
              <a:rPr lang="en-US" sz="1350" dirty="0">
                <a:solidFill>
                  <a:srgbClr val="2E2119"/>
                </a:solidFill>
                <a:latin typeface="Calibri" pitchFamily="34" charset="0"/>
                <a:ea typeface="Calibri" pitchFamily="34" charset="-122"/>
                <a:cs typeface="Calibri" pitchFamily="34" charset="-120"/>
              </a:rPr>
              <a:t>Iago y Nadia pierden 10-15 min cada vez que hacen la lista a ojo con papel y boli, van a la tienda 2 veces/semana sin planificar, y casi siempre acaban comprando algo duplicado o volviendo por algo olvidado.</a:t>
            </a:r>
            <a:endParaRPr lang="en-US" sz="1350" dirty="0"/>
          </a:p>
        </p:txBody>
      </p:sp>
      <p:sp>
        <p:nvSpPr>
          <p:cNvPr id="12" name="Shape 9"/>
          <p:cNvSpPr/>
          <p:nvPr/>
        </p:nvSpPr>
        <p:spPr>
          <a:xfrm>
            <a:off x="548640" y="3977640"/>
            <a:ext cx="4754880" cy="1737360"/>
          </a:xfrm>
          <a:prstGeom prst="roundRect">
            <a:avLst>
              <a:gd name="adj" fmla="val 6316"/>
            </a:avLst>
          </a:prstGeom>
          <a:solidFill>
            <a:srgbClr val="2E2119"/>
          </a:solidFill>
          <a:ln/>
        </p:spPr>
      </p:sp>
      <p:sp>
        <p:nvSpPr>
          <p:cNvPr id="13" name="Text 10"/>
          <p:cNvSpPr txBox="1"/>
          <p:nvPr/>
        </p:nvSpPr>
        <p:spPr>
          <a:xfrm>
            <a:off x="548640" y="4160520"/>
            <a:ext cx="4754880" cy="868680"/>
          </a:xfrm>
          <a:prstGeom prst="rect">
            <a:avLst/>
          </a:prstGeom>
          <a:noFill/>
          <a:ln/>
        </p:spPr>
        <p:txBody>
          <a:bodyPr wrap="square" lIns="0" tIns="0" rIns="0" bIns="0" rtlCol="0" anchor="ctr"/>
          <a:lstStyle/>
          <a:p>
            <a:pPr algn="ctr" indent="0" marL="0">
              <a:buNone/>
            </a:pPr>
            <a:r>
              <a:rPr lang="en-US" sz="4400" b="1" dirty="0">
                <a:solidFill>
                  <a:srgbClr val="D9A441"/>
                </a:solidFill>
                <a:latin typeface="Cambria" pitchFamily="34" charset="0"/>
                <a:ea typeface="Cambria" pitchFamily="34" charset="-122"/>
                <a:cs typeface="Cambria" pitchFamily="34" charset="-120"/>
              </a:rPr>
              <a:t>≈ 1.040 €</a:t>
            </a:r>
            <a:endParaRPr lang="en-US" sz="4400" dirty="0"/>
          </a:p>
        </p:txBody>
      </p:sp>
      <p:sp>
        <p:nvSpPr>
          <p:cNvPr id="14" name="Text 11"/>
          <p:cNvSpPr txBox="1"/>
          <p:nvPr/>
        </p:nvSpPr>
        <p:spPr>
          <a:xfrm>
            <a:off x="731520" y="5074920"/>
            <a:ext cx="4389120" cy="5029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perdidos al año en compras mal planificadas</a:t>
            </a:r>
            <a:endParaRPr lang="en-US" sz="1300" dirty="0"/>
          </a:p>
        </p:txBody>
      </p:sp>
      <p:sp>
        <p:nvSpPr>
          <p:cNvPr id="15" name="Text 12"/>
          <p:cNvSpPr txBox="1"/>
          <p:nvPr/>
        </p:nvSpPr>
        <p:spPr>
          <a:xfrm>
            <a:off x="5532120" y="3977640"/>
            <a:ext cx="6126480" cy="1737360"/>
          </a:xfrm>
          <a:prstGeom prst="rect">
            <a:avLst/>
          </a:prstGeom>
          <a:noFill/>
          <a:ln/>
        </p:spPr>
        <p:txBody>
          <a:bodyPr wrap="square" lIns="0" tIns="0" rIns="0" bIns="0" rtlCol="0" anchor="t"/>
          <a:lstStyle/>
          <a:p>
            <a:pPr indent="0" marL="0">
              <a:buNone/>
            </a:pPr>
            <a:r>
              <a:rPr lang="en-US" sz="1300" b="1" dirty="0">
                <a:solidFill>
                  <a:srgbClr val="2E2119"/>
                </a:solidFill>
                <a:latin typeface="Calibri" pitchFamily="34" charset="0"/>
                <a:ea typeface="Calibri" pitchFamily="34" charset="-122"/>
                <a:cs typeface="Calibri" pitchFamily="34" charset="-120"/>
              </a:rPr>
              <a:t>Cómo se calculó:  </a:t>
            </a:r>
            <a:endParaRPr lang="en-US" sz="1300" dirty="0"/>
          </a:p>
          <a:p>
            <a:pPr indent="0" marL="0">
              <a:spcAft>
                <a:spcPts val="800"/>
              </a:spcAft>
              <a:buNone/>
            </a:pPr>
            <a:r>
              <a:rPr lang="en-US" sz="1300" dirty="0">
                <a:solidFill>
                  <a:srgbClr val="2E2119"/>
                </a:solidFill>
                <a:latin typeface="Calibri" pitchFamily="34" charset="0"/>
                <a:ea typeface="Calibri" pitchFamily="34" charset="-122"/>
                <a:cs typeface="Calibri" pitchFamily="34" charset="-120"/>
              </a:rPr>
              <a:t>10 €/viaje × 2 viajes/semana × 52 semanas ≈ 1.040 €/año</a:t>
            </a:r>
            <a:endParaRPr lang="en-US" sz="1300" dirty="0"/>
          </a:p>
          <a:p>
            <a:pPr indent="0" marL="0">
              <a:buNone/>
            </a:pPr>
            <a:r>
              <a:rPr lang="en-US" sz="1300" b="1" dirty="0">
                <a:solidFill>
                  <a:srgbClr val="2E2119"/>
                </a:solidFill>
                <a:latin typeface="Calibri" pitchFamily="34" charset="0"/>
                <a:ea typeface="Calibri" pitchFamily="34" charset="-122"/>
                <a:cs typeface="Calibri" pitchFamily="34" charset="-120"/>
              </a:rPr>
              <a:t>Fuente:  </a:t>
            </a:r>
            <a:endParaRPr lang="en-US" sz="1300" dirty="0"/>
          </a:p>
          <a:p>
            <a:pPr indent="0" marL="0">
              <a:buNone/>
            </a:pPr>
            <a:r>
              <a:rPr lang="en-US" sz="1300" dirty="0">
                <a:solidFill>
                  <a:srgbClr val="2E2119"/>
                </a:solidFill>
                <a:latin typeface="Calibri" pitchFamily="34" charset="0"/>
                <a:ea typeface="Calibri" pitchFamily="34" charset="-122"/>
                <a:cs typeface="Calibri" pitchFamily="34" charset="-120"/>
              </a:rPr>
              <a:t>experiencia directa del hogar (Iago, Nadia, Muxia) — dato de primera mano, sin fuente externa.</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2</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Estado del arte — la competencia</a:t>
            </a:r>
            <a:endParaRPr lang="en-US" sz="2800" dirty="0"/>
          </a:p>
        </p:txBody>
      </p:sp>
      <p:sp>
        <p:nvSpPr>
          <p:cNvPr id="6" name="Text 3"/>
          <p:cNvSpPr txBox="1"/>
          <p:nvPr/>
        </p:nvSpPr>
        <p:spPr>
          <a:xfrm>
            <a:off x="548640" y="1234440"/>
            <a:ext cx="11094415" cy="274320"/>
          </a:xfrm>
          <a:prstGeom prst="rect">
            <a:avLst/>
          </a:prstGeom>
          <a:noFill/>
          <a:ln/>
        </p:spPr>
        <p:txBody>
          <a:bodyPr wrap="square" lIns="0" tIns="0" rIns="0" bIns="0" rtlCol="0" anchor="ctr"/>
          <a:lstStyle/>
          <a:p>
            <a:pPr indent="0" marL="0">
              <a:buNone/>
            </a:pPr>
            <a:r>
              <a:rPr lang="en-US" sz="1000" i="1" dirty="0">
                <a:solidFill>
                  <a:srgbClr val="8A7A6D"/>
                </a:solidFill>
                <a:latin typeface="Calibri" pitchFamily="34" charset="0"/>
                <a:ea typeface="Calibri" pitchFamily="34" charset="-122"/>
                <a:cs typeface="Calibri" pitchFamily="34" charset="-120"/>
              </a:rPr>
              <a:t>Fuente principal: conversaciones directas con estudiantes/gente joven — el mismo perfil que el mercado objetivo.</a:t>
            </a:r>
            <a:endParaRPr lang="en-US" sz="1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2286000"/>
        </p:xfrm>
        <a:graphic>
          <a:graphicData uri="http://schemas.openxmlformats.org/drawingml/2006/table">
            <a:tbl>
              <a:tblPr/>
              <a:tblGrid>
                <a:gridCol w="1737360"/>
                <a:gridCol w="4480560"/>
                <a:gridCol w="4846320"/>
              </a:tblGrid>
              <a:tr h="45720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Solución</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2E211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Lo bueno</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2E211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El problema</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2E2119"/>
                    </a:solidFill>
                  </a:tcPr>
                </a:tc>
              </a:tr>
              <a:tr h="457200">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Papel y boli</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Rápido y sencillo</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Se pierde fácil; de un solo uso (gasta papel)</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Notas (móvil)</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La más usada; simple y reusable — "la que mejor funciona"</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No se comparte ni coedita en tiempo real</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Bring!</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Colaborativo de verdad, en tiempo real</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Paso extra al añadir un item; su "Inspiración" no resuelve el caso de uso</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AnyList</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Reconoce items al escribir + código de barras</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Todo el valor apunta a cocinar, no a ahorrar o controlar stock</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r>
            </a:tbl>
          </a:graphicData>
        </a:graphic>
      </p:graphicFrame>
      <p:sp>
        <p:nvSpPr>
          <p:cNvPr id="8" name="Shape 4"/>
          <p:cNvSpPr/>
          <p:nvPr/>
        </p:nvSpPr>
        <p:spPr>
          <a:xfrm>
            <a:off x="548640" y="3977640"/>
            <a:ext cx="11064240" cy="1280160"/>
          </a:xfrm>
          <a:prstGeom prst="roundRect">
            <a:avLst>
              <a:gd name="adj" fmla="val 8571"/>
            </a:avLst>
          </a:prstGeom>
          <a:solidFill>
            <a:srgbClr val="F4E9DA"/>
          </a:solidFill>
          <a:ln/>
          <a:effectLst>
            <a:outerShdw sx="100000" sy="100000" kx="0" ky="0" algn="bl" rotWithShape="0" blurRad="76200" dist="25400" dir="5400000">
              <a:srgbClr val="000000">
                <a:alpha val="12000"/>
              </a:srgbClr>
            </a:outerShdw>
          </a:effectLst>
        </p:spPr>
      </p:sp>
      <p:sp>
        <p:nvSpPr>
          <p:cNvPr id="9" name="Text 5"/>
          <p:cNvSpPr txBox="1"/>
          <p:nvPr/>
        </p:nvSpPr>
        <p:spPr>
          <a:xfrm>
            <a:off x="777240" y="4096512"/>
            <a:ext cx="5486400" cy="274320"/>
          </a:xfrm>
          <a:prstGeom prst="rect">
            <a:avLst/>
          </a:prstGeom>
          <a:noFill/>
          <a:ln/>
        </p:spPr>
        <p:txBody>
          <a:bodyPr wrap="square" lIns="0" tIns="0" rIns="0" bIns="0" rtlCol="0" anchor="ctr"/>
          <a:lstStyle/>
          <a:p>
            <a:pPr indent="0" marL="0">
              <a:buNone/>
            </a:pPr>
            <a:r>
              <a:rPr lang="en-US" sz="1100" b="1" spc="100" kern="0" dirty="0">
                <a:solidFill>
                  <a:srgbClr val="C9682B"/>
                </a:solidFill>
                <a:latin typeface="Calibri" pitchFamily="34" charset="0"/>
                <a:ea typeface="Calibri" pitchFamily="34" charset="-122"/>
                <a:cs typeface="Calibri" pitchFamily="34" charset="-120"/>
              </a:rPr>
              <a:t>Cita literal verificada (fuente secundaria)</a:t>
            </a:r>
            <a:endParaRPr lang="en-US" sz="1100" dirty="0"/>
          </a:p>
        </p:txBody>
      </p:sp>
      <p:sp>
        <p:nvSpPr>
          <p:cNvPr id="10" name="Text 6"/>
          <p:cNvSpPr txBox="1"/>
          <p:nvPr/>
        </p:nvSpPr>
        <p:spPr>
          <a:xfrm>
            <a:off x="777240" y="4370832"/>
            <a:ext cx="10607040" cy="502920"/>
          </a:xfrm>
          <a:prstGeom prst="rect">
            <a:avLst/>
          </a:prstGeom>
          <a:noFill/>
          <a:ln/>
        </p:spPr>
        <p:txBody>
          <a:bodyPr wrap="square" lIns="0" tIns="0" rIns="0" bIns="0" rtlCol="0" anchor="ctr"/>
          <a:lstStyle/>
          <a:p>
            <a:pPr indent="0" marL="0">
              <a:buNone/>
            </a:pPr>
            <a:r>
              <a:rPr lang="en-US" sz="1250" i="1" dirty="0">
                <a:solidFill>
                  <a:srgbClr val="2E2119"/>
                </a:solidFill>
                <a:latin typeface="Calibri" pitchFamily="34" charset="0"/>
                <a:ea typeface="Calibri" pitchFamily="34" charset="-122"/>
                <a:cs typeface="Calibri" pitchFamily="34" charset="-120"/>
              </a:rPr>
              <a:t>"El icono de la aplicación aparece marcado como comprado en el Apple Watch pero no llega a descargarse ni a instalarse."</a:t>
            </a:r>
            <a:endParaRPr lang="en-US" sz="1250" dirty="0"/>
          </a:p>
        </p:txBody>
      </p:sp>
      <p:sp>
        <p:nvSpPr>
          <p:cNvPr id="11" name="Text 7"/>
          <p:cNvSpPr txBox="1"/>
          <p:nvPr/>
        </p:nvSpPr>
        <p:spPr>
          <a:xfrm>
            <a:off x="777240" y="4864608"/>
            <a:ext cx="10607040" cy="320040"/>
          </a:xfrm>
          <a:prstGeom prst="rect">
            <a:avLst/>
          </a:prstGeom>
          <a:noFill/>
          <a:ln/>
        </p:spPr>
        <p:txBody>
          <a:bodyPr wrap="square" lIns="0" tIns="0" rIns="0" bIns="0" rtlCol="0" anchor="ctr"/>
          <a:lstStyle/>
          <a:p>
            <a:pPr indent="0" marL="0">
              <a:buNone/>
            </a:pPr>
            <a:r>
              <a:rPr lang="en-US" sz="1100" dirty="0">
                <a:solidFill>
                  <a:srgbClr val="8A7A6D"/>
                </a:solidFill>
                <a:latin typeface="Calibri" pitchFamily="34" charset="0"/>
                <a:ea typeface="Calibri" pitchFamily="34" charset="-122"/>
                <a:cs typeface="Calibri" pitchFamily="34" charset="-120"/>
              </a:rPr>
              <a:t>— Reseña real verificada de Bring! Grocery Shopping List, App Store</a:t>
            </a:r>
            <a:endParaRPr lang="en-US" sz="1100" dirty="0"/>
          </a:p>
        </p:txBody>
      </p:sp>
      <p:sp>
        <p:nvSpPr>
          <p:cNvPr id="12" name="Shape 8"/>
          <p:cNvSpPr/>
          <p:nvPr/>
        </p:nvSpPr>
        <p:spPr>
          <a:xfrm>
            <a:off x="548640" y="5440680"/>
            <a:ext cx="11064240" cy="960120"/>
          </a:xfrm>
          <a:prstGeom prst="roundRect">
            <a:avLst>
              <a:gd name="adj" fmla="val 9524"/>
            </a:avLst>
          </a:prstGeom>
          <a:solidFill>
            <a:srgbClr val="F6E9D8"/>
          </a:solidFill>
          <a:ln w="12700">
            <a:solidFill>
              <a:srgbClr val="C9682B"/>
            </a:solidFill>
            <a:prstDash val="solid"/>
          </a:ln>
        </p:spPr>
      </p:sp>
      <p:sp>
        <p:nvSpPr>
          <p:cNvPr id="13" name="Text 9"/>
          <p:cNvSpPr txBox="1"/>
          <p:nvPr/>
        </p:nvSpPr>
        <p:spPr>
          <a:xfrm>
            <a:off x="777240" y="5532120"/>
            <a:ext cx="10607040" cy="822960"/>
          </a:xfrm>
          <a:prstGeom prst="rect">
            <a:avLst/>
          </a:prstGeom>
          <a:noFill/>
          <a:ln/>
        </p:spPr>
        <p:txBody>
          <a:bodyPr wrap="square" lIns="0" tIns="0" rIns="0" bIns="0" rtlCol="0" anchor="ctr"/>
          <a:lstStyle/>
          <a:p>
            <a:pPr indent="0" marL="0">
              <a:buNone/>
            </a:pPr>
            <a:r>
              <a:rPr lang="en-US" sz="1200" b="1" dirty="0">
                <a:solidFill>
                  <a:srgbClr val="C9682B"/>
                </a:solidFill>
                <a:latin typeface="Calibri" pitchFamily="34" charset="0"/>
                <a:ea typeface="Calibri" pitchFamily="34" charset="-122"/>
                <a:cs typeface="Calibri" pitchFamily="34" charset="-120"/>
              </a:rPr>
              <a:t>Corrección honesta:  </a:t>
            </a:r>
            <a:pPr indent="0" marL="0">
              <a:buNone/>
            </a:pPr>
            <a:r>
              <a:rPr lang="en-US" sz="1200" dirty="0">
                <a:solidFill>
                  <a:srgbClr val="2E2119"/>
                </a:solidFill>
                <a:latin typeface="Calibri" pitchFamily="34" charset="0"/>
                <a:ea typeface="Calibri" pitchFamily="34" charset="-122"/>
                <a:cs typeface="Calibri" pitchFamily="34" charset="-120"/>
              </a:rPr>
              <a:t>una tercera app ("Out of Milk") encontrada por búsqueda IA no superó la verificación real y se retiró del análisis, en vez de darse por buena.</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2</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Estado del arte — el hueco detectado</a:t>
            </a:r>
            <a:endParaRPr lang="en-US" sz="2800" dirty="0"/>
          </a:p>
        </p:txBody>
      </p:sp>
      <p:sp>
        <p:nvSpPr>
          <p:cNvPr id="6" name="Shape 3"/>
          <p:cNvSpPr/>
          <p:nvPr/>
        </p:nvSpPr>
        <p:spPr>
          <a:xfrm>
            <a:off x="548640" y="1508760"/>
            <a:ext cx="11064240" cy="1051560"/>
          </a:xfrm>
          <a:prstGeom prst="roundRect">
            <a:avLst>
              <a:gd name="adj" fmla="val 10435"/>
            </a:avLst>
          </a:prstGeom>
          <a:solidFill>
            <a:srgbClr val="F4E9DA"/>
          </a:solidFill>
          <a:ln/>
          <a:effectLst>
            <a:outerShdw sx="100000" sy="100000" kx="0" ky="0" algn="bl" rotWithShape="0" blurRad="76200" dist="25400" dir="5400000">
              <a:srgbClr val="000000">
                <a:alpha val="12000"/>
              </a:srgbClr>
            </a:outerShdw>
          </a:effectLst>
        </p:spPr>
      </p:sp>
      <p:sp>
        <p:nvSpPr>
          <p:cNvPr id="7" name="Text 4"/>
          <p:cNvSpPr txBox="1"/>
          <p:nvPr/>
        </p:nvSpPr>
        <p:spPr>
          <a:xfrm>
            <a:off x="822960" y="1618488"/>
            <a:ext cx="2743200" cy="822960"/>
          </a:xfrm>
          <a:prstGeom prst="rect">
            <a:avLst/>
          </a:prstGeom>
          <a:noFill/>
          <a:ln/>
        </p:spPr>
        <p:txBody>
          <a:bodyPr wrap="square" lIns="0" tIns="0" rIns="0" bIns="0" rtlCol="0" anchor="ctr"/>
          <a:lstStyle/>
          <a:p>
            <a:pPr indent="0" marL="0">
              <a:buNone/>
            </a:pPr>
            <a:r>
              <a:rPr lang="en-US" sz="1500" b="1" dirty="0">
                <a:solidFill>
                  <a:srgbClr val="C9682B"/>
                </a:solidFill>
                <a:latin typeface="Cambria" pitchFamily="34" charset="0"/>
                <a:ea typeface="Cambria" pitchFamily="34" charset="-122"/>
                <a:cs typeface="Cambria" pitchFamily="34" charset="-120"/>
              </a:rPr>
              <a:t>De posicionamiento</a:t>
            </a:r>
            <a:endParaRPr lang="en-US" sz="1500" dirty="0"/>
          </a:p>
        </p:txBody>
      </p:sp>
      <p:sp>
        <p:nvSpPr>
          <p:cNvPr id="8" name="Text 5"/>
          <p:cNvSpPr txBox="1"/>
          <p:nvPr/>
        </p:nvSpPr>
        <p:spPr>
          <a:xfrm>
            <a:off x="3657600" y="1618488"/>
            <a:ext cx="7772400" cy="822960"/>
          </a:xfrm>
          <a:prstGeom prst="rect">
            <a:avLst/>
          </a:prstGeom>
          <a:noFill/>
          <a:ln/>
        </p:spPr>
        <p:txBody>
          <a:bodyPr wrap="square" lIns="0" tIns="0" rIns="0" bIns="0" rtlCol="0" anchor="ctr"/>
          <a:lstStyle/>
          <a:p>
            <a:pPr indent="0" marL="0">
              <a:buNone/>
            </a:pPr>
            <a:r>
              <a:rPr lang="en-US" sz="1300" dirty="0">
                <a:solidFill>
                  <a:srgbClr val="2E2119"/>
                </a:solidFill>
                <a:latin typeface="Calibri" pitchFamily="34" charset="0"/>
                <a:ea typeface="Calibri" pitchFamily="34" charset="-122"/>
                <a:cs typeface="Calibri" pitchFamily="34" charset="-120"/>
              </a:rPr>
              <a:t>Ni Bring! ni AnyList apuntan a ahorrar o controlar stock — las dos están construidas para cocinar y planificar recetas.</a:t>
            </a:r>
            <a:endParaRPr lang="en-US" sz="1300" dirty="0"/>
          </a:p>
        </p:txBody>
      </p:sp>
      <p:sp>
        <p:nvSpPr>
          <p:cNvPr id="9" name="Shape 6"/>
          <p:cNvSpPr/>
          <p:nvPr/>
        </p:nvSpPr>
        <p:spPr>
          <a:xfrm>
            <a:off x="548640" y="2697480"/>
            <a:ext cx="11064240" cy="1051560"/>
          </a:xfrm>
          <a:prstGeom prst="roundRect">
            <a:avLst>
              <a:gd name="adj" fmla="val 10435"/>
            </a:avLst>
          </a:prstGeom>
          <a:solidFill>
            <a:srgbClr val="EDE6DC"/>
          </a:solidFill>
          <a:ln/>
          <a:effectLst>
            <a:outerShdw sx="100000" sy="100000" kx="0" ky="0" algn="bl" rotWithShape="0" blurRad="76200" dist="25400" dir="5400000">
              <a:srgbClr val="000000">
                <a:alpha val="12000"/>
              </a:srgbClr>
            </a:outerShdw>
          </a:effectLst>
        </p:spPr>
      </p:sp>
      <p:sp>
        <p:nvSpPr>
          <p:cNvPr id="10" name="Text 7"/>
          <p:cNvSpPr txBox="1"/>
          <p:nvPr/>
        </p:nvSpPr>
        <p:spPr>
          <a:xfrm>
            <a:off x="822960" y="2807208"/>
            <a:ext cx="2743200" cy="822960"/>
          </a:xfrm>
          <a:prstGeom prst="rect">
            <a:avLst/>
          </a:prstGeom>
          <a:noFill/>
          <a:ln/>
        </p:spPr>
        <p:txBody>
          <a:bodyPr wrap="square" lIns="0" tIns="0" rIns="0" bIns="0" rtlCol="0" anchor="ctr"/>
          <a:lstStyle/>
          <a:p>
            <a:pPr indent="0" marL="0">
              <a:buNone/>
            </a:pPr>
            <a:r>
              <a:rPr lang="en-US" sz="1500" b="1" dirty="0">
                <a:solidFill>
                  <a:srgbClr val="C9682B"/>
                </a:solidFill>
                <a:latin typeface="Cambria" pitchFamily="34" charset="0"/>
                <a:ea typeface="Cambria" pitchFamily="34" charset="-122"/>
                <a:cs typeface="Cambria" pitchFamily="34" charset="-120"/>
              </a:rPr>
              <a:t>De fricción</a:t>
            </a:r>
            <a:endParaRPr lang="en-US" sz="1500" dirty="0"/>
          </a:p>
        </p:txBody>
      </p:sp>
      <p:sp>
        <p:nvSpPr>
          <p:cNvPr id="11" name="Text 8"/>
          <p:cNvSpPr txBox="1"/>
          <p:nvPr/>
        </p:nvSpPr>
        <p:spPr>
          <a:xfrm>
            <a:off x="3657600" y="2807208"/>
            <a:ext cx="7772400" cy="822960"/>
          </a:xfrm>
          <a:prstGeom prst="rect">
            <a:avLst/>
          </a:prstGeom>
          <a:noFill/>
          <a:ln/>
        </p:spPr>
        <p:txBody>
          <a:bodyPr wrap="square" lIns="0" tIns="0" rIns="0" bIns="0" rtlCol="0" anchor="ctr"/>
          <a:lstStyle/>
          <a:p>
            <a:pPr indent="0" marL="0">
              <a:buNone/>
            </a:pPr>
            <a:r>
              <a:rPr lang="en-US" sz="1300" dirty="0">
                <a:solidFill>
                  <a:srgbClr val="2E2119"/>
                </a:solidFill>
                <a:latin typeface="Calibri" pitchFamily="34" charset="0"/>
                <a:ea typeface="Calibri" pitchFamily="34" charset="-122"/>
                <a:cs typeface="Calibri" pitchFamily="34" charset="-120"/>
              </a:rPr>
              <a:t>Cualquier paso extra sobre "simplemente escribir" hace que la gente vuelva a Notas, la solución más simple.</a:t>
            </a:r>
            <a:endParaRPr lang="en-US" sz="1300" dirty="0"/>
          </a:p>
        </p:txBody>
      </p:sp>
      <p:sp>
        <p:nvSpPr>
          <p:cNvPr id="12" name="Shape 9"/>
          <p:cNvSpPr/>
          <p:nvPr/>
        </p:nvSpPr>
        <p:spPr>
          <a:xfrm>
            <a:off x="548640" y="3886200"/>
            <a:ext cx="11064240" cy="1051560"/>
          </a:xfrm>
          <a:prstGeom prst="roundRect">
            <a:avLst>
              <a:gd name="adj" fmla="val 10435"/>
            </a:avLst>
          </a:prstGeom>
          <a:solidFill>
            <a:srgbClr val="F4E9DA"/>
          </a:solidFill>
          <a:ln/>
          <a:effectLst>
            <a:outerShdw sx="100000" sy="100000" kx="0" ky="0" algn="bl" rotWithShape="0" blurRad="76200" dist="25400" dir="5400000">
              <a:srgbClr val="000000">
                <a:alpha val="12000"/>
              </a:srgbClr>
            </a:outerShdw>
          </a:effectLst>
        </p:spPr>
      </p:sp>
      <p:sp>
        <p:nvSpPr>
          <p:cNvPr id="13" name="Text 10"/>
          <p:cNvSpPr txBox="1"/>
          <p:nvPr/>
        </p:nvSpPr>
        <p:spPr>
          <a:xfrm>
            <a:off x="822960" y="3995928"/>
            <a:ext cx="2743200" cy="822960"/>
          </a:xfrm>
          <a:prstGeom prst="rect">
            <a:avLst/>
          </a:prstGeom>
          <a:noFill/>
          <a:ln/>
        </p:spPr>
        <p:txBody>
          <a:bodyPr wrap="square" lIns="0" tIns="0" rIns="0" bIns="0" rtlCol="0" anchor="ctr"/>
          <a:lstStyle/>
          <a:p>
            <a:pPr indent="0" marL="0">
              <a:buNone/>
            </a:pPr>
            <a:r>
              <a:rPr lang="en-US" sz="1500" b="1" dirty="0">
                <a:solidFill>
                  <a:srgbClr val="C9682B"/>
                </a:solidFill>
                <a:latin typeface="Cambria" pitchFamily="34" charset="0"/>
                <a:ea typeface="Cambria" pitchFamily="34" charset="-122"/>
                <a:cs typeface="Cambria" pitchFamily="34" charset="-120"/>
              </a:rPr>
              <a:t>De colaboración</a:t>
            </a:r>
            <a:endParaRPr lang="en-US" sz="1500" dirty="0"/>
          </a:p>
        </p:txBody>
      </p:sp>
      <p:sp>
        <p:nvSpPr>
          <p:cNvPr id="14" name="Text 11"/>
          <p:cNvSpPr txBox="1"/>
          <p:nvPr/>
        </p:nvSpPr>
        <p:spPr>
          <a:xfrm>
            <a:off x="3657600" y="3995928"/>
            <a:ext cx="7772400" cy="822960"/>
          </a:xfrm>
          <a:prstGeom prst="rect">
            <a:avLst/>
          </a:prstGeom>
          <a:noFill/>
          <a:ln/>
        </p:spPr>
        <p:txBody>
          <a:bodyPr wrap="square" lIns="0" tIns="0" rIns="0" bIns="0" rtlCol="0" anchor="ctr"/>
          <a:lstStyle/>
          <a:p>
            <a:pPr indent="0" marL="0">
              <a:buNone/>
            </a:pPr>
            <a:r>
              <a:rPr lang="en-US" sz="1300" dirty="0">
                <a:solidFill>
                  <a:srgbClr val="2E2119"/>
                </a:solidFill>
                <a:latin typeface="Calibri" pitchFamily="34" charset="0"/>
                <a:ea typeface="Calibri" pitchFamily="34" charset="-122"/>
                <a:cs typeface="Calibri" pitchFamily="34" charset="-120"/>
              </a:rPr>
              <a:t>La solución que mejor funciona en la práctica (Notas) no se puede compartir ni coeditar en tiempo real.</a:t>
            </a:r>
            <a:endParaRPr lang="en-US" sz="1300" dirty="0"/>
          </a:p>
        </p:txBody>
      </p:sp>
      <p:sp>
        <p:nvSpPr>
          <p:cNvPr id="15" name="Shape 12"/>
          <p:cNvSpPr/>
          <p:nvPr/>
        </p:nvSpPr>
        <p:spPr>
          <a:xfrm>
            <a:off x="548640" y="5212080"/>
            <a:ext cx="11064240" cy="1051560"/>
          </a:xfrm>
          <a:prstGeom prst="roundRect">
            <a:avLst>
              <a:gd name="adj" fmla="val 10435"/>
            </a:avLst>
          </a:prstGeom>
          <a:solidFill>
            <a:srgbClr val="2E2119"/>
          </a:solidFill>
          <a:ln/>
        </p:spPr>
      </p:sp>
      <p:sp>
        <p:nvSpPr>
          <p:cNvPr id="16" name="Text 13"/>
          <p:cNvSpPr txBox="1"/>
          <p:nvPr/>
        </p:nvSpPr>
        <p:spPr>
          <a:xfrm>
            <a:off x="868680" y="5330952"/>
            <a:ext cx="10424160" cy="777240"/>
          </a:xfrm>
          <a:prstGeom prst="rect">
            <a:avLst/>
          </a:prstGeom>
          <a:noFill/>
          <a:ln/>
        </p:spPr>
        <p:txBody>
          <a:bodyPr wrap="square" lIns="0" tIns="0" rIns="0" bIns="0" rtlCol="0" anchor="ctr"/>
          <a:lstStyle/>
          <a:p>
            <a:pPr indent="0" marL="0">
              <a:buNone/>
            </a:pPr>
            <a:r>
              <a:rPr lang="en-US" sz="1400" i="1" dirty="0">
                <a:solidFill>
                  <a:srgbClr val="D9A441"/>
                </a:solidFill>
                <a:latin typeface="Calibri" pitchFamily="34" charset="0"/>
                <a:ea typeface="Calibri" pitchFamily="34" charset="-122"/>
                <a:cs typeface="Calibri" pitchFamily="34" charset="-120"/>
              </a:rPr>
              <a:t>El hueco real: una herramienta tan rápida de usar como Notas, tan colaborativa como Bring!, y centrada en ahorro y control de stock — el ángulo que nadie cubre.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2 — VALIDACIÓN</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La encuesta confirma el hueco (n=32, cerrada)</a:t>
            </a:r>
            <a:endParaRPr lang="en-US" sz="2800" dirty="0"/>
          </a:p>
        </p:txBody>
      </p:sp>
      <p:sp>
        <p:nvSpPr>
          <p:cNvPr id="6" name="Text 3"/>
          <p:cNvSpPr txBox="1"/>
          <p:nvPr/>
        </p:nvSpPr>
        <p:spPr>
          <a:xfrm>
            <a:off x="548640" y="1207008"/>
            <a:ext cx="11094415" cy="274320"/>
          </a:xfrm>
          <a:prstGeom prst="rect">
            <a:avLst/>
          </a:prstGeom>
          <a:noFill/>
          <a:ln/>
        </p:spPr>
        <p:txBody>
          <a:bodyPr wrap="square" lIns="0" tIns="0" rIns="0" bIns="0" rtlCol="0" anchor="ctr"/>
          <a:lstStyle/>
          <a:p>
            <a:pPr indent="0" marL="0">
              <a:buNone/>
            </a:pPr>
            <a:r>
              <a:rPr lang="en-US" sz="1000" i="1" dirty="0">
                <a:solidFill>
                  <a:srgbClr val="8A7A6D"/>
                </a:solidFill>
                <a:latin typeface="Calibri" pitchFamily="34" charset="0"/>
                <a:ea typeface="Calibri" pitchFamily="34" charset="-122"/>
                <a:cs typeface="Calibri" pitchFamily="34" charset="-120"/>
              </a:rPr>
              <a:t>Encuesta bilingüe (ES/EN), 9 preguntas sobre hechos del último mes — no opiniones sobre una app futura. Resultados finales: 32 respuestas únicas, cerrada el 17/09/2026.</a:t>
            </a:r>
            <a:endParaRPr lang="en-US" sz="1000" dirty="0"/>
          </a:p>
        </p:txBody>
      </p:sp>
      <p:sp>
        <p:nvSpPr>
          <p:cNvPr id="7" name="Shape 4"/>
          <p:cNvSpPr/>
          <p:nvPr/>
        </p:nvSpPr>
        <p:spPr>
          <a:xfrm>
            <a:off x="548640" y="1508760"/>
            <a:ext cx="3611880" cy="1143000"/>
          </a:xfrm>
          <a:prstGeom prst="roundRect">
            <a:avLst>
              <a:gd name="adj" fmla="val 9600"/>
            </a:avLst>
          </a:prstGeom>
          <a:solidFill>
            <a:srgbClr val="2E2119"/>
          </a:solidFill>
          <a:ln/>
        </p:spPr>
      </p:sp>
      <p:sp>
        <p:nvSpPr>
          <p:cNvPr id="8" name="Text 5"/>
          <p:cNvSpPr txBox="1"/>
          <p:nvPr/>
        </p:nvSpPr>
        <p:spPr>
          <a:xfrm>
            <a:off x="731520" y="1600200"/>
            <a:ext cx="3246120" cy="502920"/>
          </a:xfrm>
          <a:prstGeom prst="rect">
            <a:avLst/>
          </a:prstGeom>
          <a:noFill/>
          <a:ln/>
        </p:spPr>
        <p:txBody>
          <a:bodyPr wrap="square" lIns="0" tIns="0" rIns="0" bIns="0" rtlCol="0" anchor="ctr"/>
          <a:lstStyle/>
          <a:p>
            <a:pPr indent="0" marL="0">
              <a:buNone/>
            </a:pPr>
            <a:r>
              <a:rPr lang="en-US" sz="3000" b="1" dirty="0">
                <a:solidFill>
                  <a:srgbClr val="D9A441"/>
                </a:solidFill>
                <a:latin typeface="Cambria" pitchFamily="34" charset="0"/>
                <a:ea typeface="Cambria" pitchFamily="34" charset="-122"/>
                <a:cs typeface="Cambria" pitchFamily="34" charset="-120"/>
              </a:rPr>
              <a:t>0/32</a:t>
            </a:r>
            <a:endParaRPr lang="en-US" sz="3000" dirty="0"/>
          </a:p>
        </p:txBody>
      </p:sp>
      <p:sp>
        <p:nvSpPr>
          <p:cNvPr id="9" name="Text 6"/>
          <p:cNvSpPr txBox="1"/>
          <p:nvPr/>
        </p:nvSpPr>
        <p:spPr>
          <a:xfrm>
            <a:off x="731520" y="2130552"/>
            <a:ext cx="3246120" cy="475488"/>
          </a:xfrm>
          <a:prstGeom prst="rect">
            <a:avLst/>
          </a:prstGeom>
          <a:noFill/>
          <a:ln/>
        </p:spPr>
        <p:txBody>
          <a:bodyPr wrap="square" lIns="0" tIns="0" rIns="0" bIns="0" rtlCol="0" anchor="t"/>
          <a:lstStyle/>
          <a:p>
            <a:pPr indent="0" marL="0">
              <a:buNone/>
            </a:pPr>
            <a:r>
              <a:rPr lang="en-US" sz="1000" dirty="0">
                <a:solidFill>
                  <a:srgbClr val="D8CBBE"/>
                </a:solidFill>
                <a:latin typeface="Calibri" pitchFamily="34" charset="0"/>
                <a:ea typeface="Calibri" pitchFamily="34" charset="-122"/>
                <a:cs typeface="Calibri" pitchFamily="34" charset="-120"/>
              </a:rPr>
              <a:t>usa hoy una app específica como método — aunque 2 personas SÍ la probaron alguna vez (ver abajo)</a:t>
            </a:r>
            <a:endParaRPr lang="en-US" sz="1000" dirty="0"/>
          </a:p>
        </p:txBody>
      </p:sp>
      <p:sp>
        <p:nvSpPr>
          <p:cNvPr id="10" name="Shape 7"/>
          <p:cNvSpPr/>
          <p:nvPr/>
        </p:nvSpPr>
        <p:spPr>
          <a:xfrm>
            <a:off x="4297680" y="1508760"/>
            <a:ext cx="3611880" cy="1143000"/>
          </a:xfrm>
          <a:prstGeom prst="roundRect">
            <a:avLst>
              <a:gd name="adj" fmla="val 9600"/>
            </a:avLst>
          </a:prstGeom>
          <a:solidFill>
            <a:srgbClr val="2E2119"/>
          </a:solidFill>
          <a:ln/>
        </p:spPr>
      </p:sp>
      <p:sp>
        <p:nvSpPr>
          <p:cNvPr id="11" name="Text 8"/>
          <p:cNvSpPr txBox="1"/>
          <p:nvPr/>
        </p:nvSpPr>
        <p:spPr>
          <a:xfrm>
            <a:off x="4480560" y="1600200"/>
            <a:ext cx="3246120" cy="502920"/>
          </a:xfrm>
          <a:prstGeom prst="rect">
            <a:avLst/>
          </a:prstGeom>
          <a:noFill/>
          <a:ln/>
        </p:spPr>
        <p:txBody>
          <a:bodyPr wrap="square" lIns="0" tIns="0" rIns="0" bIns="0" rtlCol="0" anchor="ctr"/>
          <a:lstStyle/>
          <a:p>
            <a:pPr indent="0" marL="0">
              <a:buNone/>
            </a:pPr>
            <a:r>
              <a:rPr lang="en-US" sz="3000" b="1" dirty="0">
                <a:solidFill>
                  <a:srgbClr val="D9A441"/>
                </a:solidFill>
                <a:latin typeface="Cambria" pitchFamily="34" charset="0"/>
                <a:ea typeface="Cambria" pitchFamily="34" charset="-122"/>
                <a:cs typeface="Cambria" pitchFamily="34" charset="-120"/>
              </a:rPr>
              <a:t>72%</a:t>
            </a:r>
            <a:endParaRPr lang="en-US" sz="3000" dirty="0"/>
          </a:p>
        </p:txBody>
      </p:sp>
      <p:sp>
        <p:nvSpPr>
          <p:cNvPr id="12" name="Text 9"/>
          <p:cNvSpPr txBox="1"/>
          <p:nvPr/>
        </p:nvSpPr>
        <p:spPr>
          <a:xfrm>
            <a:off x="4480560" y="2130552"/>
            <a:ext cx="3246120" cy="475488"/>
          </a:xfrm>
          <a:prstGeom prst="rect">
            <a:avLst/>
          </a:prstGeom>
          <a:noFill/>
          <a:ln/>
        </p:spPr>
        <p:txBody>
          <a:bodyPr wrap="square" lIns="0" tIns="0" rIns="0" bIns="0" rtlCol="0" anchor="t"/>
          <a:lstStyle/>
          <a:p>
            <a:pPr indent="0" marL="0">
              <a:buNone/>
            </a:pPr>
            <a:r>
              <a:rPr lang="en-US" sz="1000" dirty="0">
                <a:solidFill>
                  <a:srgbClr val="D8CBBE"/>
                </a:solidFill>
                <a:latin typeface="Calibri" pitchFamily="34" charset="0"/>
                <a:ea typeface="Calibri" pitchFamily="34" charset="-122"/>
                <a:cs typeface="Calibri" pitchFamily="34" charset="-120"/>
              </a:rPr>
              <a:t>compró algo duplicado el último mes</a:t>
            </a:r>
            <a:endParaRPr lang="en-US" sz="1000" dirty="0"/>
          </a:p>
        </p:txBody>
      </p:sp>
      <p:sp>
        <p:nvSpPr>
          <p:cNvPr id="13" name="Shape 10"/>
          <p:cNvSpPr/>
          <p:nvPr/>
        </p:nvSpPr>
        <p:spPr>
          <a:xfrm>
            <a:off x="8046720" y="1508760"/>
            <a:ext cx="3611880" cy="1143000"/>
          </a:xfrm>
          <a:prstGeom prst="roundRect">
            <a:avLst>
              <a:gd name="adj" fmla="val 9600"/>
            </a:avLst>
          </a:prstGeom>
          <a:solidFill>
            <a:srgbClr val="2E2119"/>
          </a:solidFill>
          <a:ln/>
        </p:spPr>
      </p:sp>
      <p:sp>
        <p:nvSpPr>
          <p:cNvPr id="14" name="Text 11"/>
          <p:cNvSpPr txBox="1"/>
          <p:nvPr/>
        </p:nvSpPr>
        <p:spPr>
          <a:xfrm>
            <a:off x="8229600" y="1600200"/>
            <a:ext cx="3246120" cy="502920"/>
          </a:xfrm>
          <a:prstGeom prst="rect">
            <a:avLst/>
          </a:prstGeom>
          <a:noFill/>
          <a:ln/>
        </p:spPr>
        <p:txBody>
          <a:bodyPr wrap="square" lIns="0" tIns="0" rIns="0" bIns="0" rtlCol="0" anchor="ctr"/>
          <a:lstStyle/>
          <a:p>
            <a:pPr indent="0" marL="0">
              <a:buNone/>
            </a:pPr>
            <a:r>
              <a:rPr lang="en-US" sz="3000" b="1" dirty="0">
                <a:solidFill>
                  <a:srgbClr val="D9A441"/>
                </a:solidFill>
                <a:latin typeface="Cambria" pitchFamily="34" charset="0"/>
                <a:ea typeface="Cambria" pitchFamily="34" charset="-122"/>
                <a:cs typeface="Cambria" pitchFamily="34" charset="-120"/>
              </a:rPr>
              <a:t>75%</a:t>
            </a:r>
            <a:endParaRPr lang="en-US" sz="3000" dirty="0"/>
          </a:p>
        </p:txBody>
      </p:sp>
      <p:sp>
        <p:nvSpPr>
          <p:cNvPr id="15" name="Text 12"/>
          <p:cNvSpPr txBox="1"/>
          <p:nvPr/>
        </p:nvSpPr>
        <p:spPr>
          <a:xfrm>
            <a:off x="8229600" y="2130552"/>
            <a:ext cx="3246120" cy="475488"/>
          </a:xfrm>
          <a:prstGeom prst="rect">
            <a:avLst/>
          </a:prstGeom>
          <a:noFill/>
          <a:ln/>
        </p:spPr>
        <p:txBody>
          <a:bodyPr wrap="square" lIns="0" tIns="0" rIns="0" bIns="0" rtlCol="0" anchor="t"/>
          <a:lstStyle/>
          <a:p>
            <a:pPr indent="0" marL="0">
              <a:buNone/>
            </a:pPr>
            <a:r>
              <a:rPr lang="en-US" sz="1000" dirty="0">
                <a:solidFill>
                  <a:srgbClr val="D8CBBE"/>
                </a:solidFill>
                <a:latin typeface="Calibri" pitchFamily="34" charset="0"/>
                <a:ea typeface="Calibri" pitchFamily="34" charset="-122"/>
                <a:cs typeface="Calibri" pitchFamily="34" charset="-120"/>
              </a:rPr>
              <a:t>tuvo que volver a la tienda por algo olvidado</a:t>
            </a:r>
            <a:endParaRPr lang="en-US" sz="1000" dirty="0"/>
          </a:p>
        </p:txBody>
      </p:sp>
      <p:sp>
        <p:nvSpPr>
          <p:cNvPr id="16" name="Text 13"/>
          <p:cNvSpPr txBox="1"/>
          <p:nvPr/>
        </p:nvSpPr>
        <p:spPr>
          <a:xfrm>
            <a:off x="548640" y="2724912"/>
            <a:ext cx="11064240" cy="292608"/>
          </a:xfrm>
          <a:prstGeom prst="rect">
            <a:avLst/>
          </a:prstGeom>
          <a:noFill/>
          <a:ln/>
        </p:spPr>
        <p:txBody>
          <a:bodyPr wrap="square" lIns="0" tIns="0" rIns="0" bIns="0" rtlCol="0" anchor="ctr"/>
          <a:lstStyle/>
          <a:p>
            <a:pPr indent="0" marL="0">
              <a:buNone/>
            </a:pPr>
            <a:r>
              <a:rPr lang="en-US" sz="1150" i="1" dirty="0">
                <a:solidFill>
                  <a:srgbClr val="8A7A6D"/>
                </a:solidFill>
                <a:latin typeface="Calibri" pitchFamily="34" charset="0"/>
                <a:ea typeface="Calibri" pitchFamily="34" charset="-122"/>
                <a:cs typeface="Calibri" pitchFamily="34" charset="-120"/>
              </a:rPr>
              <a:t>El 53% (17 de 32 personas) sufrió ambas cosas — compró duplicado y volvió a la tienda — en el mismo mes.</a:t>
            </a:r>
            <a:endParaRPr lang="en-US" sz="1150" dirty="0"/>
          </a:p>
        </p:txBody>
      </p:sp>
      <p:sp>
        <p:nvSpPr>
          <p:cNvPr id="17" name="Shape 14"/>
          <p:cNvSpPr/>
          <p:nvPr/>
        </p:nvSpPr>
        <p:spPr>
          <a:xfrm>
            <a:off x="548640" y="3108960"/>
            <a:ext cx="6492240" cy="2148840"/>
          </a:xfrm>
          <a:prstGeom prst="roundRect">
            <a:avLst>
              <a:gd name="adj" fmla="val 5106"/>
            </a:avLst>
          </a:prstGeom>
          <a:solidFill>
            <a:srgbClr val="F4E9DA"/>
          </a:solidFill>
          <a:ln/>
          <a:effectLst>
            <a:outerShdw sx="100000" sy="100000" kx="0" ky="0" algn="bl" rotWithShape="0" blurRad="76200" dist="25400" dir="5400000">
              <a:srgbClr val="000000">
                <a:alpha val="12000"/>
              </a:srgbClr>
            </a:outerShdw>
          </a:effectLst>
        </p:spPr>
      </p:sp>
      <p:sp>
        <p:nvSpPr>
          <p:cNvPr id="18" name="Text 15"/>
          <p:cNvSpPr txBox="1"/>
          <p:nvPr/>
        </p:nvSpPr>
        <p:spPr>
          <a:xfrm>
            <a:off x="777240" y="3246120"/>
            <a:ext cx="6035040" cy="320040"/>
          </a:xfrm>
          <a:prstGeom prst="rect">
            <a:avLst/>
          </a:prstGeom>
          <a:noFill/>
          <a:ln/>
        </p:spPr>
        <p:txBody>
          <a:bodyPr wrap="square" lIns="0" tIns="0" rIns="0" bIns="0" rtlCol="0" anchor="ctr"/>
          <a:lstStyle/>
          <a:p>
            <a:pPr indent="0" marL="0">
              <a:buNone/>
            </a:pPr>
            <a:r>
              <a:rPr lang="en-US" sz="1150" b="1" dirty="0">
                <a:solidFill>
                  <a:srgbClr val="C9682B"/>
                </a:solidFill>
                <a:latin typeface="Calibri" pitchFamily="34" charset="0"/>
                <a:ea typeface="Calibri" pitchFamily="34" charset="-122"/>
                <a:cs typeface="Calibri" pitchFamily="34" charset="-120"/>
              </a:rPr>
              <a:t>Pregunta 3 · ¿Cómo organizáis hoy la lista de la compra?</a:t>
            </a:r>
            <a:endParaRPr lang="en-US" sz="1150" dirty="0"/>
          </a:p>
        </p:txBody>
      </p:sp>
      <p:sp>
        <p:nvSpPr>
          <p:cNvPr id="19" name="Text 16"/>
          <p:cNvSpPr txBox="1"/>
          <p:nvPr/>
        </p:nvSpPr>
        <p:spPr>
          <a:xfrm>
            <a:off x="777240" y="3648456"/>
            <a:ext cx="1920240" cy="274320"/>
          </a:xfrm>
          <a:prstGeom prst="rect">
            <a:avLst/>
          </a:prstGeom>
          <a:noFill/>
          <a:ln/>
        </p:spPr>
        <p:txBody>
          <a:bodyPr wrap="square" lIns="0" tIns="0" rIns="0" bIns="0" rtlCol="0" anchor="ctr"/>
          <a:lstStyle/>
          <a:p>
            <a:pPr algn="r" indent="0" marL="0">
              <a:buNone/>
            </a:pPr>
            <a:r>
              <a:rPr lang="en-US" sz="1100" dirty="0">
                <a:solidFill>
                  <a:srgbClr val="2E2119"/>
                </a:solidFill>
                <a:latin typeface="Calibri" pitchFamily="34" charset="0"/>
                <a:ea typeface="Calibri" pitchFamily="34" charset="-122"/>
                <a:cs typeface="Calibri" pitchFamily="34" charset="-120"/>
              </a:rPr>
              <a:t>Notas del móvil</a:t>
            </a:r>
            <a:endParaRPr lang="en-US" sz="1100" dirty="0"/>
          </a:p>
        </p:txBody>
      </p:sp>
      <p:sp>
        <p:nvSpPr>
          <p:cNvPr id="20" name="Shape 17"/>
          <p:cNvSpPr/>
          <p:nvPr/>
        </p:nvSpPr>
        <p:spPr>
          <a:xfrm>
            <a:off x="2788920" y="3675888"/>
            <a:ext cx="3566160" cy="219456"/>
          </a:xfrm>
          <a:prstGeom prst="roundRect">
            <a:avLst>
              <a:gd name="adj" fmla="val 16667"/>
            </a:avLst>
          </a:prstGeom>
          <a:solidFill>
            <a:srgbClr val="E7DCCB"/>
          </a:solidFill>
          <a:ln/>
        </p:spPr>
      </p:sp>
      <p:sp>
        <p:nvSpPr>
          <p:cNvPr id="21" name="Shape 18"/>
          <p:cNvSpPr/>
          <p:nvPr/>
        </p:nvSpPr>
        <p:spPr>
          <a:xfrm>
            <a:off x="2788920" y="3675888"/>
            <a:ext cx="3566160" cy="219456"/>
          </a:xfrm>
          <a:prstGeom prst="roundRect">
            <a:avLst>
              <a:gd name="adj" fmla="val 16667"/>
            </a:avLst>
          </a:prstGeom>
          <a:solidFill>
            <a:srgbClr val="D9A441"/>
          </a:solidFill>
          <a:ln/>
        </p:spPr>
      </p:sp>
      <p:sp>
        <p:nvSpPr>
          <p:cNvPr id="22" name="Text 19"/>
          <p:cNvSpPr txBox="1"/>
          <p:nvPr/>
        </p:nvSpPr>
        <p:spPr>
          <a:xfrm>
            <a:off x="6428232" y="3648456"/>
            <a:ext cx="411480" cy="274320"/>
          </a:xfrm>
          <a:prstGeom prst="rect">
            <a:avLst/>
          </a:prstGeom>
          <a:noFill/>
          <a:ln/>
        </p:spPr>
        <p:txBody>
          <a:bodyPr wrap="square" lIns="0" tIns="0" rIns="0" bIns="0" rtlCol="0" anchor="ctr"/>
          <a:lstStyle/>
          <a:p>
            <a:pPr algn="l" indent="0" marL="0">
              <a:buNone/>
            </a:pPr>
            <a:r>
              <a:rPr lang="en-US" sz="1100" b="1" dirty="0">
                <a:solidFill>
                  <a:srgbClr val="2E2119"/>
                </a:solidFill>
                <a:latin typeface="Calibri" pitchFamily="34" charset="0"/>
                <a:ea typeface="Calibri" pitchFamily="34" charset="-122"/>
                <a:cs typeface="Calibri" pitchFamily="34" charset="-120"/>
              </a:rPr>
              <a:t>12</a:t>
            </a:r>
            <a:endParaRPr lang="en-US" sz="1100" dirty="0"/>
          </a:p>
        </p:txBody>
      </p:sp>
      <p:sp>
        <p:nvSpPr>
          <p:cNvPr id="23" name="Text 20"/>
          <p:cNvSpPr txBox="1"/>
          <p:nvPr/>
        </p:nvSpPr>
        <p:spPr>
          <a:xfrm>
            <a:off x="777240" y="3959352"/>
            <a:ext cx="1920240" cy="274320"/>
          </a:xfrm>
          <a:prstGeom prst="rect">
            <a:avLst/>
          </a:prstGeom>
          <a:noFill/>
          <a:ln/>
        </p:spPr>
        <p:txBody>
          <a:bodyPr wrap="square" lIns="0" tIns="0" rIns="0" bIns="0" rtlCol="0" anchor="ctr"/>
          <a:lstStyle/>
          <a:p>
            <a:pPr algn="r" indent="0" marL="0">
              <a:buNone/>
            </a:pPr>
            <a:r>
              <a:rPr lang="en-US" sz="1100" dirty="0">
                <a:solidFill>
                  <a:srgbClr val="2E2119"/>
                </a:solidFill>
                <a:latin typeface="Calibri" pitchFamily="34" charset="0"/>
                <a:ea typeface="Calibri" pitchFamily="34" charset="-122"/>
                <a:cs typeface="Calibri" pitchFamily="34" charset="-120"/>
              </a:rPr>
              <a:t>Papel y boli</a:t>
            </a:r>
            <a:endParaRPr lang="en-US" sz="1100" dirty="0"/>
          </a:p>
        </p:txBody>
      </p:sp>
      <p:sp>
        <p:nvSpPr>
          <p:cNvPr id="24" name="Shape 21"/>
          <p:cNvSpPr/>
          <p:nvPr/>
        </p:nvSpPr>
        <p:spPr>
          <a:xfrm>
            <a:off x="2788920" y="3986784"/>
            <a:ext cx="3566160" cy="219456"/>
          </a:xfrm>
          <a:prstGeom prst="roundRect">
            <a:avLst>
              <a:gd name="adj" fmla="val 16667"/>
            </a:avLst>
          </a:prstGeom>
          <a:solidFill>
            <a:srgbClr val="E7DCCB"/>
          </a:solidFill>
          <a:ln/>
        </p:spPr>
      </p:sp>
      <p:sp>
        <p:nvSpPr>
          <p:cNvPr id="25" name="Shape 22"/>
          <p:cNvSpPr/>
          <p:nvPr/>
        </p:nvSpPr>
        <p:spPr>
          <a:xfrm>
            <a:off x="2788920" y="3986784"/>
            <a:ext cx="3268980" cy="219456"/>
          </a:xfrm>
          <a:prstGeom prst="roundRect">
            <a:avLst>
              <a:gd name="adj" fmla="val 16667"/>
            </a:avLst>
          </a:prstGeom>
          <a:solidFill>
            <a:srgbClr val="C9682B"/>
          </a:solidFill>
          <a:ln/>
        </p:spPr>
      </p:sp>
      <p:sp>
        <p:nvSpPr>
          <p:cNvPr id="26" name="Text 23"/>
          <p:cNvSpPr txBox="1"/>
          <p:nvPr/>
        </p:nvSpPr>
        <p:spPr>
          <a:xfrm>
            <a:off x="6428232" y="3959352"/>
            <a:ext cx="411480" cy="274320"/>
          </a:xfrm>
          <a:prstGeom prst="rect">
            <a:avLst/>
          </a:prstGeom>
          <a:noFill/>
          <a:ln/>
        </p:spPr>
        <p:txBody>
          <a:bodyPr wrap="square" lIns="0" tIns="0" rIns="0" bIns="0" rtlCol="0" anchor="ctr"/>
          <a:lstStyle/>
          <a:p>
            <a:pPr algn="l" indent="0" marL="0">
              <a:buNone/>
            </a:pPr>
            <a:r>
              <a:rPr lang="en-US" sz="1100" b="1" dirty="0">
                <a:solidFill>
                  <a:srgbClr val="2E2119"/>
                </a:solidFill>
                <a:latin typeface="Calibri" pitchFamily="34" charset="0"/>
                <a:ea typeface="Calibri" pitchFamily="34" charset="-122"/>
                <a:cs typeface="Calibri" pitchFamily="34" charset="-120"/>
              </a:rPr>
              <a:t>11</a:t>
            </a:r>
            <a:endParaRPr lang="en-US" sz="1100" dirty="0"/>
          </a:p>
        </p:txBody>
      </p:sp>
      <p:sp>
        <p:nvSpPr>
          <p:cNvPr id="27" name="Text 24"/>
          <p:cNvSpPr txBox="1"/>
          <p:nvPr/>
        </p:nvSpPr>
        <p:spPr>
          <a:xfrm>
            <a:off x="777240" y="4270248"/>
            <a:ext cx="1920240" cy="274320"/>
          </a:xfrm>
          <a:prstGeom prst="rect">
            <a:avLst/>
          </a:prstGeom>
          <a:noFill/>
          <a:ln/>
        </p:spPr>
        <p:txBody>
          <a:bodyPr wrap="square" lIns="0" tIns="0" rIns="0" bIns="0" rtlCol="0" anchor="ctr"/>
          <a:lstStyle/>
          <a:p>
            <a:pPr algn="r" indent="0" marL="0">
              <a:buNone/>
            </a:pPr>
            <a:r>
              <a:rPr lang="en-US" sz="1100" dirty="0">
                <a:solidFill>
                  <a:srgbClr val="2E2119"/>
                </a:solidFill>
                <a:latin typeface="Calibri" pitchFamily="34" charset="0"/>
                <a:ea typeface="Calibri" pitchFamily="34" charset="-122"/>
                <a:cs typeface="Calibri" pitchFamily="34" charset="-120"/>
              </a:rPr>
              <a:t>Ninguno / a ojo</a:t>
            </a:r>
            <a:endParaRPr lang="en-US" sz="1100" dirty="0"/>
          </a:p>
        </p:txBody>
      </p:sp>
      <p:sp>
        <p:nvSpPr>
          <p:cNvPr id="28" name="Shape 25"/>
          <p:cNvSpPr/>
          <p:nvPr/>
        </p:nvSpPr>
        <p:spPr>
          <a:xfrm>
            <a:off x="2788920" y="4297680"/>
            <a:ext cx="3566160" cy="219456"/>
          </a:xfrm>
          <a:prstGeom prst="roundRect">
            <a:avLst>
              <a:gd name="adj" fmla="val 16667"/>
            </a:avLst>
          </a:prstGeom>
          <a:solidFill>
            <a:srgbClr val="E7DCCB"/>
          </a:solidFill>
          <a:ln/>
        </p:spPr>
      </p:sp>
      <p:sp>
        <p:nvSpPr>
          <p:cNvPr id="29" name="Shape 26"/>
          <p:cNvSpPr/>
          <p:nvPr/>
        </p:nvSpPr>
        <p:spPr>
          <a:xfrm>
            <a:off x="2788920" y="4297680"/>
            <a:ext cx="2377440" cy="219456"/>
          </a:xfrm>
          <a:prstGeom prst="roundRect">
            <a:avLst>
              <a:gd name="adj" fmla="val 16667"/>
            </a:avLst>
          </a:prstGeom>
          <a:solidFill>
            <a:srgbClr val="8A7A6D"/>
          </a:solidFill>
          <a:ln/>
        </p:spPr>
      </p:sp>
      <p:sp>
        <p:nvSpPr>
          <p:cNvPr id="30" name="Text 27"/>
          <p:cNvSpPr txBox="1"/>
          <p:nvPr/>
        </p:nvSpPr>
        <p:spPr>
          <a:xfrm>
            <a:off x="6428232" y="4270248"/>
            <a:ext cx="411480" cy="274320"/>
          </a:xfrm>
          <a:prstGeom prst="rect">
            <a:avLst/>
          </a:prstGeom>
          <a:noFill/>
          <a:ln/>
        </p:spPr>
        <p:txBody>
          <a:bodyPr wrap="square" lIns="0" tIns="0" rIns="0" bIns="0" rtlCol="0" anchor="ctr"/>
          <a:lstStyle/>
          <a:p>
            <a:pPr algn="l" indent="0" marL="0">
              <a:buNone/>
            </a:pPr>
            <a:r>
              <a:rPr lang="en-US" sz="1100" b="1" dirty="0">
                <a:solidFill>
                  <a:srgbClr val="2E2119"/>
                </a:solidFill>
                <a:latin typeface="Calibri" pitchFamily="34" charset="0"/>
                <a:ea typeface="Calibri" pitchFamily="34" charset="-122"/>
                <a:cs typeface="Calibri" pitchFamily="34" charset="-120"/>
              </a:rPr>
              <a:t>8</a:t>
            </a:r>
            <a:endParaRPr lang="en-US" sz="1100" dirty="0"/>
          </a:p>
        </p:txBody>
      </p:sp>
      <p:sp>
        <p:nvSpPr>
          <p:cNvPr id="31" name="Text 28"/>
          <p:cNvSpPr txBox="1"/>
          <p:nvPr/>
        </p:nvSpPr>
        <p:spPr>
          <a:xfrm>
            <a:off x="777240" y="4581144"/>
            <a:ext cx="1920240" cy="274320"/>
          </a:xfrm>
          <a:prstGeom prst="rect">
            <a:avLst/>
          </a:prstGeom>
          <a:noFill/>
          <a:ln/>
        </p:spPr>
        <p:txBody>
          <a:bodyPr wrap="square" lIns="0" tIns="0" rIns="0" bIns="0" rtlCol="0" anchor="ctr"/>
          <a:lstStyle/>
          <a:p>
            <a:pPr algn="r" indent="0" marL="0">
              <a:buNone/>
            </a:pPr>
            <a:r>
              <a:rPr lang="en-US" sz="1100" dirty="0">
                <a:solidFill>
                  <a:srgbClr val="2E2119"/>
                </a:solidFill>
                <a:latin typeface="Calibri" pitchFamily="34" charset="0"/>
                <a:ea typeface="Calibri" pitchFamily="34" charset="-122"/>
                <a:cs typeface="Calibri" pitchFamily="34" charset="-120"/>
              </a:rPr>
              <a:t>Grupo de WhatsApp</a:t>
            </a:r>
            <a:endParaRPr lang="en-US" sz="1100" dirty="0"/>
          </a:p>
        </p:txBody>
      </p:sp>
      <p:sp>
        <p:nvSpPr>
          <p:cNvPr id="32" name="Shape 29"/>
          <p:cNvSpPr/>
          <p:nvPr/>
        </p:nvSpPr>
        <p:spPr>
          <a:xfrm>
            <a:off x="2788920" y="4608576"/>
            <a:ext cx="3566160" cy="219456"/>
          </a:xfrm>
          <a:prstGeom prst="roundRect">
            <a:avLst>
              <a:gd name="adj" fmla="val 16667"/>
            </a:avLst>
          </a:prstGeom>
          <a:solidFill>
            <a:srgbClr val="E7DCCB"/>
          </a:solidFill>
          <a:ln/>
        </p:spPr>
      </p:sp>
      <p:sp>
        <p:nvSpPr>
          <p:cNvPr id="33" name="Shape 30"/>
          <p:cNvSpPr/>
          <p:nvPr/>
        </p:nvSpPr>
        <p:spPr>
          <a:xfrm>
            <a:off x="2788920" y="4608576"/>
            <a:ext cx="297180" cy="219456"/>
          </a:xfrm>
          <a:prstGeom prst="roundRect">
            <a:avLst>
              <a:gd name="adj" fmla="val 16667"/>
            </a:avLst>
          </a:prstGeom>
          <a:solidFill>
            <a:srgbClr val="8A7A6D"/>
          </a:solidFill>
          <a:ln/>
        </p:spPr>
      </p:sp>
      <p:sp>
        <p:nvSpPr>
          <p:cNvPr id="34" name="Text 31"/>
          <p:cNvSpPr txBox="1"/>
          <p:nvPr/>
        </p:nvSpPr>
        <p:spPr>
          <a:xfrm>
            <a:off x="6428232" y="4581144"/>
            <a:ext cx="411480" cy="274320"/>
          </a:xfrm>
          <a:prstGeom prst="rect">
            <a:avLst/>
          </a:prstGeom>
          <a:noFill/>
          <a:ln/>
        </p:spPr>
        <p:txBody>
          <a:bodyPr wrap="square" lIns="0" tIns="0" rIns="0" bIns="0" rtlCol="0" anchor="ctr"/>
          <a:lstStyle/>
          <a:p>
            <a:pPr algn="l" indent="0" marL="0">
              <a:buNone/>
            </a:pPr>
            <a:r>
              <a:rPr lang="en-US" sz="1100" b="1" dirty="0">
                <a:solidFill>
                  <a:srgbClr val="2E2119"/>
                </a:solidFill>
                <a:latin typeface="Calibri" pitchFamily="34" charset="0"/>
                <a:ea typeface="Calibri" pitchFamily="34" charset="-122"/>
                <a:cs typeface="Calibri" pitchFamily="34" charset="-120"/>
              </a:rPr>
              <a:t>1</a:t>
            </a:r>
            <a:endParaRPr lang="en-US" sz="1100" dirty="0"/>
          </a:p>
        </p:txBody>
      </p:sp>
      <p:sp>
        <p:nvSpPr>
          <p:cNvPr id="35" name="Text 32"/>
          <p:cNvSpPr txBox="1"/>
          <p:nvPr/>
        </p:nvSpPr>
        <p:spPr>
          <a:xfrm>
            <a:off x="777240" y="4892040"/>
            <a:ext cx="1920240" cy="274320"/>
          </a:xfrm>
          <a:prstGeom prst="rect">
            <a:avLst/>
          </a:prstGeom>
          <a:noFill/>
          <a:ln/>
        </p:spPr>
        <p:txBody>
          <a:bodyPr wrap="square" lIns="0" tIns="0" rIns="0" bIns="0" rtlCol="0" anchor="ctr"/>
          <a:lstStyle/>
          <a:p>
            <a:pPr algn="r" indent="0" marL="0">
              <a:buNone/>
            </a:pPr>
            <a:r>
              <a:rPr lang="en-US" sz="1100" b="1" dirty="0">
                <a:solidFill>
                  <a:srgbClr val="2E2119"/>
                </a:solidFill>
                <a:latin typeface="Calibri" pitchFamily="34" charset="0"/>
                <a:ea typeface="Calibri" pitchFamily="34" charset="-122"/>
                <a:cs typeface="Calibri" pitchFamily="34" charset="-120"/>
              </a:rPr>
              <a:t>Una app específica</a:t>
            </a:r>
            <a:endParaRPr lang="en-US" sz="1100" dirty="0"/>
          </a:p>
        </p:txBody>
      </p:sp>
      <p:sp>
        <p:nvSpPr>
          <p:cNvPr id="36" name="Shape 33"/>
          <p:cNvSpPr/>
          <p:nvPr/>
        </p:nvSpPr>
        <p:spPr>
          <a:xfrm>
            <a:off x="2788920" y="4919472"/>
            <a:ext cx="3566160" cy="219456"/>
          </a:xfrm>
          <a:prstGeom prst="roundRect">
            <a:avLst>
              <a:gd name="adj" fmla="val 16667"/>
            </a:avLst>
          </a:prstGeom>
          <a:solidFill>
            <a:srgbClr val="E7DCCB"/>
          </a:solidFill>
          <a:ln/>
        </p:spPr>
      </p:sp>
      <p:sp>
        <p:nvSpPr>
          <p:cNvPr id="37" name="Text 34"/>
          <p:cNvSpPr txBox="1"/>
          <p:nvPr/>
        </p:nvSpPr>
        <p:spPr>
          <a:xfrm>
            <a:off x="6428232" y="4892040"/>
            <a:ext cx="411480" cy="274320"/>
          </a:xfrm>
          <a:prstGeom prst="rect">
            <a:avLst/>
          </a:prstGeom>
          <a:noFill/>
          <a:ln/>
        </p:spPr>
        <p:txBody>
          <a:bodyPr wrap="square" lIns="0" tIns="0" rIns="0" bIns="0" rtlCol="0" anchor="ctr"/>
          <a:lstStyle/>
          <a:p>
            <a:pPr algn="l" indent="0" marL="0">
              <a:buNone/>
            </a:pPr>
            <a:r>
              <a:rPr lang="en-US" sz="1100" b="1" dirty="0">
                <a:solidFill>
                  <a:srgbClr val="C9682B"/>
                </a:solidFill>
                <a:latin typeface="Calibri" pitchFamily="34" charset="0"/>
                <a:ea typeface="Calibri" pitchFamily="34" charset="-122"/>
                <a:cs typeface="Calibri" pitchFamily="34" charset="-120"/>
              </a:rPr>
              <a:t>0</a:t>
            </a:r>
            <a:endParaRPr lang="en-US" sz="1100" dirty="0"/>
          </a:p>
        </p:txBody>
      </p:sp>
      <p:sp>
        <p:nvSpPr>
          <p:cNvPr id="38" name="Text 35"/>
          <p:cNvSpPr txBox="1"/>
          <p:nvPr/>
        </p:nvSpPr>
        <p:spPr>
          <a:xfrm>
            <a:off x="777240" y="5248656"/>
            <a:ext cx="6035040" cy="256032"/>
          </a:xfrm>
          <a:prstGeom prst="rect">
            <a:avLst/>
          </a:prstGeom>
          <a:noFill/>
          <a:ln/>
        </p:spPr>
        <p:txBody>
          <a:bodyPr wrap="square" lIns="0" tIns="0" rIns="0" bIns="0" rtlCol="0" anchor="ctr"/>
          <a:lstStyle/>
          <a:p>
            <a:pPr indent="0" marL="0">
              <a:buNone/>
            </a:pPr>
            <a:r>
              <a:rPr lang="en-US" sz="950" i="1" dirty="0">
                <a:solidFill>
                  <a:srgbClr val="C9682B"/>
                </a:solidFill>
                <a:latin typeface="Calibri" pitchFamily="34" charset="0"/>
                <a:ea typeface="Calibri" pitchFamily="34" charset="-122"/>
                <a:cs typeface="Calibri" pitchFamily="34" charset="-120"/>
              </a:rPr>
              <a:t>↑ 2 personas la probaron alguna vez (Pregunta 7) — pero 0/32 la usa hoy: la abandonaron</a:t>
            </a:r>
            <a:endParaRPr lang="en-US" sz="950" dirty="0"/>
          </a:p>
        </p:txBody>
      </p:sp>
      <p:sp>
        <p:nvSpPr>
          <p:cNvPr id="39" name="Shape 36"/>
          <p:cNvSpPr/>
          <p:nvPr/>
        </p:nvSpPr>
        <p:spPr>
          <a:xfrm>
            <a:off x="7223760" y="3108960"/>
            <a:ext cx="4389120" cy="2148840"/>
          </a:xfrm>
          <a:prstGeom prst="roundRect">
            <a:avLst>
              <a:gd name="adj" fmla="val 5106"/>
            </a:avLst>
          </a:prstGeom>
          <a:solidFill>
            <a:srgbClr val="F6E9D8"/>
          </a:solidFill>
          <a:ln w="12700">
            <a:solidFill>
              <a:srgbClr val="C9682B"/>
            </a:solidFill>
            <a:prstDash val="solid"/>
          </a:ln>
        </p:spPr>
      </p:sp>
      <p:sp>
        <p:nvSpPr>
          <p:cNvPr id="40" name="Text 37"/>
          <p:cNvSpPr txBox="1"/>
          <p:nvPr/>
        </p:nvSpPr>
        <p:spPr>
          <a:xfrm>
            <a:off x="7452360" y="3246120"/>
            <a:ext cx="3931920" cy="1874520"/>
          </a:xfrm>
          <a:prstGeom prst="rect">
            <a:avLst/>
          </a:prstGeom>
          <a:noFill/>
          <a:ln/>
        </p:spPr>
        <p:txBody>
          <a:bodyPr wrap="square" lIns="0" tIns="0" rIns="0" bIns="0" rtlCol="0" anchor="t"/>
          <a:lstStyle/>
          <a:p>
            <a:pPr indent="0" marL="0">
              <a:spcAft>
                <a:spcPts val="600"/>
              </a:spcAft>
              <a:buNone/>
            </a:pPr>
            <a:r>
              <a:rPr lang="en-US" sz="1150" b="1" dirty="0">
                <a:solidFill>
                  <a:srgbClr val="C9682B"/>
                </a:solidFill>
                <a:latin typeface="Calibri" pitchFamily="34" charset="0"/>
                <a:ea typeface="Calibri" pitchFamily="34" charset="-122"/>
                <a:cs typeface="Calibri" pitchFamily="34" charset="-120"/>
              </a:rPr>
              <a:t>Las apps no son el problema — la retención sí.  </a:t>
            </a:r>
            <a:endParaRPr lang="en-US" sz="1150" dirty="0"/>
          </a:p>
          <a:p>
            <a:pPr indent="0" marL="0">
              <a:buNone/>
            </a:pPr>
            <a:r>
              <a:rPr lang="en-US" sz="1150" dirty="0">
                <a:solidFill>
                  <a:srgbClr val="2E2119"/>
                </a:solidFill>
                <a:latin typeface="Calibri" pitchFamily="34" charset="0"/>
                <a:ea typeface="Calibri" pitchFamily="34" charset="-122"/>
                <a:cs typeface="Calibri" pitchFamily="34" charset="-120"/>
              </a:rPr>
              <a:t>Bring! y AnyList llevan años disponibles y son razonablemente buenas (estado del arte, diapositiva anterior). 2 de 32 personas confirman haberlas probado — pero ninguna las usa hoy. Quien probó Bring! lo explica sin que se le pregunte: "porque si no colaboran los demás... pues mal vamos". El hueco no está en construir "una app más" — está en resolver por qué las que existen no retienen ni a quien sí las prueba.</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2 — VALIDACIÓN</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Las quejas espontáneas confirman el mismo patrón</a:t>
            </a:r>
            <a:endParaRPr lang="en-US" sz="2800" dirty="0"/>
          </a:p>
        </p:txBody>
      </p:sp>
      <p:sp>
        <p:nvSpPr>
          <p:cNvPr id="6" name="Text 3"/>
          <p:cNvSpPr txBox="1"/>
          <p:nvPr/>
        </p:nvSpPr>
        <p:spPr>
          <a:xfrm>
            <a:off x="548640" y="1207008"/>
            <a:ext cx="11094415" cy="274320"/>
          </a:xfrm>
          <a:prstGeom prst="rect">
            <a:avLst/>
          </a:prstGeom>
          <a:noFill/>
          <a:ln/>
        </p:spPr>
        <p:txBody>
          <a:bodyPr wrap="square" lIns="0" tIns="0" rIns="0" bIns="0" rtlCol="0" anchor="ctr"/>
          <a:lstStyle/>
          <a:p>
            <a:pPr indent="0" marL="0">
              <a:buNone/>
            </a:pPr>
            <a:r>
              <a:rPr lang="en-US" sz="1000" i="1" dirty="0">
                <a:solidFill>
                  <a:srgbClr val="8A7A6D"/>
                </a:solidFill>
                <a:latin typeface="Calibri" pitchFamily="34" charset="0"/>
                <a:ea typeface="Calibri" pitchFamily="34" charset="-122"/>
                <a:cs typeface="Calibri" pitchFamily="34" charset="-120"/>
              </a:rPr>
              <a:t>Pregunta 9 (abierta): "¿Qué es lo que más te frustra de gestionar la compra o la nevera?" — nadie vio el prototipo antes de responder.</a:t>
            </a:r>
            <a:endParaRPr lang="en-US" sz="1000" dirty="0"/>
          </a:p>
        </p:txBody>
      </p:sp>
      <p:sp>
        <p:nvSpPr>
          <p:cNvPr id="7" name="Shape 4"/>
          <p:cNvSpPr/>
          <p:nvPr/>
        </p:nvSpPr>
        <p:spPr>
          <a:xfrm>
            <a:off x="548640" y="1508760"/>
            <a:ext cx="5532120" cy="4160520"/>
          </a:xfrm>
          <a:prstGeom prst="roundRect">
            <a:avLst>
              <a:gd name="adj" fmla="val 2637"/>
            </a:avLst>
          </a:prstGeom>
          <a:solidFill>
            <a:srgbClr val="F4E9DA"/>
          </a:solidFill>
          <a:ln/>
          <a:effectLst>
            <a:outerShdw sx="100000" sy="100000" kx="0" ky="0" algn="bl" rotWithShape="0" blurRad="76200" dist="25400" dir="5400000">
              <a:srgbClr val="000000">
                <a:alpha val="12000"/>
              </a:srgbClr>
            </a:outerShdw>
          </a:effectLst>
        </p:spPr>
      </p:sp>
      <p:sp>
        <p:nvSpPr>
          <p:cNvPr id="8" name="Text 5"/>
          <p:cNvSpPr txBox="1"/>
          <p:nvPr/>
        </p:nvSpPr>
        <p:spPr>
          <a:xfrm>
            <a:off x="777240" y="1645920"/>
            <a:ext cx="5074920" cy="274320"/>
          </a:xfrm>
          <a:prstGeom prst="rect">
            <a:avLst/>
          </a:prstGeom>
          <a:noFill/>
          <a:ln/>
        </p:spPr>
        <p:txBody>
          <a:bodyPr wrap="square" lIns="0" tIns="0" rIns="0" bIns="0" rtlCol="0" anchor="ctr"/>
          <a:lstStyle/>
          <a:p>
            <a:pPr indent="0" marL="0">
              <a:buNone/>
            </a:pPr>
            <a:r>
              <a:rPr lang="en-US" sz="1200" b="1" spc="150" kern="0" dirty="0">
                <a:solidFill>
                  <a:srgbClr val="C9682B"/>
                </a:solidFill>
                <a:latin typeface="Calibri" pitchFamily="34" charset="0"/>
                <a:ea typeface="Calibri" pitchFamily="34" charset="-122"/>
                <a:cs typeface="Calibri" pitchFamily="34" charset="-120"/>
              </a:rPr>
              <a:t>FALTA DE COOPERACIÓN</a:t>
            </a:r>
            <a:endParaRPr lang="en-US" sz="1200" dirty="0"/>
          </a:p>
        </p:txBody>
      </p:sp>
      <p:sp>
        <p:nvSpPr>
          <p:cNvPr id="9" name="Text 6"/>
          <p:cNvSpPr txBox="1"/>
          <p:nvPr/>
        </p:nvSpPr>
        <p:spPr>
          <a:xfrm>
            <a:off x="777240" y="1901952"/>
            <a:ext cx="5074920" cy="274320"/>
          </a:xfrm>
          <a:prstGeom prst="rect">
            <a:avLst/>
          </a:prstGeom>
          <a:noFill/>
          <a:ln/>
        </p:spPr>
        <p:txBody>
          <a:bodyPr wrap="square" lIns="0" tIns="0" rIns="0" bIns="0" rtlCol="0" anchor="ctr"/>
          <a:lstStyle/>
          <a:p>
            <a:pPr indent="0" marL="0">
              <a:buNone/>
            </a:pPr>
            <a:r>
              <a:rPr lang="en-US" sz="1050" i="1" dirty="0">
                <a:solidFill>
                  <a:srgbClr val="8A7A6D"/>
                </a:solidFill>
                <a:latin typeface="Calibri" pitchFamily="34" charset="0"/>
                <a:ea typeface="Calibri" pitchFamily="34" charset="-122"/>
                <a:cs typeface="Calibri" pitchFamily="34" charset="-120"/>
              </a:rPr>
              <a:t>8 de 32 personas (25%) — el tema más repetido, sin que se les preguntara</a:t>
            </a:r>
            <a:endParaRPr lang="en-US" sz="1050" dirty="0"/>
          </a:p>
        </p:txBody>
      </p:sp>
      <p:sp>
        <p:nvSpPr>
          <p:cNvPr id="10" name="Text 7"/>
          <p:cNvSpPr txBox="1"/>
          <p:nvPr/>
        </p:nvSpPr>
        <p:spPr>
          <a:xfrm>
            <a:off x="822960" y="2286000"/>
            <a:ext cx="5029200" cy="3291840"/>
          </a:xfrm>
          <a:prstGeom prst="rect">
            <a:avLst/>
          </a:prstGeom>
          <a:noFill/>
          <a:ln/>
        </p:spPr>
        <p:txBody>
          <a:bodyPr wrap="square" lIns="0" tIns="0" rIns="0" bIns="0" rtlCol="0" anchor="t"/>
          <a:lstStyle/>
          <a:p>
            <a:pPr marL="342900" indent="-342900">
              <a:spcAft>
                <a:spcPts val="700"/>
              </a:spcAft>
              <a:buSzPct val="100000"/>
              <a:buChar char="•"/>
            </a:pPr>
            <a:r>
              <a:rPr lang="en-US" sz="1000" i="1" dirty="0">
                <a:solidFill>
                  <a:srgbClr val="2E2119"/>
                </a:solidFill>
                <a:latin typeface="Calibri" pitchFamily="34" charset="0"/>
                <a:ea typeface="Calibri" pitchFamily="34" charset="-122"/>
                <a:cs typeface="Calibri" pitchFamily="34" charset="-120"/>
              </a:rPr>
              <a:t>"I don’t know who bought what"</a:t>
            </a:r>
            <a:endParaRPr lang="en-US" sz="1000" dirty="0"/>
          </a:p>
          <a:p>
            <a:pPr marL="342900" indent="-342900">
              <a:spcAft>
                <a:spcPts val="700"/>
              </a:spcAft>
              <a:buSzPct val="100000"/>
              <a:buChar char="•"/>
            </a:pPr>
            <a:r>
              <a:rPr lang="en-US" sz="1000" i="1" dirty="0">
                <a:solidFill>
                  <a:srgbClr val="2E2119"/>
                </a:solidFill>
                <a:latin typeface="Calibri" pitchFamily="34" charset="0"/>
                <a:ea typeface="Calibri" pitchFamily="34" charset="-122"/>
                <a:cs typeface="Calibri" pitchFamily="34" charset="-120"/>
              </a:rPr>
              <a:t>"Not knowing what the others want, the others eating my stuff" / "People eating my food"</a:t>
            </a:r>
            <a:endParaRPr lang="en-US" sz="1000" dirty="0"/>
          </a:p>
          <a:p>
            <a:pPr marL="342900" indent="-342900">
              <a:spcAft>
                <a:spcPts val="700"/>
              </a:spcAft>
              <a:buSzPct val="100000"/>
              <a:buChar char="•"/>
            </a:pPr>
            <a:r>
              <a:rPr lang="en-US" sz="1000" i="1" dirty="0">
                <a:solidFill>
                  <a:srgbClr val="2E2119"/>
                </a:solidFill>
                <a:latin typeface="Calibri" pitchFamily="34" charset="0"/>
                <a:ea typeface="Calibri" pitchFamily="34" charset="-122"/>
                <a:cs typeface="Calibri" pitchFamily="34" charset="-120"/>
              </a:rPr>
              <a:t>"When people use the food I planned to use in a meal for myself... so I have to use something else"</a:t>
            </a:r>
            <a:endParaRPr lang="en-US" sz="1000" dirty="0"/>
          </a:p>
          <a:p>
            <a:pPr marL="342900" indent="-342900">
              <a:spcAft>
                <a:spcPts val="700"/>
              </a:spcAft>
              <a:buSzPct val="100000"/>
              <a:buChar char="•"/>
            </a:pPr>
            <a:r>
              <a:rPr lang="en-US" sz="1000" i="1" dirty="0">
                <a:solidFill>
                  <a:srgbClr val="2E2119"/>
                </a:solidFill>
                <a:latin typeface="Calibri" pitchFamily="34" charset="0"/>
                <a:ea typeface="Calibri" pitchFamily="34" charset="-122"/>
                <a:cs typeface="Calibri" pitchFamily="34" charset="-120"/>
              </a:rPr>
              <a:t>"Not knowing if someone bought something just for themself" / dudar en comprar algo "y que se lo coma otra persona"</a:t>
            </a:r>
            <a:endParaRPr lang="en-US" sz="1000" dirty="0"/>
          </a:p>
          <a:p>
            <a:pPr marL="342900" indent="-342900">
              <a:spcAft>
                <a:spcPts val="700"/>
              </a:spcAft>
              <a:buSzPct val="100000"/>
              <a:buChar char="•"/>
            </a:pPr>
            <a:r>
              <a:rPr lang="en-US" sz="1000" i="1" dirty="0">
                <a:solidFill>
                  <a:srgbClr val="2E2119"/>
                </a:solidFill>
                <a:latin typeface="Calibri" pitchFamily="34" charset="0"/>
                <a:ea typeface="Calibri" pitchFamily="34" charset="-122"/>
                <a:cs typeface="Calibri" pitchFamily="34" charset="-120"/>
              </a:rPr>
              <a:t>"Que compran cosas que no quiero"</a:t>
            </a:r>
            <a:endParaRPr lang="en-US" sz="1000" dirty="0"/>
          </a:p>
          <a:p>
            <a:pPr marL="342900" indent="-342900">
              <a:spcAft>
                <a:spcPts val="700"/>
              </a:spcAft>
              <a:buSzPct val="100000"/>
              <a:buChar char="•"/>
            </a:pPr>
            <a:r>
              <a:rPr lang="en-US" sz="1000" i="1" dirty="0">
                <a:solidFill>
                  <a:srgbClr val="2E2119"/>
                </a:solidFill>
                <a:latin typeface="Calibri" pitchFamily="34" charset="0"/>
                <a:ea typeface="Calibri" pitchFamily="34" charset="-122"/>
                <a:cs typeface="Calibri" pitchFamily="34" charset="-120"/>
              </a:rPr>
              <a:t>"Cada vez una compra una cosa, lo complicado es llevar la cuenta de quién compró qué antes"</a:t>
            </a:r>
            <a:endParaRPr lang="en-US" sz="1000" dirty="0"/>
          </a:p>
        </p:txBody>
      </p:sp>
      <p:sp>
        <p:nvSpPr>
          <p:cNvPr id="11" name="Shape 8"/>
          <p:cNvSpPr/>
          <p:nvPr/>
        </p:nvSpPr>
        <p:spPr>
          <a:xfrm>
            <a:off x="6263640" y="1508760"/>
            <a:ext cx="5349240" cy="4160520"/>
          </a:xfrm>
          <a:prstGeom prst="roundRect">
            <a:avLst>
              <a:gd name="adj" fmla="val 2637"/>
            </a:avLst>
          </a:prstGeom>
          <a:solidFill>
            <a:srgbClr val="EDE6DC"/>
          </a:solidFill>
          <a:ln/>
          <a:effectLst>
            <a:outerShdw sx="100000" sy="100000" kx="0" ky="0" algn="bl" rotWithShape="0" blurRad="76200" dist="25400" dir="5400000">
              <a:srgbClr val="000000">
                <a:alpha val="12000"/>
              </a:srgbClr>
            </a:outerShdw>
          </a:effectLst>
        </p:spPr>
      </p:sp>
      <p:sp>
        <p:nvSpPr>
          <p:cNvPr id="12" name="Text 9"/>
          <p:cNvSpPr txBox="1"/>
          <p:nvPr/>
        </p:nvSpPr>
        <p:spPr>
          <a:xfrm>
            <a:off x="6492240" y="1645920"/>
            <a:ext cx="4892040" cy="274320"/>
          </a:xfrm>
          <a:prstGeom prst="rect">
            <a:avLst/>
          </a:prstGeom>
          <a:noFill/>
          <a:ln/>
        </p:spPr>
        <p:txBody>
          <a:bodyPr wrap="square" lIns="0" tIns="0" rIns="0" bIns="0" rtlCol="0" anchor="ctr"/>
          <a:lstStyle/>
          <a:p>
            <a:pPr indent="0" marL="0">
              <a:buNone/>
            </a:pPr>
            <a:r>
              <a:rPr lang="en-US" sz="1200" b="1" spc="150" kern="0" dirty="0">
                <a:solidFill>
                  <a:srgbClr val="C9682B"/>
                </a:solidFill>
                <a:latin typeface="Calibri" pitchFamily="34" charset="0"/>
                <a:ea typeface="Calibri" pitchFamily="34" charset="-122"/>
                <a:cs typeface="Calibri" pitchFamily="34" charset="-120"/>
              </a:rPr>
              <a:t>FALTA DE TRACKER DE GASTOS</a:t>
            </a:r>
            <a:endParaRPr lang="en-US" sz="1200" dirty="0"/>
          </a:p>
        </p:txBody>
      </p:sp>
      <p:sp>
        <p:nvSpPr>
          <p:cNvPr id="13" name="Text 10"/>
          <p:cNvSpPr txBox="1"/>
          <p:nvPr/>
        </p:nvSpPr>
        <p:spPr>
          <a:xfrm>
            <a:off x="6492240" y="1901952"/>
            <a:ext cx="4892040" cy="384048"/>
          </a:xfrm>
          <a:prstGeom prst="rect">
            <a:avLst/>
          </a:prstGeom>
          <a:noFill/>
          <a:ln/>
        </p:spPr>
        <p:txBody>
          <a:bodyPr wrap="square" lIns="0" tIns="0" rIns="0" bIns="0" rtlCol="0" anchor="ctr"/>
          <a:lstStyle/>
          <a:p>
            <a:pPr indent="0" marL="0">
              <a:buNone/>
            </a:pPr>
            <a:r>
              <a:rPr lang="en-US" sz="1050" i="1" dirty="0">
                <a:solidFill>
                  <a:srgbClr val="8A7A6D"/>
                </a:solidFill>
                <a:latin typeface="Calibri" pitchFamily="34" charset="0"/>
                <a:ea typeface="Calibri" pitchFamily="34" charset="-122"/>
                <a:cs typeface="Calibri" pitchFamily="34" charset="-120"/>
              </a:rPr>
              <a:t>3 menciones espontáneas + 12/32 (38%) dice en la Pregunta 8 que no llevan cuenta</a:t>
            </a:r>
            <a:endParaRPr lang="en-US" sz="1050" dirty="0"/>
          </a:p>
        </p:txBody>
      </p:sp>
      <p:sp>
        <p:nvSpPr>
          <p:cNvPr id="14" name="Text 11"/>
          <p:cNvSpPr txBox="1"/>
          <p:nvPr/>
        </p:nvSpPr>
        <p:spPr>
          <a:xfrm>
            <a:off x="6537960" y="2331720"/>
            <a:ext cx="4846320" cy="1737360"/>
          </a:xfrm>
          <a:prstGeom prst="rect">
            <a:avLst/>
          </a:prstGeom>
          <a:noFill/>
          <a:ln/>
        </p:spPr>
        <p:txBody>
          <a:bodyPr wrap="square" lIns="0" tIns="0" rIns="0" bIns="0" rtlCol="0" anchor="t"/>
          <a:lstStyle/>
          <a:p>
            <a:pPr marL="342900" indent="-342900">
              <a:spcAft>
                <a:spcPts val="800"/>
              </a:spcAft>
              <a:buSzPct val="100000"/>
              <a:buChar char="•"/>
            </a:pPr>
            <a:r>
              <a:rPr lang="en-US" sz="1100" i="1" dirty="0">
                <a:solidFill>
                  <a:srgbClr val="2E2119"/>
                </a:solidFill>
                <a:latin typeface="Calibri" pitchFamily="34" charset="0"/>
                <a:ea typeface="Calibri" pitchFamily="34" charset="-122"/>
                <a:cs typeface="Calibri" pitchFamily="34" charset="-120"/>
              </a:rPr>
              <a:t>"I don’t know who bought what" — también aquí: no saber quién pagó qué</a:t>
            </a:r>
            <a:endParaRPr lang="en-US" sz="1100" dirty="0"/>
          </a:p>
          <a:p>
            <a:pPr marL="342900" indent="-342900">
              <a:spcAft>
                <a:spcPts val="800"/>
              </a:spcAft>
              <a:buSzPct val="100000"/>
              <a:buChar char="•"/>
            </a:pPr>
            <a:r>
              <a:rPr lang="en-US" sz="1100" i="1" dirty="0">
                <a:solidFill>
                  <a:srgbClr val="2E2119"/>
                </a:solidFill>
                <a:latin typeface="Calibri" pitchFamily="34" charset="0"/>
                <a:ea typeface="Calibri" pitchFamily="34" charset="-122"/>
                <a:cs typeface="Calibri" pitchFamily="34" charset="-120"/>
              </a:rPr>
              <a:t>"Que la gente no participe a la hora de hacer la compra o que tarden en pagar cuando dividimos gastos"</a:t>
            </a:r>
            <a:endParaRPr lang="en-US" sz="1100" dirty="0"/>
          </a:p>
          <a:p>
            <a:pPr marL="342900" indent="-342900">
              <a:spcAft>
                <a:spcPts val="800"/>
              </a:spcAft>
              <a:buSzPct val="100000"/>
              <a:buChar char="•"/>
            </a:pPr>
            <a:r>
              <a:rPr lang="en-US" sz="1100" i="1" dirty="0">
                <a:solidFill>
                  <a:srgbClr val="2E2119"/>
                </a:solidFill>
                <a:latin typeface="Calibri" pitchFamily="34" charset="0"/>
                <a:ea typeface="Calibri" pitchFamily="34" charset="-122"/>
                <a:cs typeface="Calibri" pitchFamily="34" charset="-120"/>
              </a:rPr>
              <a:t>"Llevar la cuenta de quién compró qué antes" — también dual, coop + gasto</a:t>
            </a:r>
            <a:endParaRPr lang="en-US" sz="1100" dirty="0"/>
          </a:p>
        </p:txBody>
      </p:sp>
      <p:sp>
        <p:nvSpPr>
          <p:cNvPr id="15" name="Shape 12"/>
          <p:cNvSpPr/>
          <p:nvPr/>
        </p:nvSpPr>
        <p:spPr>
          <a:xfrm>
            <a:off x="6492240" y="4160520"/>
            <a:ext cx="4892040" cy="1371600"/>
          </a:xfrm>
          <a:prstGeom prst="roundRect">
            <a:avLst>
              <a:gd name="adj" fmla="val 6667"/>
            </a:avLst>
          </a:prstGeom>
          <a:solidFill>
            <a:srgbClr val="2E2119"/>
          </a:solidFill>
          <a:ln/>
        </p:spPr>
      </p:sp>
      <p:sp>
        <p:nvSpPr>
          <p:cNvPr id="16" name="Text 13"/>
          <p:cNvSpPr txBox="1"/>
          <p:nvPr/>
        </p:nvSpPr>
        <p:spPr>
          <a:xfrm>
            <a:off x="6720840" y="4279392"/>
            <a:ext cx="4480560" cy="1143000"/>
          </a:xfrm>
          <a:prstGeom prst="rect">
            <a:avLst/>
          </a:prstGeom>
          <a:noFill/>
          <a:ln/>
        </p:spPr>
        <p:txBody>
          <a:bodyPr wrap="square" lIns="0" tIns="0" rIns="0" bIns="0" rtlCol="0" anchor="t"/>
          <a:lstStyle/>
          <a:p>
            <a:pPr indent="0" marL="0">
              <a:spcAft>
                <a:spcPts val="400"/>
              </a:spcAft>
              <a:buNone/>
            </a:pPr>
            <a:r>
              <a:rPr lang="en-US" sz="1100" b="1" dirty="0">
                <a:solidFill>
                  <a:srgbClr val="D9A441"/>
                </a:solidFill>
                <a:latin typeface="Calibri" pitchFamily="34" charset="0"/>
                <a:ea typeface="Calibri" pitchFamily="34" charset="-122"/>
                <a:cs typeface="Calibri" pitchFamily="34" charset="-120"/>
              </a:rPr>
              <a:t>Esto es exactamente History:  </a:t>
            </a:r>
            <a:endParaRPr lang="en-US" sz="1100" dirty="0"/>
          </a:p>
          <a:p>
            <a:pPr indent="0" marL="0">
              <a:buNone/>
            </a:pPr>
            <a:r>
              <a:rPr lang="en-US" sz="1100" dirty="0">
                <a:solidFill>
                  <a:srgbClr val="FFFFFF"/>
                </a:solidFill>
                <a:latin typeface="Calibri" pitchFamily="34" charset="0"/>
                <a:ea typeface="Calibri" pitchFamily="34" charset="-122"/>
                <a:cs typeface="Calibri" pitchFamily="34" charset="-120"/>
              </a:rPr>
              <a:t>quién compró qué y quién debe a quién, resuelto sin depender de que alguien lo recuerde o lo apunte a mano.</a:t>
            </a:r>
            <a:endParaRPr lang="en-US" sz="1100" dirty="0"/>
          </a:p>
        </p:txBody>
      </p:sp>
      <p:sp>
        <p:nvSpPr>
          <p:cNvPr id="17" name="Shape 14"/>
          <p:cNvSpPr/>
          <p:nvPr/>
        </p:nvSpPr>
        <p:spPr>
          <a:xfrm>
            <a:off x="548640" y="5806440"/>
            <a:ext cx="11064240" cy="777240"/>
          </a:xfrm>
          <a:prstGeom prst="roundRect">
            <a:avLst>
              <a:gd name="adj" fmla="val 11765"/>
            </a:avLst>
          </a:prstGeom>
          <a:solidFill>
            <a:srgbClr val="F6E9D8"/>
          </a:solidFill>
          <a:ln w="12700">
            <a:solidFill>
              <a:srgbClr val="C9682B"/>
            </a:solidFill>
            <a:prstDash val="solid"/>
          </a:ln>
        </p:spPr>
      </p:sp>
      <p:sp>
        <p:nvSpPr>
          <p:cNvPr id="18" name="Text 15"/>
          <p:cNvSpPr txBox="1"/>
          <p:nvPr/>
        </p:nvSpPr>
        <p:spPr>
          <a:xfrm>
            <a:off x="777240" y="5806440"/>
            <a:ext cx="10607040" cy="777240"/>
          </a:xfrm>
          <a:prstGeom prst="rect">
            <a:avLst/>
          </a:prstGeom>
          <a:noFill/>
          <a:ln/>
        </p:spPr>
        <p:txBody>
          <a:bodyPr wrap="square" lIns="0" tIns="0" rIns="0" bIns="0" rtlCol="0" anchor="ctr"/>
          <a:lstStyle/>
          <a:p>
            <a:pPr indent="0" marL="0">
              <a:buNone/>
            </a:pPr>
            <a:r>
              <a:rPr lang="en-US" sz="1100" b="1" dirty="0">
                <a:solidFill>
                  <a:srgbClr val="C9682B"/>
                </a:solidFill>
                <a:latin typeface="Calibri" pitchFamily="34" charset="0"/>
                <a:ea typeface="Calibri" pitchFamily="34" charset="-122"/>
                <a:cs typeface="Calibri" pitchFamily="34" charset="-120"/>
              </a:rPr>
              <a:t>Ya no es señal aislada — 4 menciones (Fridge):  </a:t>
            </a:r>
            <a:pPr indent="0" marL="0">
              <a:buNone/>
            </a:pPr>
            <a:r>
              <a:rPr lang="en-US" sz="1100" dirty="0">
                <a:solidFill>
                  <a:srgbClr val="2E2119"/>
                </a:solidFill>
                <a:latin typeface="Calibri" pitchFamily="34" charset="0"/>
                <a:ea typeface="Calibri" pitchFamily="34" charset="-122"/>
                <a:cs typeface="Calibri" pitchFamily="34" charset="-120"/>
              </a:rPr>
              <a:t>"Pois supoño que cando algo se acabe ninguén avise" — describe el aviso de stock bajo que ya estaba en el alcance, sin que la persona lo supiera.</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3</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Estudio de mercado — A Coruña</a:t>
            </a:r>
            <a:endParaRPr lang="en-US" sz="2800" dirty="0"/>
          </a:p>
        </p:txBody>
      </p:sp>
      <p:sp>
        <p:nvSpPr>
          <p:cNvPr id="6" name="Shape 3"/>
          <p:cNvSpPr/>
          <p:nvPr/>
        </p:nvSpPr>
        <p:spPr>
          <a:xfrm>
            <a:off x="548640" y="1463040"/>
            <a:ext cx="3566160" cy="2468880"/>
          </a:xfrm>
          <a:prstGeom prst="roundRect">
            <a:avLst>
              <a:gd name="adj" fmla="val 4444"/>
            </a:avLst>
          </a:prstGeom>
          <a:solidFill>
            <a:srgbClr val="F4E9DA"/>
          </a:solidFill>
          <a:ln/>
          <a:effectLst>
            <a:outerShdw sx="100000" sy="100000" kx="0" ky="0" algn="bl" rotWithShape="0" blurRad="76200" dist="25400" dir="5400000">
              <a:srgbClr val="000000">
                <a:alpha val="12000"/>
              </a:srgbClr>
            </a:outerShdw>
          </a:effectLst>
        </p:spPr>
      </p:sp>
      <p:sp>
        <p:nvSpPr>
          <p:cNvPr id="7" name="Text 4"/>
          <p:cNvSpPr txBox="1"/>
          <p:nvPr/>
        </p:nvSpPr>
        <p:spPr>
          <a:xfrm>
            <a:off x="777240" y="1645920"/>
            <a:ext cx="3108960" cy="320040"/>
          </a:xfrm>
          <a:prstGeom prst="rect">
            <a:avLst/>
          </a:prstGeom>
          <a:noFill/>
          <a:ln/>
        </p:spPr>
        <p:txBody>
          <a:bodyPr wrap="square" lIns="0" tIns="0" rIns="0" bIns="0" rtlCol="0" anchor="ctr"/>
          <a:lstStyle/>
          <a:p>
            <a:pPr indent="0" marL="0">
              <a:buNone/>
            </a:pPr>
            <a:r>
              <a:rPr lang="en-US" sz="1100" b="1" spc="100" kern="0" dirty="0">
                <a:solidFill>
                  <a:srgbClr val="C9682B"/>
                </a:solidFill>
                <a:latin typeface="Calibri" pitchFamily="34" charset="0"/>
                <a:ea typeface="Calibri" pitchFamily="34" charset="-122"/>
                <a:cs typeface="Calibri" pitchFamily="34" charset="-120"/>
              </a:rPr>
              <a:t>MERCADO TOTAL</a:t>
            </a:r>
            <a:endParaRPr lang="en-US" sz="1100" dirty="0"/>
          </a:p>
        </p:txBody>
      </p:sp>
      <p:sp>
        <p:nvSpPr>
          <p:cNvPr id="8" name="Text 5"/>
          <p:cNvSpPr txBox="1"/>
          <p:nvPr/>
        </p:nvSpPr>
        <p:spPr>
          <a:xfrm>
            <a:off x="777240" y="2011680"/>
            <a:ext cx="3108960" cy="1005840"/>
          </a:xfrm>
          <a:prstGeom prst="rect">
            <a:avLst/>
          </a:prstGeom>
          <a:noFill/>
          <a:ln/>
        </p:spPr>
        <p:txBody>
          <a:bodyPr wrap="square" lIns="0" tIns="0" rIns="0" bIns="0" rtlCol="0" anchor="ctr"/>
          <a:lstStyle/>
          <a:p>
            <a:pPr indent="0" marL="0">
              <a:buNone/>
            </a:pPr>
            <a:r>
              <a:rPr lang="en-US" sz="2000" b="1" dirty="0">
                <a:solidFill>
                  <a:srgbClr val="2E2119"/>
                </a:solidFill>
                <a:latin typeface="Cambria" pitchFamily="34" charset="0"/>
                <a:ea typeface="Cambria" pitchFamily="34" charset="-122"/>
                <a:cs typeface="Cambria" pitchFamily="34" charset="-120"/>
              </a:rPr>
              <a:t>Hogares de</a:t>
            </a:r>
            <a:endParaRPr lang="en-US" sz="2000" dirty="0"/>
          </a:p>
          <a:p>
            <a:pPr indent="0" marL="0">
              <a:buNone/>
            </a:pPr>
            <a:r>
              <a:rPr lang="en-US" sz="2000" b="1" dirty="0">
                <a:solidFill>
                  <a:srgbClr val="2E2119"/>
                </a:solidFill>
                <a:latin typeface="Cambria" pitchFamily="34" charset="0"/>
                <a:ea typeface="Cambria" pitchFamily="34" charset="-122"/>
                <a:cs typeface="Cambria" pitchFamily="34" charset="-120"/>
              </a:rPr>
              <a:t>España 2+ pers.</a:t>
            </a:r>
            <a:endParaRPr lang="en-US" sz="2000" dirty="0"/>
          </a:p>
        </p:txBody>
      </p:sp>
      <p:sp>
        <p:nvSpPr>
          <p:cNvPr id="9" name="Text 6"/>
          <p:cNvSpPr txBox="1"/>
          <p:nvPr/>
        </p:nvSpPr>
        <p:spPr>
          <a:xfrm>
            <a:off x="777240" y="3063240"/>
            <a:ext cx="3108960" cy="777240"/>
          </a:xfrm>
          <a:prstGeom prst="rect">
            <a:avLst/>
          </a:prstGeom>
          <a:noFill/>
          <a:ln/>
        </p:spPr>
        <p:txBody>
          <a:bodyPr wrap="square" lIns="0" tIns="0" rIns="0" bIns="0" rtlCol="0" anchor="t"/>
          <a:lstStyle/>
          <a:p>
            <a:pPr indent="0" marL="0">
              <a:buNone/>
            </a:pPr>
            <a:r>
              <a:rPr lang="en-US" sz="1050" dirty="0">
                <a:solidFill>
                  <a:srgbClr val="8A7A6D"/>
                </a:solidFill>
                <a:latin typeface="Calibri" pitchFamily="34" charset="0"/>
                <a:ea typeface="Calibri" pitchFamily="34" charset="-122"/>
                <a:cs typeface="Calibri" pitchFamily="34" charset="-120"/>
              </a:rPr>
              <a:t>Tamaño medio 2,50 pers./hogar (INE 2023)</a:t>
            </a:r>
            <a:endParaRPr lang="en-US" sz="1050" dirty="0"/>
          </a:p>
        </p:txBody>
      </p:sp>
      <p:sp>
        <p:nvSpPr>
          <p:cNvPr id="10" name="Shape 7"/>
          <p:cNvSpPr/>
          <p:nvPr/>
        </p:nvSpPr>
        <p:spPr>
          <a:xfrm>
            <a:off x="4297680" y="1463040"/>
            <a:ext cx="3566160" cy="2468880"/>
          </a:xfrm>
          <a:prstGeom prst="roundRect">
            <a:avLst>
              <a:gd name="adj" fmla="val 4444"/>
            </a:avLst>
          </a:prstGeom>
          <a:solidFill>
            <a:srgbClr val="2E2119"/>
          </a:solidFill>
          <a:ln/>
          <a:effectLst>
            <a:outerShdw sx="100000" sy="100000" kx="0" ky="0" algn="bl" rotWithShape="0" blurRad="76200" dist="25400" dir="5400000">
              <a:srgbClr val="000000">
                <a:alpha val="12000"/>
              </a:srgbClr>
            </a:outerShdw>
          </a:effectLst>
        </p:spPr>
      </p:sp>
      <p:sp>
        <p:nvSpPr>
          <p:cNvPr id="11" name="Text 8"/>
          <p:cNvSpPr txBox="1"/>
          <p:nvPr/>
        </p:nvSpPr>
        <p:spPr>
          <a:xfrm>
            <a:off x="4526280" y="1645920"/>
            <a:ext cx="3108960" cy="320040"/>
          </a:xfrm>
          <a:prstGeom prst="rect">
            <a:avLst/>
          </a:prstGeom>
          <a:noFill/>
          <a:ln/>
        </p:spPr>
        <p:txBody>
          <a:bodyPr wrap="square" lIns="0" tIns="0" rIns="0" bIns="0" rtlCol="0" anchor="ctr"/>
          <a:lstStyle/>
          <a:p>
            <a:pPr indent="0" marL="0">
              <a:buNone/>
            </a:pPr>
            <a:r>
              <a:rPr lang="en-US" sz="1100" b="1" spc="100" kern="0" dirty="0">
                <a:solidFill>
                  <a:srgbClr val="D9A441"/>
                </a:solidFill>
                <a:latin typeface="Calibri" pitchFamily="34" charset="0"/>
                <a:ea typeface="Calibri" pitchFamily="34" charset="-122"/>
                <a:cs typeface="Calibri" pitchFamily="34" charset="-120"/>
              </a:rPr>
              <a:t>MERCADO ACCESIBLE</a:t>
            </a:r>
            <a:endParaRPr lang="en-US" sz="1100" dirty="0"/>
          </a:p>
        </p:txBody>
      </p:sp>
      <p:sp>
        <p:nvSpPr>
          <p:cNvPr id="12" name="Text 9"/>
          <p:cNvSpPr txBox="1"/>
          <p:nvPr/>
        </p:nvSpPr>
        <p:spPr>
          <a:xfrm>
            <a:off x="4526280" y="2011680"/>
            <a:ext cx="3108960" cy="10058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 99.700</a:t>
            </a:r>
            <a:endParaRPr lang="en-US" sz="3400" dirty="0"/>
          </a:p>
        </p:txBody>
      </p:sp>
      <p:sp>
        <p:nvSpPr>
          <p:cNvPr id="13" name="Text 10"/>
          <p:cNvSpPr txBox="1"/>
          <p:nvPr/>
        </p:nvSpPr>
        <p:spPr>
          <a:xfrm>
            <a:off x="4526280" y="3063240"/>
            <a:ext cx="3108960" cy="777240"/>
          </a:xfrm>
          <a:prstGeom prst="rect">
            <a:avLst/>
          </a:prstGeom>
          <a:noFill/>
          <a:ln/>
        </p:spPr>
        <p:txBody>
          <a:bodyPr wrap="square" lIns="0" tIns="0" rIns="0" bIns="0" rtlCol="0" anchor="t"/>
          <a:lstStyle/>
          <a:p>
            <a:pPr indent="0" marL="0">
              <a:buNone/>
            </a:pPr>
            <a:r>
              <a:rPr lang="en-US" sz="1050" dirty="0">
                <a:solidFill>
                  <a:srgbClr val="D8CBBE"/>
                </a:solidFill>
                <a:latin typeface="Calibri" pitchFamily="34" charset="0"/>
                <a:ea typeface="Calibri" pitchFamily="34" charset="-122"/>
                <a:cs typeface="Calibri" pitchFamily="34" charset="-120"/>
              </a:rPr>
              <a:t>249.261 hab. ÷ 2,50 pers./hogar (INE/IGE 2024)</a:t>
            </a:r>
            <a:endParaRPr lang="en-US" sz="1050" dirty="0"/>
          </a:p>
        </p:txBody>
      </p:sp>
      <p:sp>
        <p:nvSpPr>
          <p:cNvPr id="14" name="Shape 11"/>
          <p:cNvSpPr/>
          <p:nvPr/>
        </p:nvSpPr>
        <p:spPr>
          <a:xfrm>
            <a:off x="8046720" y="1463040"/>
            <a:ext cx="3566160" cy="2468880"/>
          </a:xfrm>
          <a:prstGeom prst="roundRect">
            <a:avLst>
              <a:gd name="adj" fmla="val 4444"/>
            </a:avLst>
          </a:prstGeom>
          <a:solidFill>
            <a:srgbClr val="F4E9DA"/>
          </a:solidFill>
          <a:ln/>
          <a:effectLst>
            <a:outerShdw sx="100000" sy="100000" kx="0" ky="0" algn="bl" rotWithShape="0" blurRad="76200" dist="25400" dir="5400000">
              <a:srgbClr val="000000">
                <a:alpha val="12000"/>
              </a:srgbClr>
            </a:outerShdw>
          </a:effectLst>
        </p:spPr>
      </p:sp>
      <p:sp>
        <p:nvSpPr>
          <p:cNvPr id="15" name="Text 12"/>
          <p:cNvSpPr txBox="1"/>
          <p:nvPr/>
        </p:nvSpPr>
        <p:spPr>
          <a:xfrm>
            <a:off x="8275320" y="1645920"/>
            <a:ext cx="3108960" cy="320040"/>
          </a:xfrm>
          <a:prstGeom prst="rect">
            <a:avLst/>
          </a:prstGeom>
          <a:noFill/>
          <a:ln/>
        </p:spPr>
        <p:txBody>
          <a:bodyPr wrap="square" lIns="0" tIns="0" rIns="0" bIns="0" rtlCol="0" anchor="ctr"/>
          <a:lstStyle/>
          <a:p>
            <a:pPr indent="0" marL="0">
              <a:buNone/>
            </a:pPr>
            <a:r>
              <a:rPr lang="en-US" sz="1100" b="1" spc="100" kern="0" dirty="0">
                <a:solidFill>
                  <a:srgbClr val="C9682B"/>
                </a:solidFill>
                <a:latin typeface="Calibri" pitchFamily="34" charset="0"/>
                <a:ea typeface="Calibri" pitchFamily="34" charset="-122"/>
                <a:cs typeface="Calibri" pitchFamily="34" charset="-120"/>
              </a:rPr>
              <a:t>MERCADO OBJETIVO</a:t>
            </a:r>
            <a:endParaRPr lang="en-US" sz="1100" dirty="0"/>
          </a:p>
        </p:txBody>
      </p:sp>
      <p:sp>
        <p:nvSpPr>
          <p:cNvPr id="16" name="Text 13"/>
          <p:cNvSpPr txBox="1"/>
          <p:nvPr/>
        </p:nvSpPr>
        <p:spPr>
          <a:xfrm>
            <a:off x="8275320" y="2011680"/>
            <a:ext cx="3108960" cy="1005840"/>
          </a:xfrm>
          <a:prstGeom prst="rect">
            <a:avLst/>
          </a:prstGeom>
          <a:noFill/>
          <a:ln/>
        </p:spPr>
        <p:txBody>
          <a:bodyPr wrap="square" lIns="0" tIns="0" rIns="0" bIns="0" rtlCol="0" anchor="ctr"/>
          <a:lstStyle/>
          <a:p>
            <a:pPr indent="0" marL="0">
              <a:buNone/>
            </a:pPr>
            <a:r>
              <a:rPr lang="en-US" sz="3400" b="1" dirty="0">
                <a:solidFill>
                  <a:srgbClr val="2E2119"/>
                </a:solidFill>
                <a:latin typeface="Cambria" pitchFamily="34" charset="0"/>
                <a:ea typeface="Cambria" pitchFamily="34" charset="-122"/>
                <a:cs typeface="Cambria" pitchFamily="34" charset="-120"/>
              </a:rPr>
              <a:t>≈ 99.700</a:t>
            </a:r>
            <a:endParaRPr lang="en-US" sz="3400" dirty="0"/>
          </a:p>
        </p:txBody>
      </p:sp>
      <p:sp>
        <p:nvSpPr>
          <p:cNvPr id="17" name="Text 14"/>
          <p:cNvSpPr txBox="1"/>
          <p:nvPr/>
        </p:nvSpPr>
        <p:spPr>
          <a:xfrm>
            <a:off x="8275320" y="3063240"/>
            <a:ext cx="3108960" cy="777240"/>
          </a:xfrm>
          <a:prstGeom prst="rect">
            <a:avLst/>
          </a:prstGeom>
          <a:noFill/>
          <a:ln/>
        </p:spPr>
        <p:txBody>
          <a:bodyPr wrap="square" lIns="0" tIns="0" rIns="0" bIns="0" rtlCol="0" anchor="t"/>
          <a:lstStyle/>
          <a:p>
            <a:pPr indent="0" marL="0">
              <a:buNone/>
            </a:pPr>
            <a:r>
              <a:rPr lang="en-US" sz="1050" dirty="0">
                <a:solidFill>
                  <a:srgbClr val="8A7A6D"/>
                </a:solidFill>
                <a:latin typeface="Calibri" pitchFamily="34" charset="0"/>
                <a:ea typeface="Calibri" pitchFamily="34" charset="-122"/>
                <a:cs typeface="Calibri" pitchFamily="34" charset="-120"/>
              </a:rPr>
              <a:t>Coincide con el accesible — ver nota abajo</a:t>
            </a:r>
            <a:endParaRPr lang="en-US" sz="1050" dirty="0"/>
          </a:p>
        </p:txBody>
      </p:sp>
      <p:sp>
        <p:nvSpPr>
          <p:cNvPr id="18" name="Shape 15"/>
          <p:cNvSpPr/>
          <p:nvPr/>
        </p:nvSpPr>
        <p:spPr>
          <a:xfrm>
            <a:off x="548640" y="4160520"/>
            <a:ext cx="11064240" cy="1965960"/>
          </a:xfrm>
          <a:prstGeom prst="roundRect">
            <a:avLst>
              <a:gd name="adj" fmla="val 4651"/>
            </a:avLst>
          </a:prstGeom>
          <a:solidFill>
            <a:srgbClr val="F6E9D8"/>
          </a:solidFill>
          <a:ln w="12700">
            <a:solidFill>
              <a:srgbClr val="C9682B"/>
            </a:solidFill>
            <a:prstDash val="solid"/>
          </a:ln>
        </p:spPr>
      </p:sp>
      <p:sp>
        <p:nvSpPr>
          <p:cNvPr id="19" name="Text 16"/>
          <p:cNvSpPr txBox="1"/>
          <p:nvPr/>
        </p:nvSpPr>
        <p:spPr>
          <a:xfrm>
            <a:off x="777240" y="4279392"/>
            <a:ext cx="10607040" cy="1737360"/>
          </a:xfrm>
          <a:prstGeom prst="rect">
            <a:avLst/>
          </a:prstGeom>
          <a:noFill/>
          <a:ln/>
        </p:spPr>
        <p:txBody>
          <a:bodyPr wrap="square" lIns="0" tIns="0" rIns="0" bIns="0" rtlCol="0" anchor="t"/>
          <a:lstStyle/>
          <a:p>
            <a:pPr indent="0" marL="0">
              <a:buNone/>
            </a:pPr>
            <a:r>
              <a:rPr lang="en-US" sz="1200" b="1" dirty="0">
                <a:solidFill>
                  <a:srgbClr val="C9682B"/>
                </a:solidFill>
                <a:latin typeface="Calibri" pitchFamily="34" charset="0"/>
                <a:ea typeface="Calibri" pitchFamily="34" charset="-122"/>
                <a:cs typeface="Calibri" pitchFamily="34" charset="-120"/>
              </a:rPr>
              <a:t>Nota honesta sobre la búsqueda:  </a:t>
            </a:r>
            <a:endParaRPr lang="en-US" sz="1200" dirty="0"/>
          </a:p>
          <a:p>
            <a:pPr indent="0" marL="0">
              <a:spcAft>
                <a:spcPts val="600"/>
              </a:spcAft>
              <a:buNone/>
            </a:pPr>
            <a:r>
              <a:rPr lang="en-US" sz="1200" dirty="0">
                <a:solidFill>
                  <a:srgbClr val="2E2119"/>
                </a:solidFill>
                <a:latin typeface="Calibri" pitchFamily="34" charset="0"/>
                <a:ea typeface="Calibri" pitchFamily="34" charset="-122"/>
                <a:cs typeface="Calibri" pitchFamily="34" charset="-120"/>
              </a:rPr>
              <a:t>no se encontró un desglose público fiable de "hogares no familiares/parejas sin hijos" a nivel de A Coruña — es un resultado válido en sí mismo, no un dato inventado.</a:t>
            </a:r>
            <a:endParaRPr lang="en-US" sz="1200" dirty="0"/>
          </a:p>
          <a:p>
            <a:pPr indent="0" marL="0">
              <a:buNone/>
            </a:pPr>
            <a:r>
              <a:rPr lang="en-US" sz="1200" b="1" dirty="0">
                <a:solidFill>
                  <a:srgbClr val="C9682B"/>
                </a:solidFill>
                <a:latin typeface="Calibri" pitchFamily="34" charset="0"/>
                <a:ea typeface="Calibri" pitchFamily="34" charset="-122"/>
                <a:cs typeface="Calibri" pitchFamily="34" charset="-120"/>
              </a:rPr>
              <a:t>Suelo verificable:  </a:t>
            </a:r>
            <a:endParaRPr lang="en-US" sz="1200" dirty="0"/>
          </a:p>
          <a:p>
            <a:pPr indent="0" marL="0">
              <a:buNone/>
            </a:pPr>
            <a:r>
              <a:rPr lang="en-US" sz="1200" dirty="0">
                <a:solidFill>
                  <a:srgbClr val="2E2119"/>
                </a:solidFill>
                <a:latin typeface="Calibri" pitchFamily="34" charset="0"/>
                <a:ea typeface="Calibri" pitchFamily="34" charset="-122"/>
                <a:cs typeface="Calibri" pitchFamily="34" charset="-120"/>
              </a:rPr>
              <a:t>≈ 650 pisos de estudiantes en A Coruña (UDC &gt;13.300 matriculados · 31% cambia de ciudad · 55% comparte piso — Fundación CYD).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4</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La servilleta de 6 casillas</a:t>
            </a:r>
            <a:endParaRPr lang="en-US" sz="2800" dirty="0"/>
          </a:p>
        </p:txBody>
      </p:sp>
      <p:sp>
        <p:nvSpPr>
          <p:cNvPr id="6" name="Shape 3"/>
          <p:cNvSpPr/>
          <p:nvPr/>
        </p:nvSpPr>
        <p:spPr>
          <a:xfrm>
            <a:off x="548640" y="1417320"/>
            <a:ext cx="3611880" cy="960120"/>
          </a:xfrm>
          <a:prstGeom prst="roundRect">
            <a:avLst>
              <a:gd name="adj" fmla="val 11429"/>
            </a:avLst>
          </a:prstGeom>
          <a:solidFill>
            <a:srgbClr val="F4E9DA"/>
          </a:solidFill>
          <a:ln/>
          <a:effectLst>
            <a:outerShdw sx="100000" sy="100000" kx="0" ky="0" algn="bl" rotWithShape="0" blurRad="76200" dist="25400" dir="5400000">
              <a:srgbClr val="000000">
                <a:alpha val="12000"/>
              </a:srgbClr>
            </a:outerShdw>
          </a:effectLst>
        </p:spPr>
      </p:sp>
      <p:sp>
        <p:nvSpPr>
          <p:cNvPr id="7" name="Text 4"/>
          <p:cNvSpPr txBox="1"/>
          <p:nvPr/>
        </p:nvSpPr>
        <p:spPr>
          <a:xfrm>
            <a:off x="731520" y="1508760"/>
            <a:ext cx="3246120" cy="256032"/>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QUÉ VENDEMOS</a:t>
            </a:r>
            <a:endParaRPr lang="en-US" sz="1000" dirty="0"/>
          </a:p>
        </p:txBody>
      </p:sp>
      <p:sp>
        <p:nvSpPr>
          <p:cNvPr id="8" name="Text 5"/>
          <p:cNvSpPr txBox="1"/>
          <p:nvPr/>
        </p:nvSpPr>
        <p:spPr>
          <a:xfrm>
            <a:off x="731520" y="1764792"/>
            <a:ext cx="3246120" cy="566928"/>
          </a:xfrm>
          <a:prstGeom prst="rect">
            <a:avLst/>
          </a:prstGeom>
          <a:noFill/>
          <a:ln/>
        </p:spPr>
        <p:txBody>
          <a:bodyPr wrap="square" lIns="0" tIns="0" rIns="0" bIns="0" rtlCol="0" anchor="t"/>
          <a:lstStyle/>
          <a:p>
            <a:pPr indent="0" marL="0">
              <a:buNone/>
            </a:pPr>
            <a:r>
              <a:rPr lang="en-US" sz="1150" dirty="0">
                <a:solidFill>
                  <a:srgbClr val="2E2119"/>
                </a:solidFill>
                <a:latin typeface="Calibri" pitchFamily="34" charset="0"/>
                <a:ea typeface="Calibri" pitchFamily="34" charset="-122"/>
                <a:cs typeface="Calibri" pitchFamily="34" charset="-120"/>
              </a:rPr>
              <a:t>Suscripción mensual por hogar</a:t>
            </a:r>
            <a:endParaRPr lang="en-US" sz="1150" dirty="0"/>
          </a:p>
        </p:txBody>
      </p:sp>
      <p:sp>
        <p:nvSpPr>
          <p:cNvPr id="9" name="Shape 6"/>
          <p:cNvSpPr/>
          <p:nvPr/>
        </p:nvSpPr>
        <p:spPr>
          <a:xfrm>
            <a:off x="4297680" y="1417320"/>
            <a:ext cx="3611880" cy="960120"/>
          </a:xfrm>
          <a:prstGeom prst="roundRect">
            <a:avLst>
              <a:gd name="adj" fmla="val 11429"/>
            </a:avLst>
          </a:prstGeom>
          <a:solidFill>
            <a:srgbClr val="F4E9DA"/>
          </a:solidFill>
          <a:ln/>
          <a:effectLst>
            <a:outerShdw sx="100000" sy="100000" kx="0" ky="0" algn="bl" rotWithShape="0" blurRad="76200" dist="25400" dir="5400000">
              <a:srgbClr val="000000">
                <a:alpha val="12000"/>
              </a:srgbClr>
            </a:outerShdw>
          </a:effectLst>
        </p:spPr>
      </p:sp>
      <p:sp>
        <p:nvSpPr>
          <p:cNvPr id="10" name="Text 7"/>
          <p:cNvSpPr txBox="1"/>
          <p:nvPr/>
        </p:nvSpPr>
        <p:spPr>
          <a:xfrm>
            <a:off x="4480560" y="1508760"/>
            <a:ext cx="3246120" cy="256032"/>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A QUIÉN</a:t>
            </a:r>
            <a:endParaRPr lang="en-US" sz="1000" dirty="0"/>
          </a:p>
        </p:txBody>
      </p:sp>
      <p:sp>
        <p:nvSpPr>
          <p:cNvPr id="11" name="Text 8"/>
          <p:cNvSpPr txBox="1"/>
          <p:nvPr/>
        </p:nvSpPr>
        <p:spPr>
          <a:xfrm>
            <a:off x="4480560" y="1764792"/>
            <a:ext cx="3246120" cy="566928"/>
          </a:xfrm>
          <a:prstGeom prst="rect">
            <a:avLst/>
          </a:prstGeom>
          <a:noFill/>
          <a:ln/>
        </p:spPr>
        <p:txBody>
          <a:bodyPr wrap="square" lIns="0" tIns="0" rIns="0" bIns="0" rtlCol="0" anchor="t"/>
          <a:lstStyle/>
          <a:p>
            <a:pPr indent="0" marL="0">
              <a:buNone/>
            </a:pPr>
            <a:r>
              <a:rPr lang="en-US" sz="1150" dirty="0">
                <a:solidFill>
                  <a:srgbClr val="2E2119"/>
                </a:solidFill>
                <a:latin typeface="Calibri" pitchFamily="34" charset="0"/>
                <a:ea typeface="Calibri" pitchFamily="34" charset="-122"/>
                <a:cs typeface="Calibri" pitchFamily="34" charset="-120"/>
              </a:rPr>
              <a:t>Quien organiza la compra en un hogar compartido de A Coruña</a:t>
            </a:r>
            <a:endParaRPr lang="en-US" sz="1150" dirty="0"/>
          </a:p>
        </p:txBody>
      </p:sp>
      <p:sp>
        <p:nvSpPr>
          <p:cNvPr id="12" name="Shape 9"/>
          <p:cNvSpPr/>
          <p:nvPr/>
        </p:nvSpPr>
        <p:spPr>
          <a:xfrm>
            <a:off x="8046720" y="1417320"/>
            <a:ext cx="3611880" cy="960120"/>
          </a:xfrm>
          <a:prstGeom prst="roundRect">
            <a:avLst>
              <a:gd name="adj" fmla="val 11429"/>
            </a:avLst>
          </a:prstGeom>
          <a:solidFill>
            <a:srgbClr val="F4E9DA"/>
          </a:solidFill>
          <a:ln/>
          <a:effectLst>
            <a:outerShdw sx="100000" sy="100000" kx="0" ky="0" algn="bl" rotWithShape="0" blurRad="76200" dist="25400" dir="5400000">
              <a:srgbClr val="000000">
                <a:alpha val="12000"/>
              </a:srgbClr>
            </a:outerShdw>
          </a:effectLst>
        </p:spPr>
      </p:sp>
      <p:sp>
        <p:nvSpPr>
          <p:cNvPr id="13" name="Text 10"/>
          <p:cNvSpPr txBox="1"/>
          <p:nvPr/>
        </p:nvSpPr>
        <p:spPr>
          <a:xfrm>
            <a:off x="8229600" y="1508760"/>
            <a:ext cx="3246120" cy="256032"/>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A CUÁNTO</a:t>
            </a:r>
            <a:endParaRPr lang="en-US" sz="1000" dirty="0"/>
          </a:p>
        </p:txBody>
      </p:sp>
      <p:sp>
        <p:nvSpPr>
          <p:cNvPr id="14" name="Text 11"/>
          <p:cNvSpPr txBox="1"/>
          <p:nvPr/>
        </p:nvSpPr>
        <p:spPr>
          <a:xfrm>
            <a:off x="8229600" y="1764792"/>
            <a:ext cx="3246120" cy="566928"/>
          </a:xfrm>
          <a:prstGeom prst="rect">
            <a:avLst/>
          </a:prstGeom>
          <a:noFill/>
          <a:ln/>
        </p:spPr>
        <p:txBody>
          <a:bodyPr wrap="square" lIns="0" tIns="0" rIns="0" bIns="0" rtlCol="0" anchor="t"/>
          <a:lstStyle/>
          <a:p>
            <a:pPr indent="0" marL="0">
              <a:buNone/>
            </a:pPr>
            <a:r>
              <a:rPr lang="en-US" sz="1150" dirty="0">
                <a:solidFill>
                  <a:srgbClr val="2E2119"/>
                </a:solidFill>
                <a:latin typeface="Calibri" pitchFamily="34" charset="0"/>
                <a:ea typeface="Calibri" pitchFamily="34" charset="-122"/>
                <a:cs typeface="Calibri" pitchFamily="34" charset="-120"/>
              </a:rPr>
              <a:t>0,99 €/mes por hogar</a:t>
            </a:r>
            <a:endParaRPr lang="en-US" sz="1150" dirty="0"/>
          </a:p>
        </p:txBody>
      </p:sp>
      <p:sp>
        <p:nvSpPr>
          <p:cNvPr id="15" name="Shape 12"/>
          <p:cNvSpPr/>
          <p:nvPr/>
        </p:nvSpPr>
        <p:spPr>
          <a:xfrm>
            <a:off x="548640" y="2514600"/>
            <a:ext cx="3611880" cy="960120"/>
          </a:xfrm>
          <a:prstGeom prst="roundRect">
            <a:avLst>
              <a:gd name="adj" fmla="val 11429"/>
            </a:avLst>
          </a:prstGeom>
          <a:solidFill>
            <a:srgbClr val="F4E9DA"/>
          </a:solidFill>
          <a:ln/>
          <a:effectLst>
            <a:outerShdw sx="100000" sy="100000" kx="0" ky="0" algn="bl" rotWithShape="0" blurRad="76200" dist="25400" dir="5400000">
              <a:srgbClr val="000000">
                <a:alpha val="12000"/>
              </a:srgbClr>
            </a:outerShdw>
          </a:effectLst>
        </p:spPr>
      </p:sp>
      <p:sp>
        <p:nvSpPr>
          <p:cNvPr id="16" name="Text 13"/>
          <p:cNvSpPr txBox="1"/>
          <p:nvPr/>
        </p:nvSpPr>
        <p:spPr>
          <a:xfrm>
            <a:off x="731520" y="2606040"/>
            <a:ext cx="3246120" cy="256032"/>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QUÉ NOS CUESTA</a:t>
            </a:r>
            <a:endParaRPr lang="en-US" sz="1000" dirty="0"/>
          </a:p>
        </p:txBody>
      </p:sp>
      <p:sp>
        <p:nvSpPr>
          <p:cNvPr id="17" name="Text 14"/>
          <p:cNvSpPr txBox="1"/>
          <p:nvPr/>
        </p:nvSpPr>
        <p:spPr>
          <a:xfrm>
            <a:off x="731520" y="2862072"/>
            <a:ext cx="3246120" cy="566928"/>
          </a:xfrm>
          <a:prstGeom prst="rect">
            <a:avLst/>
          </a:prstGeom>
          <a:noFill/>
          <a:ln/>
        </p:spPr>
        <p:txBody>
          <a:bodyPr wrap="square" lIns="0" tIns="0" rIns="0" bIns="0" rtlCol="0" anchor="t"/>
          <a:lstStyle/>
          <a:p>
            <a:pPr indent="0" marL="0">
              <a:buNone/>
            </a:pPr>
            <a:r>
              <a:rPr lang="en-US" sz="1150" dirty="0">
                <a:solidFill>
                  <a:srgbClr val="2E2119"/>
                </a:solidFill>
                <a:latin typeface="Calibri" pitchFamily="34" charset="0"/>
                <a:ea typeface="Calibri" pitchFamily="34" charset="-122"/>
                <a:cs typeface="Calibri" pitchFamily="34" charset="-120"/>
              </a:rPr>
              <a:t>Coste fijo: 0 € (hosting gratuito). Variable: 0 €</a:t>
            </a:r>
            <a:endParaRPr lang="en-US" sz="1150" dirty="0"/>
          </a:p>
        </p:txBody>
      </p:sp>
      <p:sp>
        <p:nvSpPr>
          <p:cNvPr id="18" name="Shape 15"/>
          <p:cNvSpPr/>
          <p:nvPr/>
        </p:nvSpPr>
        <p:spPr>
          <a:xfrm>
            <a:off x="4297680" y="2514600"/>
            <a:ext cx="3611880" cy="960120"/>
          </a:xfrm>
          <a:prstGeom prst="roundRect">
            <a:avLst>
              <a:gd name="adj" fmla="val 11429"/>
            </a:avLst>
          </a:prstGeom>
          <a:solidFill>
            <a:srgbClr val="F4E9DA"/>
          </a:solidFill>
          <a:ln/>
          <a:effectLst>
            <a:outerShdw sx="100000" sy="100000" kx="0" ky="0" algn="bl" rotWithShape="0" blurRad="76200" dist="25400" dir="5400000">
              <a:srgbClr val="000000">
                <a:alpha val="12000"/>
              </a:srgbClr>
            </a:outerShdw>
          </a:effectLst>
        </p:spPr>
      </p:sp>
      <p:sp>
        <p:nvSpPr>
          <p:cNvPr id="19" name="Text 16"/>
          <p:cNvSpPr txBox="1"/>
          <p:nvPr/>
        </p:nvSpPr>
        <p:spPr>
          <a:xfrm>
            <a:off x="4480560" y="2606040"/>
            <a:ext cx="3246120" cy="256032"/>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CUÁNTOS HACEN FALTA</a:t>
            </a:r>
            <a:endParaRPr lang="en-US" sz="1000" dirty="0"/>
          </a:p>
        </p:txBody>
      </p:sp>
      <p:sp>
        <p:nvSpPr>
          <p:cNvPr id="20" name="Text 17"/>
          <p:cNvSpPr txBox="1"/>
          <p:nvPr/>
        </p:nvSpPr>
        <p:spPr>
          <a:xfrm>
            <a:off x="4480560" y="2862072"/>
            <a:ext cx="3246120" cy="566928"/>
          </a:xfrm>
          <a:prstGeom prst="rect">
            <a:avLst/>
          </a:prstGeom>
          <a:noFill/>
          <a:ln/>
        </p:spPr>
        <p:txBody>
          <a:bodyPr wrap="square" lIns="0" tIns="0" rIns="0" bIns="0" rtlCol="0" anchor="t"/>
          <a:lstStyle/>
          <a:p>
            <a:pPr indent="0" marL="0">
              <a:buNone/>
            </a:pPr>
            <a:r>
              <a:rPr lang="en-US" sz="1150" dirty="0">
                <a:solidFill>
                  <a:srgbClr val="2E2119"/>
                </a:solidFill>
                <a:latin typeface="Calibri" pitchFamily="34" charset="0"/>
                <a:ea typeface="Calibri" pitchFamily="34" charset="-122"/>
                <a:cs typeface="Calibri" pitchFamily="34" charset="-120"/>
              </a:rPr>
              <a:t>Punto de equilibrio: 1 hogar</a:t>
            </a:r>
            <a:endParaRPr lang="en-US" sz="1150" dirty="0"/>
          </a:p>
        </p:txBody>
      </p:sp>
      <p:sp>
        <p:nvSpPr>
          <p:cNvPr id="21" name="Shape 18"/>
          <p:cNvSpPr/>
          <p:nvPr/>
        </p:nvSpPr>
        <p:spPr>
          <a:xfrm>
            <a:off x="8046720" y="2514600"/>
            <a:ext cx="3611880" cy="960120"/>
          </a:xfrm>
          <a:prstGeom prst="roundRect">
            <a:avLst>
              <a:gd name="adj" fmla="val 11429"/>
            </a:avLst>
          </a:prstGeom>
          <a:solidFill>
            <a:srgbClr val="F4E9DA"/>
          </a:solidFill>
          <a:ln/>
          <a:effectLst>
            <a:outerShdw sx="100000" sy="100000" kx="0" ky="0" algn="bl" rotWithShape="0" blurRad="76200" dist="25400" dir="5400000">
              <a:srgbClr val="000000">
                <a:alpha val="12000"/>
              </a:srgbClr>
            </a:outerShdw>
          </a:effectLst>
        </p:spPr>
      </p:sp>
      <p:sp>
        <p:nvSpPr>
          <p:cNvPr id="22" name="Text 19"/>
          <p:cNvSpPr txBox="1"/>
          <p:nvPr/>
        </p:nvSpPr>
        <p:spPr>
          <a:xfrm>
            <a:off x="8229600" y="2606040"/>
            <a:ext cx="3246120" cy="256032"/>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CUÁNTOS HAY</a:t>
            </a:r>
            <a:endParaRPr lang="en-US" sz="1000" dirty="0"/>
          </a:p>
        </p:txBody>
      </p:sp>
      <p:sp>
        <p:nvSpPr>
          <p:cNvPr id="23" name="Text 20"/>
          <p:cNvSpPr txBox="1"/>
          <p:nvPr/>
        </p:nvSpPr>
        <p:spPr>
          <a:xfrm>
            <a:off x="8229600" y="2862072"/>
            <a:ext cx="3246120" cy="566928"/>
          </a:xfrm>
          <a:prstGeom prst="rect">
            <a:avLst/>
          </a:prstGeom>
          <a:noFill/>
          <a:ln/>
        </p:spPr>
        <p:txBody>
          <a:bodyPr wrap="square" lIns="0" tIns="0" rIns="0" bIns="0" rtlCol="0" anchor="t"/>
          <a:lstStyle/>
          <a:p>
            <a:pPr indent="0" marL="0">
              <a:buNone/>
            </a:pPr>
            <a:r>
              <a:rPr lang="en-US" sz="1150" dirty="0">
                <a:solidFill>
                  <a:srgbClr val="2E2119"/>
                </a:solidFill>
                <a:latin typeface="Calibri" pitchFamily="34" charset="0"/>
                <a:ea typeface="Calibri" pitchFamily="34" charset="-122"/>
                <a:cs typeface="Calibri" pitchFamily="34" charset="-120"/>
              </a:rPr>
              <a:t>≈ 99.700 hogares accesibles</a:t>
            </a:r>
            <a:endParaRPr lang="en-US" sz="1150" dirty="0"/>
          </a:p>
        </p:txBody>
      </p:sp>
      <p:sp>
        <p:nvSpPr>
          <p:cNvPr id="24" name="Shape 21"/>
          <p:cNvSpPr/>
          <p:nvPr/>
        </p:nvSpPr>
        <p:spPr>
          <a:xfrm>
            <a:off x="548640" y="3657600"/>
            <a:ext cx="5349240" cy="1417320"/>
          </a:xfrm>
          <a:prstGeom prst="roundRect">
            <a:avLst>
              <a:gd name="adj" fmla="val 7742"/>
            </a:avLst>
          </a:prstGeom>
          <a:solidFill>
            <a:srgbClr val="2E2119"/>
          </a:solidFill>
          <a:ln/>
        </p:spPr>
      </p:sp>
      <p:sp>
        <p:nvSpPr>
          <p:cNvPr id="25" name="Text 22"/>
          <p:cNvSpPr txBox="1"/>
          <p:nvPr/>
        </p:nvSpPr>
        <p:spPr>
          <a:xfrm>
            <a:off x="548640" y="3767328"/>
            <a:ext cx="5349240" cy="685800"/>
          </a:xfrm>
          <a:prstGeom prst="rect">
            <a:avLst/>
          </a:prstGeom>
          <a:noFill/>
          <a:ln/>
        </p:spPr>
        <p:txBody>
          <a:bodyPr wrap="square" lIns="0" tIns="0" rIns="0" bIns="0" rtlCol="0" anchor="ctr"/>
          <a:lstStyle/>
          <a:p>
            <a:pPr algn="ctr" indent="0" marL="0">
              <a:buNone/>
            </a:pPr>
            <a:r>
              <a:rPr lang="en-US" sz="3400" b="1" dirty="0">
                <a:solidFill>
                  <a:srgbClr val="D9A441"/>
                </a:solidFill>
                <a:latin typeface="Cambria" pitchFamily="34" charset="0"/>
                <a:ea typeface="Cambria" pitchFamily="34" charset="-122"/>
                <a:cs typeface="Cambria" pitchFamily="34" charset="-120"/>
              </a:rPr>
              <a:t>1 hogar</a:t>
            </a:r>
            <a:endParaRPr lang="en-US" sz="3400" dirty="0"/>
          </a:p>
        </p:txBody>
      </p:sp>
      <p:sp>
        <p:nvSpPr>
          <p:cNvPr id="26" name="Text 23"/>
          <p:cNvSpPr txBox="1"/>
          <p:nvPr/>
        </p:nvSpPr>
        <p:spPr>
          <a:xfrm>
            <a:off x="777240" y="4434840"/>
            <a:ext cx="4892040" cy="502920"/>
          </a:xfrm>
          <a:prstGeom prst="rect">
            <a:avLst/>
          </a:prstGeom>
          <a:noFill/>
          <a:ln/>
        </p:spPr>
        <p:txBody>
          <a:bodyPr wrap="square" lIns="0" tIns="0" rIns="0" bIns="0" rtlCol="0" anchor="ctr"/>
          <a:lstStyle/>
          <a:p>
            <a:pPr algn="ctr" indent="0" marL="0">
              <a:buNone/>
            </a:pPr>
            <a:r>
              <a:rPr lang="en-US" sz="1150" dirty="0">
                <a:solidFill>
                  <a:srgbClr val="FFFFFF"/>
                </a:solidFill>
                <a:latin typeface="Calibri" pitchFamily="34" charset="0"/>
                <a:ea typeface="Calibri" pitchFamily="34" charset="-122"/>
                <a:cs typeface="Calibri" pitchFamily="34" charset="-120"/>
              </a:rPr>
              <a:t>punto de equilibrio — coste fijo 0€ ÷ margen 0,99€</a:t>
            </a:r>
            <a:endParaRPr lang="en-US" sz="1150" dirty="0"/>
          </a:p>
        </p:txBody>
      </p:sp>
      <p:sp>
        <p:nvSpPr>
          <p:cNvPr id="27" name="Shape 24"/>
          <p:cNvSpPr/>
          <p:nvPr/>
        </p:nvSpPr>
        <p:spPr>
          <a:xfrm>
            <a:off x="6035040" y="3657600"/>
            <a:ext cx="5577840" cy="1417320"/>
          </a:xfrm>
          <a:prstGeom prst="roundRect">
            <a:avLst>
              <a:gd name="adj" fmla="val 6452"/>
            </a:avLst>
          </a:prstGeom>
          <a:solidFill>
            <a:srgbClr val="F6E9D8"/>
          </a:solidFill>
          <a:ln w="12700">
            <a:solidFill>
              <a:srgbClr val="C9682B"/>
            </a:solidFill>
            <a:prstDash val="solid"/>
          </a:ln>
        </p:spPr>
      </p:sp>
      <p:sp>
        <p:nvSpPr>
          <p:cNvPr id="28" name="Text 25"/>
          <p:cNvSpPr txBox="1"/>
          <p:nvPr/>
        </p:nvSpPr>
        <p:spPr>
          <a:xfrm>
            <a:off x="6263640" y="3767328"/>
            <a:ext cx="5120640" cy="1188720"/>
          </a:xfrm>
          <a:prstGeom prst="rect">
            <a:avLst/>
          </a:prstGeom>
          <a:noFill/>
          <a:ln/>
        </p:spPr>
        <p:txBody>
          <a:bodyPr wrap="square" lIns="0" tIns="0" rIns="0" bIns="0" rtlCol="0" anchor="ctr"/>
          <a:lstStyle/>
          <a:p>
            <a:pPr indent="0" marL="0">
              <a:buNone/>
            </a:pPr>
            <a:r>
              <a:rPr lang="en-US" sz="1150" i="1" dirty="0">
                <a:solidFill>
                  <a:srgbClr val="2E2119"/>
                </a:solidFill>
                <a:latin typeface="Calibri" pitchFamily="34" charset="0"/>
                <a:ea typeface="Calibri" pitchFamily="34" charset="-122"/>
                <a:cs typeface="Calibri" pitchFamily="34" charset="-120"/>
              </a:rPr>
              <a:t>Lectura honesta: el nivel gratuito "duerme" sin uso y el disco es efímero (riesgo real para SQLite). El reto no son los números — es que alguien pague por algo que la competencia da gratis.</a:t>
            </a:r>
            <a:endParaRPr lang="en-US" sz="1150" dirty="0"/>
          </a:p>
        </p:txBody>
      </p:sp>
      <p:sp>
        <p:nvSpPr>
          <p:cNvPr id="29" name="Text 26"/>
          <p:cNvSpPr txBox="1"/>
          <p:nvPr/>
        </p:nvSpPr>
        <p:spPr>
          <a:xfrm>
            <a:off x="548640" y="5349240"/>
            <a:ext cx="11094415" cy="274320"/>
          </a:xfrm>
          <a:prstGeom prst="rect">
            <a:avLst/>
          </a:prstGeom>
          <a:noFill/>
          <a:ln/>
        </p:spPr>
        <p:txBody>
          <a:bodyPr wrap="square" lIns="0" tIns="0" rIns="0" bIns="0" rtlCol="0" anchor="ctr"/>
          <a:lstStyle/>
          <a:p>
            <a:pPr indent="0" marL="0">
              <a:buNone/>
            </a:pPr>
            <a:r>
              <a:rPr lang="en-US" sz="1000" i="1" dirty="0">
                <a:solidFill>
                  <a:srgbClr val="8A7A6D"/>
                </a:solidFill>
                <a:latin typeface="Calibri" pitchFamily="34" charset="0"/>
                <a:ea typeface="Calibri" pitchFamily="34" charset="-122"/>
                <a:cs typeface="Calibri" pitchFamily="34" charset="-120"/>
              </a:rPr>
              <a:t>Decisión explícita: no se adelanta dinero propio en hosting mientras el proyecto no genere ingresos.</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5</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Las 3 columnas del alcance</a:t>
            </a:r>
            <a:endParaRPr lang="en-US" sz="2800" dirty="0"/>
          </a:p>
        </p:txBody>
      </p:sp>
      <p:sp>
        <p:nvSpPr>
          <p:cNvPr id="6" name="Shape 3"/>
          <p:cNvSpPr/>
          <p:nvPr/>
        </p:nvSpPr>
        <p:spPr>
          <a:xfrm>
            <a:off x="548640" y="1417320"/>
            <a:ext cx="3611880" cy="3246120"/>
          </a:xfrm>
          <a:prstGeom prst="roundRect">
            <a:avLst>
              <a:gd name="adj" fmla="val 3380"/>
            </a:avLst>
          </a:prstGeom>
          <a:solidFill>
            <a:srgbClr val="F6E4D3"/>
          </a:solidFill>
          <a:ln/>
          <a:effectLst>
            <a:outerShdw sx="100000" sy="100000" kx="0" ky="0" algn="bl" rotWithShape="0" blurRad="76200" dist="25400" dir="5400000">
              <a:srgbClr val="000000">
                <a:alpha val="12000"/>
              </a:srgbClr>
            </a:outerShdw>
          </a:effectLst>
        </p:spPr>
      </p:sp>
      <p:sp>
        <p:nvSpPr>
          <p:cNvPr id="7" name="Shape 4"/>
          <p:cNvSpPr/>
          <p:nvPr/>
        </p:nvSpPr>
        <p:spPr>
          <a:xfrm>
            <a:off x="731520" y="1600200"/>
            <a:ext cx="3246120" cy="411480"/>
          </a:xfrm>
          <a:prstGeom prst="roundRect">
            <a:avLst>
              <a:gd name="adj" fmla="val 17778"/>
            </a:avLst>
          </a:prstGeom>
          <a:solidFill>
            <a:srgbClr val="C9682B"/>
          </a:solidFill>
          <a:ln/>
        </p:spPr>
      </p:sp>
      <p:sp>
        <p:nvSpPr>
          <p:cNvPr id="8" name="Text 5"/>
          <p:cNvSpPr txBox="1"/>
          <p:nvPr/>
        </p:nvSpPr>
        <p:spPr>
          <a:xfrm>
            <a:off x="731520" y="1600200"/>
            <a:ext cx="324612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Lo construimos</a:t>
            </a:r>
            <a:endParaRPr lang="en-US" sz="1400" dirty="0"/>
          </a:p>
        </p:txBody>
      </p:sp>
      <p:sp>
        <p:nvSpPr>
          <p:cNvPr id="9" name="Text 6"/>
          <p:cNvSpPr txBox="1"/>
          <p:nvPr/>
        </p:nvSpPr>
        <p:spPr>
          <a:xfrm>
            <a:off x="777240" y="2194560"/>
            <a:ext cx="3154680" cy="2286000"/>
          </a:xfrm>
          <a:prstGeom prst="rect">
            <a:avLst/>
          </a:prstGeom>
          <a:noFill/>
          <a:ln/>
        </p:spPr>
        <p:txBody>
          <a:bodyPr wrap="square" lIns="0" tIns="0" rIns="0" bIns="0" rtlCol="0" anchor="t"/>
          <a:lstStyle/>
          <a:p>
            <a:pPr marL="342900" indent="-342900">
              <a:spcAft>
                <a:spcPts val="1000"/>
              </a:spcAft>
              <a:buSzPct val="100000"/>
              <a:buChar char="•"/>
            </a:pPr>
            <a:r>
              <a:rPr lang="en-US" sz="1150" dirty="0">
                <a:solidFill>
                  <a:srgbClr val="2E2119"/>
                </a:solidFill>
                <a:latin typeface="Calibri" pitchFamily="34" charset="0"/>
                <a:ea typeface="Calibri" pitchFamily="34" charset="-122"/>
                <a:cs typeface="Calibri" pitchFamily="34" charset="-120"/>
              </a:rPr>
              <a:t>Nevera: inventario + aviso de stock bajo</a:t>
            </a:r>
            <a:endParaRPr lang="en-US" sz="1150" dirty="0"/>
          </a:p>
          <a:p>
            <a:pPr marL="342900" indent="-342900">
              <a:spcAft>
                <a:spcPts val="1000"/>
              </a:spcAft>
              <a:buSzPct val="100000"/>
              <a:buChar char="•"/>
            </a:pPr>
            <a:r>
              <a:rPr lang="en-US" sz="1150" dirty="0">
                <a:solidFill>
                  <a:srgbClr val="2E2119"/>
                </a:solidFill>
                <a:latin typeface="Calibri" pitchFamily="34" charset="0"/>
                <a:ea typeface="Calibri" pitchFamily="34" charset="-122"/>
                <a:cs typeface="Calibri" pitchFamily="34" charset="-120"/>
              </a:rPr>
              <a:t>Lista compartida con control de concurrencia</a:t>
            </a:r>
            <a:endParaRPr lang="en-US" sz="1150" dirty="0"/>
          </a:p>
          <a:p>
            <a:pPr marL="342900" indent="-342900">
              <a:spcAft>
                <a:spcPts val="1000"/>
              </a:spcAft>
              <a:buSzPct val="100000"/>
              <a:buChar char="•"/>
            </a:pPr>
            <a:r>
              <a:rPr lang="en-US" sz="1150" dirty="0">
                <a:solidFill>
                  <a:srgbClr val="2E2119"/>
                </a:solidFill>
                <a:latin typeface="Calibri" pitchFamily="34" charset="0"/>
                <a:ea typeface="Calibri" pitchFamily="34" charset="-122"/>
                <a:cs typeface="Calibri" pitchFamily="34" charset="-120"/>
              </a:rPr>
              <a:t>Historial + cálculo de quién debe a quién</a:t>
            </a:r>
            <a:endParaRPr lang="en-US" sz="1150" dirty="0"/>
          </a:p>
          <a:p>
            <a:pPr marL="342900" indent="-342900">
              <a:spcAft>
                <a:spcPts val="1000"/>
              </a:spcAft>
              <a:buSzPct val="100000"/>
              <a:buChar char="•"/>
            </a:pPr>
            <a:r>
              <a:rPr lang="en-US" sz="1150" dirty="0">
                <a:solidFill>
                  <a:srgbClr val="2E2119"/>
                </a:solidFill>
                <a:latin typeface="Calibri" pitchFamily="34" charset="0"/>
                <a:ea typeface="Calibri" pitchFamily="34" charset="-122"/>
                <a:cs typeface="Calibri" pitchFamily="34" charset="-120"/>
              </a:rPr>
              <a:t>Comparador de precios por tienda</a:t>
            </a:r>
            <a:endParaRPr lang="en-US" sz="1150" dirty="0"/>
          </a:p>
        </p:txBody>
      </p:sp>
      <p:sp>
        <p:nvSpPr>
          <p:cNvPr id="10" name="Shape 7"/>
          <p:cNvSpPr/>
          <p:nvPr/>
        </p:nvSpPr>
        <p:spPr>
          <a:xfrm>
            <a:off x="4297680" y="1417320"/>
            <a:ext cx="3611880" cy="3246120"/>
          </a:xfrm>
          <a:prstGeom prst="roundRect">
            <a:avLst>
              <a:gd name="adj" fmla="val 3380"/>
            </a:avLst>
          </a:prstGeom>
          <a:solidFill>
            <a:srgbClr val="F4EFE8"/>
          </a:solidFill>
          <a:ln/>
          <a:effectLst>
            <a:outerShdw sx="100000" sy="100000" kx="0" ky="0" algn="bl" rotWithShape="0" blurRad="76200" dist="25400" dir="5400000">
              <a:srgbClr val="000000">
                <a:alpha val="12000"/>
              </a:srgbClr>
            </a:outerShdw>
          </a:effectLst>
        </p:spPr>
      </p:sp>
      <p:sp>
        <p:nvSpPr>
          <p:cNvPr id="11" name="Shape 8"/>
          <p:cNvSpPr/>
          <p:nvPr/>
        </p:nvSpPr>
        <p:spPr>
          <a:xfrm>
            <a:off x="4480560" y="1600200"/>
            <a:ext cx="3246120" cy="411480"/>
          </a:xfrm>
          <a:prstGeom prst="roundRect">
            <a:avLst>
              <a:gd name="adj" fmla="val 17778"/>
            </a:avLst>
          </a:prstGeom>
          <a:solidFill>
            <a:srgbClr val="D9A441"/>
          </a:solidFill>
          <a:ln/>
        </p:spPr>
      </p:sp>
      <p:sp>
        <p:nvSpPr>
          <p:cNvPr id="12" name="Text 9"/>
          <p:cNvSpPr txBox="1"/>
          <p:nvPr/>
        </p:nvSpPr>
        <p:spPr>
          <a:xfrm>
            <a:off x="4480560" y="1600200"/>
            <a:ext cx="324612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Lo hace Odoo (ERP)</a:t>
            </a:r>
            <a:endParaRPr lang="en-US" sz="1400" dirty="0"/>
          </a:p>
        </p:txBody>
      </p:sp>
      <p:sp>
        <p:nvSpPr>
          <p:cNvPr id="13" name="Text 10"/>
          <p:cNvSpPr txBox="1"/>
          <p:nvPr/>
        </p:nvSpPr>
        <p:spPr>
          <a:xfrm>
            <a:off x="4526280" y="2194560"/>
            <a:ext cx="3154680" cy="2286000"/>
          </a:xfrm>
          <a:prstGeom prst="rect">
            <a:avLst/>
          </a:prstGeom>
          <a:noFill/>
          <a:ln/>
        </p:spPr>
        <p:txBody>
          <a:bodyPr wrap="square" lIns="0" tIns="0" rIns="0" bIns="0" rtlCol="0" anchor="t"/>
          <a:lstStyle/>
          <a:p>
            <a:pPr marL="342900" indent="-342900">
              <a:spcAft>
                <a:spcPts val="1000"/>
              </a:spcAft>
              <a:buSzPct val="100000"/>
              <a:buChar char="•"/>
            </a:pPr>
            <a:r>
              <a:rPr lang="en-US" sz="1150" dirty="0">
                <a:solidFill>
                  <a:srgbClr val="2E2119"/>
                </a:solidFill>
                <a:latin typeface="Calibri" pitchFamily="34" charset="0"/>
                <a:ea typeface="Calibri" pitchFamily="34" charset="-122"/>
                <a:cs typeface="Calibri" pitchFamily="34" charset="-120"/>
              </a:rPr>
              <a:t>Catálogo de productos y precios por tienda (Pricelists)</a:t>
            </a:r>
            <a:endParaRPr lang="en-US" sz="1150" dirty="0"/>
          </a:p>
          <a:p>
            <a:pPr marL="342900" indent="-342900">
              <a:spcAft>
                <a:spcPts val="1000"/>
              </a:spcAft>
              <a:buSzPct val="100000"/>
              <a:buChar char="•"/>
            </a:pPr>
            <a:r>
              <a:rPr lang="en-US" sz="1150" dirty="0">
                <a:solidFill>
                  <a:srgbClr val="2E2119"/>
                </a:solidFill>
                <a:latin typeface="Calibri" pitchFamily="34" charset="0"/>
                <a:ea typeface="Calibri" pitchFamily="34" charset="-122"/>
                <a:cs typeface="Calibri" pitchFamily="34" charset="-120"/>
              </a:rPr>
              <a:t>Facturación real de la suscripción, si se cobrase algún día</a:t>
            </a:r>
            <a:endParaRPr lang="en-US" sz="1150" dirty="0"/>
          </a:p>
        </p:txBody>
      </p:sp>
      <p:sp>
        <p:nvSpPr>
          <p:cNvPr id="14" name="Shape 11"/>
          <p:cNvSpPr/>
          <p:nvPr/>
        </p:nvSpPr>
        <p:spPr>
          <a:xfrm>
            <a:off x="8046720" y="1417320"/>
            <a:ext cx="3611880" cy="3246120"/>
          </a:xfrm>
          <a:prstGeom prst="roundRect">
            <a:avLst>
              <a:gd name="adj" fmla="val 3380"/>
            </a:avLst>
          </a:prstGeom>
          <a:solidFill>
            <a:srgbClr val="F4EFE8"/>
          </a:solidFill>
          <a:ln/>
          <a:effectLst>
            <a:outerShdw sx="100000" sy="100000" kx="0" ky="0" algn="bl" rotWithShape="0" blurRad="76200" dist="25400" dir="5400000">
              <a:srgbClr val="000000">
                <a:alpha val="12000"/>
              </a:srgbClr>
            </a:outerShdw>
          </a:effectLst>
        </p:spPr>
      </p:sp>
      <p:sp>
        <p:nvSpPr>
          <p:cNvPr id="15" name="Shape 12"/>
          <p:cNvSpPr/>
          <p:nvPr/>
        </p:nvSpPr>
        <p:spPr>
          <a:xfrm>
            <a:off x="8229600" y="1600200"/>
            <a:ext cx="3246120" cy="411480"/>
          </a:xfrm>
          <a:prstGeom prst="roundRect">
            <a:avLst>
              <a:gd name="adj" fmla="val 17778"/>
            </a:avLst>
          </a:prstGeom>
          <a:solidFill>
            <a:srgbClr val="8A7A6D"/>
          </a:solidFill>
          <a:ln/>
        </p:spPr>
      </p:sp>
      <p:sp>
        <p:nvSpPr>
          <p:cNvPr id="16" name="Text 13"/>
          <p:cNvSpPr txBox="1"/>
          <p:nvPr/>
        </p:nvSpPr>
        <p:spPr>
          <a:xfrm>
            <a:off x="8229600" y="1600200"/>
            <a:ext cx="324612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No se hace este curso</a:t>
            </a:r>
            <a:endParaRPr lang="en-US" sz="1400" dirty="0"/>
          </a:p>
        </p:txBody>
      </p:sp>
      <p:sp>
        <p:nvSpPr>
          <p:cNvPr id="17" name="Text 14"/>
          <p:cNvSpPr txBox="1"/>
          <p:nvPr/>
        </p:nvSpPr>
        <p:spPr>
          <a:xfrm>
            <a:off x="8275320" y="2194560"/>
            <a:ext cx="3154680" cy="2286000"/>
          </a:xfrm>
          <a:prstGeom prst="rect">
            <a:avLst/>
          </a:prstGeom>
          <a:noFill/>
          <a:ln/>
        </p:spPr>
        <p:txBody>
          <a:bodyPr wrap="square" lIns="0" tIns="0" rIns="0" bIns="0" rtlCol="0" anchor="t"/>
          <a:lstStyle/>
          <a:p>
            <a:pPr marL="342900" indent="-342900">
              <a:spcAft>
                <a:spcPts val="1000"/>
              </a:spcAft>
              <a:buSzPct val="100000"/>
              <a:buChar char="•"/>
            </a:pPr>
            <a:r>
              <a:rPr lang="en-US" sz="1150" dirty="0">
                <a:solidFill>
                  <a:srgbClr val="2E2119"/>
                </a:solidFill>
                <a:latin typeface="Calibri" pitchFamily="34" charset="0"/>
                <a:ea typeface="Calibri" pitchFamily="34" charset="-122"/>
                <a:cs typeface="Calibri" pitchFamily="34" charset="-120"/>
              </a:rPr>
              <a:t>Escaneo de código de barras</a:t>
            </a:r>
            <a:endParaRPr lang="en-US" sz="1150" dirty="0"/>
          </a:p>
          <a:p>
            <a:pPr marL="342900" indent="-342900">
              <a:spcAft>
                <a:spcPts val="1000"/>
              </a:spcAft>
              <a:buSzPct val="100000"/>
              <a:buChar char="•"/>
            </a:pPr>
            <a:r>
              <a:rPr lang="en-US" sz="1150" dirty="0">
                <a:solidFill>
                  <a:srgbClr val="2E2119"/>
                </a:solidFill>
                <a:latin typeface="Calibri" pitchFamily="34" charset="0"/>
                <a:ea typeface="Calibri" pitchFamily="34" charset="-122"/>
                <a:cs typeface="Calibri" pitchFamily="34" charset="-120"/>
              </a:rPr>
              <a:t>Cobro real con tarjeta</a:t>
            </a:r>
            <a:endParaRPr lang="en-US" sz="1150" dirty="0"/>
          </a:p>
          <a:p>
            <a:pPr marL="342900" indent="-342900">
              <a:spcAft>
                <a:spcPts val="1000"/>
              </a:spcAft>
              <a:buSzPct val="100000"/>
              <a:buChar char="•"/>
            </a:pPr>
            <a:r>
              <a:rPr lang="en-US" sz="1150" dirty="0">
                <a:solidFill>
                  <a:srgbClr val="2E2119"/>
                </a:solidFill>
                <a:latin typeface="Calibri" pitchFamily="34" charset="0"/>
                <a:ea typeface="Calibri" pitchFamily="34" charset="-122"/>
                <a:cs typeface="Calibri" pitchFamily="34" charset="-120"/>
              </a:rPr>
              <a:t>Notificaciones push</a:t>
            </a:r>
            <a:endParaRPr lang="en-US" sz="1150" dirty="0"/>
          </a:p>
          <a:p>
            <a:pPr marL="342900" indent="-342900">
              <a:spcAft>
                <a:spcPts val="1000"/>
              </a:spcAft>
              <a:buSzPct val="100000"/>
              <a:buChar char="•"/>
            </a:pPr>
            <a:r>
              <a:rPr lang="en-US" sz="1150" dirty="0">
                <a:solidFill>
                  <a:srgbClr val="2E2119"/>
                </a:solidFill>
                <a:latin typeface="Calibri" pitchFamily="34" charset="0"/>
                <a:ea typeface="Calibri" pitchFamily="34" charset="-122"/>
                <a:cs typeface="Calibri" pitchFamily="34" charset="-120"/>
              </a:rPr>
              <a:t>Liquidar deudas de verdad</a:t>
            </a:r>
            <a:endParaRPr lang="en-US" sz="1150" dirty="0"/>
          </a:p>
        </p:txBody>
      </p:sp>
      <p:sp>
        <p:nvSpPr>
          <p:cNvPr id="18" name="Shape 15"/>
          <p:cNvSpPr/>
          <p:nvPr/>
        </p:nvSpPr>
        <p:spPr>
          <a:xfrm>
            <a:off x="548640" y="4846320"/>
            <a:ext cx="11064240" cy="1417320"/>
          </a:xfrm>
          <a:prstGeom prst="roundRect">
            <a:avLst>
              <a:gd name="adj" fmla="val 7742"/>
            </a:avLst>
          </a:prstGeom>
          <a:solidFill>
            <a:srgbClr val="2E2119"/>
          </a:solidFill>
          <a:ln/>
        </p:spPr>
      </p:sp>
      <p:sp>
        <p:nvSpPr>
          <p:cNvPr id="19" name="Text 16"/>
          <p:cNvSpPr txBox="1"/>
          <p:nvPr/>
        </p:nvSpPr>
        <p:spPr>
          <a:xfrm>
            <a:off x="868680" y="4956048"/>
            <a:ext cx="10424160" cy="914400"/>
          </a:xfrm>
          <a:prstGeom prst="rect">
            <a:avLst/>
          </a:prstGeom>
          <a:noFill/>
          <a:ln/>
        </p:spPr>
        <p:txBody>
          <a:bodyPr wrap="square" lIns="0" tIns="0" rIns="0" bIns="0" rtlCol="0" anchor="ctr"/>
          <a:lstStyle/>
          <a:p>
            <a:pPr indent="0" marL="0">
              <a:buNone/>
            </a:pPr>
            <a:r>
              <a:rPr lang="en-US" sz="1300" i="1" dirty="0">
                <a:solidFill>
                  <a:srgbClr val="D9A441"/>
                </a:solidFill>
                <a:latin typeface="Calibri" pitchFamily="34" charset="0"/>
                <a:ea typeface="Calibri" pitchFamily="34" charset="-122"/>
                <a:cs typeface="Calibri" pitchFamily="34" charset="-120"/>
              </a:rPr>
              <a:t>"En P1, un hogar de A Coruña controla su nevera y organiza la lista de la compra compartida sin usar el grupo de WhatsApp, y puede consultar su historial de gasto repartido y comparar precios entre tiendas."</a:t>
            </a:r>
            <a:endParaRPr lang="en-US" sz="1300" dirty="0"/>
          </a:p>
        </p:txBody>
      </p:sp>
      <p:sp>
        <p:nvSpPr>
          <p:cNvPr id="20" name="Text 17"/>
          <p:cNvSpPr txBox="1"/>
          <p:nvPr/>
        </p:nvSpPr>
        <p:spPr>
          <a:xfrm>
            <a:off x="868680" y="5852160"/>
            <a:ext cx="10424160" cy="320040"/>
          </a:xfrm>
          <a:prstGeom prst="rect">
            <a:avLst/>
          </a:prstGeom>
          <a:noFill/>
          <a:ln/>
        </p:spPr>
        <p:txBody>
          <a:bodyPr wrap="square" lIns="0" tIns="0" rIns="0" bIns="0" rtlCol="0" anchor="ctr"/>
          <a:lstStyle/>
          <a:p>
            <a:pPr indent="0" marL="0">
              <a:buNone/>
            </a:pPr>
            <a:r>
              <a:rPr lang="en-US" sz="1100" dirty="0">
                <a:solidFill>
                  <a:srgbClr val="D8CBBE"/>
                </a:solidFill>
                <a:latin typeface="Calibri" pitchFamily="34" charset="0"/>
                <a:ea typeface="Calibri" pitchFamily="34" charset="-122"/>
                <a:cs typeface="Calibri" pitchFamily="34" charset="-120"/>
              </a:rPr>
              <a:t>Orden de construcción: Nevera → Lista (concurrencia) → Historial → Precios</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6</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Documento de una página</a:t>
            </a:r>
            <a:endParaRPr lang="en-US" sz="2800" dirty="0"/>
          </a:p>
        </p:txBody>
      </p:sp>
      <p:sp>
        <p:nvSpPr>
          <p:cNvPr id="6" name="Shape 3"/>
          <p:cNvSpPr/>
          <p:nvPr/>
        </p:nvSpPr>
        <p:spPr>
          <a:xfrm>
            <a:off x="548640" y="1417320"/>
            <a:ext cx="5440680" cy="896112"/>
          </a:xfrm>
          <a:prstGeom prst="roundRect">
            <a:avLst>
              <a:gd name="adj" fmla="val 12245"/>
            </a:avLst>
          </a:prstGeom>
          <a:solidFill>
            <a:srgbClr val="F4E9DA"/>
          </a:solidFill>
          <a:ln/>
          <a:effectLst>
            <a:outerShdw sx="100000" sy="100000" kx="0" ky="0" algn="bl" rotWithShape="0" blurRad="76200" dist="25400" dir="5400000">
              <a:srgbClr val="000000">
                <a:alpha val="12000"/>
              </a:srgbClr>
            </a:outerShdw>
          </a:effectLst>
        </p:spPr>
      </p:sp>
      <p:sp>
        <p:nvSpPr>
          <p:cNvPr id="7" name="Text 4"/>
          <p:cNvSpPr txBox="1"/>
          <p:nvPr/>
        </p:nvSpPr>
        <p:spPr>
          <a:xfrm>
            <a:off x="731520" y="1490472"/>
            <a:ext cx="5074920" cy="237744"/>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NOMBRE Y MENSAJE</a:t>
            </a:r>
            <a:endParaRPr lang="en-US" sz="1000" dirty="0"/>
          </a:p>
        </p:txBody>
      </p:sp>
      <p:sp>
        <p:nvSpPr>
          <p:cNvPr id="8" name="Text 5"/>
          <p:cNvSpPr txBox="1"/>
          <p:nvPr/>
        </p:nvSpPr>
        <p:spPr>
          <a:xfrm>
            <a:off x="731520" y="1728216"/>
            <a:ext cx="5074920" cy="530352"/>
          </a:xfrm>
          <a:prstGeom prst="rect">
            <a:avLst/>
          </a:prstGeom>
          <a:noFill/>
          <a:ln/>
        </p:spPr>
        <p:txBody>
          <a:bodyPr wrap="square" lIns="0" tIns="0" rIns="0" bIns="0" rtlCol="0" anchor="t"/>
          <a:lstStyle/>
          <a:p>
            <a:pPr indent="0" marL="0">
              <a:buNone/>
            </a:pPr>
            <a:r>
              <a:rPr lang="en-US" sz="1100" dirty="0">
                <a:solidFill>
                  <a:srgbClr val="2E2119"/>
                </a:solidFill>
                <a:latin typeface="Calibri" pitchFamily="34" charset="0"/>
                <a:ea typeface="Calibri" pitchFamily="34" charset="-122"/>
                <a:cs typeface="Calibri" pitchFamily="34" charset="-120"/>
              </a:rPr>
              <a:t>Larder — controlar la nevera y la compra sin duplicados ni viajes extra, sin depender de un WhatsApp desordenado.</a:t>
            </a:r>
            <a:endParaRPr lang="en-US" sz="1100" dirty="0"/>
          </a:p>
        </p:txBody>
      </p:sp>
      <p:sp>
        <p:nvSpPr>
          <p:cNvPr id="9" name="Shape 6"/>
          <p:cNvSpPr/>
          <p:nvPr/>
        </p:nvSpPr>
        <p:spPr>
          <a:xfrm>
            <a:off x="6172200" y="1417320"/>
            <a:ext cx="5440680" cy="896112"/>
          </a:xfrm>
          <a:prstGeom prst="roundRect">
            <a:avLst>
              <a:gd name="adj" fmla="val 12245"/>
            </a:avLst>
          </a:prstGeom>
          <a:solidFill>
            <a:srgbClr val="EDE6DC"/>
          </a:solidFill>
          <a:ln/>
          <a:effectLst>
            <a:outerShdw sx="100000" sy="100000" kx="0" ky="0" algn="bl" rotWithShape="0" blurRad="76200" dist="25400" dir="5400000">
              <a:srgbClr val="000000">
                <a:alpha val="12000"/>
              </a:srgbClr>
            </a:outerShdw>
          </a:effectLst>
        </p:spPr>
      </p:sp>
      <p:sp>
        <p:nvSpPr>
          <p:cNvPr id="10" name="Text 7"/>
          <p:cNvSpPr txBox="1"/>
          <p:nvPr/>
        </p:nvSpPr>
        <p:spPr>
          <a:xfrm>
            <a:off x="6355080" y="1490472"/>
            <a:ext cx="5074920" cy="237744"/>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PÚBLICO</a:t>
            </a:r>
            <a:endParaRPr lang="en-US" sz="1000" dirty="0"/>
          </a:p>
        </p:txBody>
      </p:sp>
      <p:sp>
        <p:nvSpPr>
          <p:cNvPr id="11" name="Text 8"/>
          <p:cNvSpPr txBox="1"/>
          <p:nvPr/>
        </p:nvSpPr>
        <p:spPr>
          <a:xfrm>
            <a:off x="6355080" y="1728216"/>
            <a:ext cx="5074920" cy="530352"/>
          </a:xfrm>
          <a:prstGeom prst="rect">
            <a:avLst/>
          </a:prstGeom>
          <a:noFill/>
          <a:ln/>
        </p:spPr>
        <p:txBody>
          <a:bodyPr wrap="square" lIns="0" tIns="0" rIns="0" bIns="0" rtlCol="0" anchor="t"/>
          <a:lstStyle/>
          <a:p>
            <a:pPr indent="0" marL="0">
              <a:buNone/>
            </a:pPr>
            <a:r>
              <a:rPr lang="en-US" sz="1100" dirty="0">
                <a:solidFill>
                  <a:srgbClr val="2E2119"/>
                </a:solidFill>
                <a:latin typeface="Calibri" pitchFamily="34" charset="0"/>
                <a:ea typeface="Calibri" pitchFamily="34" charset="-122"/>
                <a:cs typeface="Calibri" pitchFamily="34" charset="-120"/>
              </a:rPr>
              <a:t>Quien organiza la compra en un hogar compartido de A Coruña. ≈99.700 hogares accesibles.</a:t>
            </a:r>
            <a:endParaRPr lang="en-US" sz="1100" dirty="0"/>
          </a:p>
        </p:txBody>
      </p:sp>
      <p:sp>
        <p:nvSpPr>
          <p:cNvPr id="12" name="Shape 9"/>
          <p:cNvSpPr/>
          <p:nvPr/>
        </p:nvSpPr>
        <p:spPr>
          <a:xfrm>
            <a:off x="548640" y="2432304"/>
            <a:ext cx="5440680" cy="896112"/>
          </a:xfrm>
          <a:prstGeom prst="roundRect">
            <a:avLst>
              <a:gd name="adj" fmla="val 12245"/>
            </a:avLst>
          </a:prstGeom>
          <a:solidFill>
            <a:srgbClr val="F4E9DA"/>
          </a:solidFill>
          <a:ln/>
          <a:effectLst>
            <a:outerShdw sx="100000" sy="100000" kx="0" ky="0" algn="bl" rotWithShape="0" blurRad="76200" dist="25400" dir="5400000">
              <a:srgbClr val="000000">
                <a:alpha val="12000"/>
              </a:srgbClr>
            </a:outerShdw>
          </a:effectLst>
        </p:spPr>
      </p:sp>
      <p:sp>
        <p:nvSpPr>
          <p:cNvPr id="13" name="Text 10"/>
          <p:cNvSpPr txBox="1"/>
          <p:nvPr/>
        </p:nvSpPr>
        <p:spPr>
          <a:xfrm>
            <a:off x="731520" y="2505456"/>
            <a:ext cx="5074920" cy="237744"/>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PROBLEMA</a:t>
            </a:r>
            <a:endParaRPr lang="en-US" sz="1000" dirty="0"/>
          </a:p>
        </p:txBody>
      </p:sp>
      <p:sp>
        <p:nvSpPr>
          <p:cNvPr id="14" name="Text 11"/>
          <p:cNvSpPr txBox="1"/>
          <p:nvPr/>
        </p:nvSpPr>
        <p:spPr>
          <a:xfrm>
            <a:off x="731520" y="2743200"/>
            <a:ext cx="5074920" cy="530352"/>
          </a:xfrm>
          <a:prstGeom prst="rect">
            <a:avLst/>
          </a:prstGeom>
          <a:noFill/>
          <a:ln/>
        </p:spPr>
        <p:txBody>
          <a:bodyPr wrap="square" lIns="0" tIns="0" rIns="0" bIns="0" rtlCol="0" anchor="t"/>
          <a:lstStyle/>
          <a:p>
            <a:pPr indent="0" marL="0">
              <a:buNone/>
            </a:pPr>
            <a:r>
              <a:rPr lang="en-US" sz="1100" dirty="0">
                <a:solidFill>
                  <a:srgbClr val="2E2119"/>
                </a:solidFill>
                <a:latin typeface="Calibri" pitchFamily="34" charset="0"/>
                <a:ea typeface="Calibri" pitchFamily="34" charset="-122"/>
                <a:cs typeface="Calibri" pitchFamily="34" charset="-120"/>
              </a:rPr>
              <a:t>10-15 min/lista a ojo, 2 viajes/semana sin plan, ≈1.040€/año perdidos.</a:t>
            </a:r>
            <a:endParaRPr lang="en-US" sz="1100" dirty="0"/>
          </a:p>
        </p:txBody>
      </p:sp>
      <p:sp>
        <p:nvSpPr>
          <p:cNvPr id="15" name="Shape 12"/>
          <p:cNvSpPr/>
          <p:nvPr/>
        </p:nvSpPr>
        <p:spPr>
          <a:xfrm>
            <a:off x="6172200" y="2432304"/>
            <a:ext cx="5440680" cy="896112"/>
          </a:xfrm>
          <a:prstGeom prst="roundRect">
            <a:avLst>
              <a:gd name="adj" fmla="val 12245"/>
            </a:avLst>
          </a:prstGeom>
          <a:solidFill>
            <a:srgbClr val="EDE6DC"/>
          </a:solidFill>
          <a:ln/>
          <a:effectLst>
            <a:outerShdw sx="100000" sy="100000" kx="0" ky="0" algn="bl" rotWithShape="0" blurRad="76200" dist="25400" dir="5400000">
              <a:srgbClr val="000000">
                <a:alpha val="12000"/>
              </a:srgbClr>
            </a:outerShdw>
          </a:effectLst>
        </p:spPr>
      </p:sp>
      <p:sp>
        <p:nvSpPr>
          <p:cNvPr id="16" name="Text 13"/>
          <p:cNvSpPr txBox="1"/>
          <p:nvPr/>
        </p:nvSpPr>
        <p:spPr>
          <a:xfrm>
            <a:off x="6355080" y="2505456"/>
            <a:ext cx="5074920" cy="237744"/>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NÚMEROS</a:t>
            </a:r>
            <a:endParaRPr lang="en-US" sz="1000" dirty="0"/>
          </a:p>
        </p:txBody>
      </p:sp>
      <p:sp>
        <p:nvSpPr>
          <p:cNvPr id="17" name="Text 14"/>
          <p:cNvSpPr txBox="1"/>
          <p:nvPr/>
        </p:nvSpPr>
        <p:spPr>
          <a:xfrm>
            <a:off x="6355080" y="2743200"/>
            <a:ext cx="5074920" cy="530352"/>
          </a:xfrm>
          <a:prstGeom prst="rect">
            <a:avLst/>
          </a:prstGeom>
          <a:noFill/>
          <a:ln/>
        </p:spPr>
        <p:txBody>
          <a:bodyPr wrap="square" lIns="0" tIns="0" rIns="0" bIns="0" rtlCol="0" anchor="t"/>
          <a:lstStyle/>
          <a:p>
            <a:pPr indent="0" marL="0">
              <a:buNone/>
            </a:pPr>
            <a:r>
              <a:rPr lang="en-US" sz="1100" dirty="0">
                <a:solidFill>
                  <a:srgbClr val="2E2119"/>
                </a:solidFill>
                <a:latin typeface="Calibri" pitchFamily="34" charset="0"/>
                <a:ea typeface="Calibri" pitchFamily="34" charset="-122"/>
                <a:cs typeface="Calibri" pitchFamily="34" charset="-120"/>
              </a:rPr>
              <a:t>0,99€/mes · coste fijo 0€ · equilibrio: 1 hogar.</a:t>
            </a:r>
            <a:endParaRPr lang="en-US" sz="1100" dirty="0"/>
          </a:p>
        </p:txBody>
      </p:sp>
      <p:sp>
        <p:nvSpPr>
          <p:cNvPr id="18" name="Shape 15"/>
          <p:cNvSpPr/>
          <p:nvPr/>
        </p:nvSpPr>
        <p:spPr>
          <a:xfrm>
            <a:off x="548640" y="3447288"/>
            <a:ext cx="5440680" cy="896112"/>
          </a:xfrm>
          <a:prstGeom prst="roundRect">
            <a:avLst>
              <a:gd name="adj" fmla="val 12245"/>
            </a:avLst>
          </a:prstGeom>
          <a:solidFill>
            <a:srgbClr val="F4E9DA"/>
          </a:solidFill>
          <a:ln/>
          <a:effectLst>
            <a:outerShdw sx="100000" sy="100000" kx="0" ky="0" algn="bl" rotWithShape="0" blurRad="76200" dist="25400" dir="5400000">
              <a:srgbClr val="000000">
                <a:alpha val="12000"/>
              </a:srgbClr>
            </a:outerShdw>
          </a:effectLst>
        </p:spPr>
      </p:sp>
      <p:sp>
        <p:nvSpPr>
          <p:cNvPr id="19" name="Text 16"/>
          <p:cNvSpPr txBox="1"/>
          <p:nvPr/>
        </p:nvSpPr>
        <p:spPr>
          <a:xfrm>
            <a:off x="731520" y="3520440"/>
            <a:ext cx="5074920" cy="237744"/>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ALCANCE P1</a:t>
            </a:r>
            <a:endParaRPr lang="en-US" sz="1000" dirty="0"/>
          </a:p>
        </p:txBody>
      </p:sp>
      <p:sp>
        <p:nvSpPr>
          <p:cNvPr id="20" name="Text 17"/>
          <p:cNvSpPr txBox="1"/>
          <p:nvPr/>
        </p:nvSpPr>
        <p:spPr>
          <a:xfrm>
            <a:off x="731520" y="3758184"/>
            <a:ext cx="5074920" cy="530352"/>
          </a:xfrm>
          <a:prstGeom prst="rect">
            <a:avLst/>
          </a:prstGeom>
          <a:noFill/>
          <a:ln/>
        </p:spPr>
        <p:txBody>
          <a:bodyPr wrap="square" lIns="0" tIns="0" rIns="0" bIns="0" rtlCol="0" anchor="t"/>
          <a:lstStyle/>
          <a:p>
            <a:pPr indent="0" marL="0">
              <a:buNone/>
            </a:pPr>
            <a:r>
              <a:rPr lang="en-US" sz="1100" dirty="0">
                <a:solidFill>
                  <a:srgbClr val="2E2119"/>
                </a:solidFill>
                <a:latin typeface="Calibri" pitchFamily="34" charset="0"/>
                <a:ea typeface="Calibri" pitchFamily="34" charset="-122"/>
                <a:cs typeface="Calibri" pitchFamily="34" charset="-120"/>
              </a:rPr>
              <a:t>Nevera + Lista + Historial + Precios. Cobro real, fuera de alcance.</a:t>
            </a:r>
            <a:endParaRPr lang="en-US" sz="1100" dirty="0"/>
          </a:p>
        </p:txBody>
      </p:sp>
      <p:sp>
        <p:nvSpPr>
          <p:cNvPr id="21" name="Shape 18"/>
          <p:cNvSpPr/>
          <p:nvPr/>
        </p:nvSpPr>
        <p:spPr>
          <a:xfrm>
            <a:off x="6172200" y="3447288"/>
            <a:ext cx="5440680" cy="896112"/>
          </a:xfrm>
          <a:prstGeom prst="roundRect">
            <a:avLst>
              <a:gd name="adj" fmla="val 12245"/>
            </a:avLst>
          </a:prstGeom>
          <a:solidFill>
            <a:srgbClr val="EDE6DC"/>
          </a:solidFill>
          <a:ln/>
          <a:effectLst>
            <a:outerShdw sx="100000" sy="100000" kx="0" ky="0" algn="bl" rotWithShape="0" blurRad="76200" dist="25400" dir="5400000">
              <a:srgbClr val="000000">
                <a:alpha val="12000"/>
              </a:srgbClr>
            </a:outerShdw>
          </a:effectLst>
        </p:spPr>
      </p:sp>
      <p:sp>
        <p:nvSpPr>
          <p:cNvPr id="22" name="Text 19"/>
          <p:cNvSpPr txBox="1"/>
          <p:nvPr/>
        </p:nvSpPr>
        <p:spPr>
          <a:xfrm>
            <a:off x="6355080" y="3520440"/>
            <a:ext cx="5074920" cy="237744"/>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CANAL</a:t>
            </a:r>
            <a:endParaRPr lang="en-US" sz="1000" dirty="0"/>
          </a:p>
        </p:txBody>
      </p:sp>
      <p:sp>
        <p:nvSpPr>
          <p:cNvPr id="23" name="Text 20"/>
          <p:cNvSpPr txBox="1"/>
          <p:nvPr/>
        </p:nvSpPr>
        <p:spPr>
          <a:xfrm>
            <a:off x="6355080" y="3758184"/>
            <a:ext cx="5074920" cy="530352"/>
          </a:xfrm>
          <a:prstGeom prst="rect">
            <a:avLst/>
          </a:prstGeom>
          <a:noFill/>
          <a:ln/>
        </p:spPr>
        <p:txBody>
          <a:bodyPr wrap="square" lIns="0" tIns="0" rIns="0" bIns="0" rtlCol="0" anchor="t"/>
          <a:lstStyle/>
          <a:p>
            <a:pPr indent="0" marL="0">
              <a:buNone/>
            </a:pPr>
            <a:r>
              <a:rPr lang="en-US" sz="1100" dirty="0">
                <a:solidFill>
                  <a:srgbClr val="2E2119"/>
                </a:solidFill>
                <a:latin typeface="Calibri" pitchFamily="34" charset="0"/>
                <a:ea typeface="Calibri" pitchFamily="34" charset="-122"/>
                <a:cs typeface="Calibri" pitchFamily="34" charset="-120"/>
              </a:rPr>
              <a:t>Directo: el propio hogar es el primer usuario real.</a:t>
            </a:r>
            <a:endParaRPr lang="en-US" sz="1100" dirty="0"/>
          </a:p>
        </p:txBody>
      </p:sp>
      <p:sp>
        <p:nvSpPr>
          <p:cNvPr id="24" name="Shape 21"/>
          <p:cNvSpPr/>
          <p:nvPr/>
        </p:nvSpPr>
        <p:spPr>
          <a:xfrm>
            <a:off x="548640" y="4462272"/>
            <a:ext cx="5440680" cy="896112"/>
          </a:xfrm>
          <a:prstGeom prst="roundRect">
            <a:avLst>
              <a:gd name="adj" fmla="val 12245"/>
            </a:avLst>
          </a:prstGeom>
          <a:solidFill>
            <a:srgbClr val="F4E9DA"/>
          </a:solidFill>
          <a:ln/>
          <a:effectLst>
            <a:outerShdw sx="100000" sy="100000" kx="0" ky="0" algn="bl" rotWithShape="0" blurRad="76200" dist="25400" dir="5400000">
              <a:srgbClr val="000000">
                <a:alpha val="12000"/>
              </a:srgbClr>
            </a:outerShdw>
          </a:effectLst>
        </p:spPr>
      </p:sp>
      <p:sp>
        <p:nvSpPr>
          <p:cNvPr id="25" name="Text 22"/>
          <p:cNvSpPr txBox="1"/>
          <p:nvPr/>
        </p:nvSpPr>
        <p:spPr>
          <a:xfrm>
            <a:off x="731520" y="4535424"/>
            <a:ext cx="5074920" cy="237744"/>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QUÉ NO HAREMOS</a:t>
            </a:r>
            <a:endParaRPr lang="en-US" sz="1000" dirty="0"/>
          </a:p>
        </p:txBody>
      </p:sp>
      <p:sp>
        <p:nvSpPr>
          <p:cNvPr id="26" name="Text 23"/>
          <p:cNvSpPr txBox="1"/>
          <p:nvPr/>
        </p:nvSpPr>
        <p:spPr>
          <a:xfrm>
            <a:off x="731520" y="4773168"/>
            <a:ext cx="5074920" cy="530352"/>
          </a:xfrm>
          <a:prstGeom prst="rect">
            <a:avLst/>
          </a:prstGeom>
          <a:noFill/>
          <a:ln/>
        </p:spPr>
        <p:txBody>
          <a:bodyPr wrap="square" lIns="0" tIns="0" rIns="0" bIns="0" rtlCol="0" anchor="t"/>
          <a:lstStyle/>
          <a:p>
            <a:pPr indent="0" marL="0">
              <a:buNone/>
            </a:pPr>
            <a:r>
              <a:rPr lang="en-US" sz="1100" dirty="0">
                <a:solidFill>
                  <a:srgbClr val="2E2119"/>
                </a:solidFill>
                <a:latin typeface="Calibri" pitchFamily="34" charset="0"/>
                <a:ea typeface="Calibri" pitchFamily="34" charset="-122"/>
                <a:cs typeface="Calibri" pitchFamily="34" charset="-120"/>
              </a:rPr>
              <a:t>Código de barras, cobro con tarjeta, notificaciones push, liquidar deudas de verdad.</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E2119"/>
        </a:solidFill>
      </p:bgPr>
    </p:bg>
    <p:spTree>
      <p:nvGrpSpPr>
        <p:cNvPr id="1" name=""/>
        <p:cNvGrpSpPr/>
        <p:nvPr/>
      </p:nvGrpSpPr>
      <p:grpSpPr>
        <a:xfrm>
          <a:off x="0" y="0"/>
          <a:ext cx="0" cy="0"/>
          <a:chOff x="0" y="0"/>
          <a:chExt cx="0" cy="0"/>
        </a:xfrm>
      </p:grpSpPr>
      <p:sp>
        <p:nvSpPr>
          <p:cNvPr id="2" name="Shape 0"/>
          <p:cNvSpPr/>
          <p:nvPr/>
        </p:nvSpPr>
        <p:spPr>
          <a:xfrm>
            <a:off x="822960" y="731520"/>
            <a:ext cx="777240" cy="777240"/>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1009498" y="918058"/>
            <a:ext cx="404165" cy="404165"/>
          </a:xfrm>
          <a:prstGeom prst="rect">
            <a:avLst/>
          </a:prstGeom>
        </p:spPr>
      </p:pic>
      <p:sp>
        <p:nvSpPr>
          <p:cNvPr id="4" name="Text 1"/>
          <p:cNvSpPr txBox="1"/>
          <p:nvPr/>
        </p:nvSpPr>
        <p:spPr>
          <a:xfrm>
            <a:off x="777240" y="1737360"/>
            <a:ext cx="822960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Próximos pasos</a:t>
            </a:r>
            <a:endParaRPr lang="en-US" sz="3800" dirty="0"/>
          </a:p>
        </p:txBody>
      </p:sp>
      <p:sp>
        <p:nvSpPr>
          <p:cNvPr id="5" name="Text 2"/>
          <p:cNvSpPr txBox="1"/>
          <p:nvPr/>
        </p:nvSpPr>
        <p:spPr>
          <a:xfrm>
            <a:off x="822960" y="2697480"/>
            <a:ext cx="9601200" cy="292608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EFE6DA"/>
                </a:solidFill>
                <a:latin typeface="Calibri" pitchFamily="34" charset="0"/>
                <a:ea typeface="Calibri" pitchFamily="34" charset="-122"/>
                <a:cs typeface="Calibri" pitchFamily="34" charset="-120"/>
              </a:rPr>
              <a:t>Terminar la pantalla de la Nevera (frontend con React + TypeScript)</a:t>
            </a:r>
            <a:endParaRPr lang="en-US" sz="1600" dirty="0"/>
          </a:p>
          <a:p>
            <a:pPr marL="342900" indent="-342900">
              <a:spcAft>
                <a:spcPts val="1200"/>
              </a:spcAft>
              <a:buSzPct val="100000"/>
              <a:buChar char="→"/>
            </a:pPr>
            <a:r>
              <a:rPr lang="en-US" sz="1600" dirty="0">
                <a:solidFill>
                  <a:srgbClr val="EFE6DA"/>
                </a:solidFill>
                <a:latin typeface="Calibri" pitchFamily="34" charset="0"/>
                <a:ea typeface="Calibri" pitchFamily="34" charset="-122"/>
                <a:cs typeface="Calibri" pitchFamily="34" charset="-120"/>
              </a:rPr>
              <a:t>Lista de la compra con control de concurrencia real</a:t>
            </a:r>
            <a:endParaRPr lang="en-US" sz="1600" dirty="0"/>
          </a:p>
          <a:p>
            <a:pPr marL="342900" indent="-342900">
              <a:spcAft>
                <a:spcPts val="1200"/>
              </a:spcAft>
              <a:buSzPct val="100000"/>
              <a:buChar char="→"/>
            </a:pPr>
            <a:r>
              <a:rPr lang="en-US" sz="1600" dirty="0">
                <a:solidFill>
                  <a:srgbClr val="EFE6DA"/>
                </a:solidFill>
                <a:latin typeface="Calibri" pitchFamily="34" charset="0"/>
                <a:ea typeface="Calibri" pitchFamily="34" charset="-122"/>
                <a:cs typeface="Calibri" pitchFamily="34" charset="-120"/>
              </a:rPr>
              <a:t>Instalar y parametrizar Odoo (catálogo + precios por tienda)</a:t>
            </a:r>
            <a:endParaRPr lang="en-US" sz="1600" dirty="0"/>
          </a:p>
          <a:p>
            <a:pPr marL="342900" indent="-342900">
              <a:spcAft>
                <a:spcPts val="1200"/>
              </a:spcAft>
              <a:buSzPct val="100000"/>
              <a:buChar char="→"/>
            </a:pPr>
            <a:r>
              <a:rPr lang="en-US" sz="1600" dirty="0">
                <a:solidFill>
                  <a:srgbClr val="EFE6DA"/>
                </a:solidFill>
                <a:latin typeface="Calibri" pitchFamily="34" charset="0"/>
                <a:ea typeface="Calibri" pitchFamily="34" charset="-122"/>
                <a:cs typeface="Calibri" pitchFamily="34" charset="-120"/>
              </a:rPr>
              <a:t>Conectar el backend con la API de Odoo</a:t>
            </a:r>
            <a:endParaRPr lang="en-US" sz="1600" dirty="0"/>
          </a:p>
          <a:p>
            <a:pPr marL="342900" indent="-342900">
              <a:spcAft>
                <a:spcPts val="1200"/>
              </a:spcAft>
              <a:buSzPct val="100000"/>
              <a:buChar char="→"/>
            </a:pPr>
            <a:r>
              <a:rPr lang="en-US" sz="1600" dirty="0">
                <a:solidFill>
                  <a:srgbClr val="EFE6DA"/>
                </a:solidFill>
                <a:latin typeface="Calibri" pitchFamily="34" charset="0"/>
                <a:ea typeface="Calibri" pitchFamily="34" charset="-122"/>
                <a:cs typeface="Calibri" pitchFamily="34" charset="-120"/>
              </a:rPr>
              <a:t>Historial de gasto y comparador de precios</a:t>
            </a:r>
            <a:endParaRPr lang="en-US" sz="1600" dirty="0"/>
          </a:p>
        </p:txBody>
      </p:sp>
      <p:sp>
        <p:nvSpPr>
          <p:cNvPr id="6" name="Shape 3"/>
          <p:cNvSpPr/>
          <p:nvPr/>
        </p:nvSpPr>
        <p:spPr>
          <a:xfrm>
            <a:off x="822960" y="5806440"/>
            <a:ext cx="7772400" cy="640080"/>
          </a:xfrm>
          <a:prstGeom prst="roundRect">
            <a:avLst>
              <a:gd name="adj" fmla="val 11429"/>
            </a:avLst>
          </a:prstGeom>
          <a:solidFill>
            <a:srgbClr val="3D2E23"/>
          </a:solidFill>
          <a:ln/>
        </p:spPr>
      </p:sp>
      <p:sp>
        <p:nvSpPr>
          <p:cNvPr id="7" name="Text 4"/>
          <p:cNvSpPr txBox="1"/>
          <p:nvPr/>
        </p:nvSpPr>
        <p:spPr>
          <a:xfrm>
            <a:off x="1051560" y="5806440"/>
            <a:ext cx="7315200" cy="640080"/>
          </a:xfrm>
          <a:prstGeom prst="rect">
            <a:avLst/>
          </a:prstGeom>
          <a:noFill/>
          <a:ln/>
        </p:spPr>
        <p:txBody>
          <a:bodyPr wrap="square" lIns="0" tIns="0" rIns="0" bIns="0" rtlCol="0" anchor="ctr"/>
          <a:lstStyle/>
          <a:p>
            <a:pPr indent="0" marL="0">
              <a:buNone/>
            </a:pPr>
            <a:r>
              <a:rPr lang="en-US" sz="1250" i="1" dirty="0">
                <a:solidFill>
                  <a:srgbClr val="D9A441"/>
                </a:solidFill>
                <a:latin typeface="Calibri" pitchFamily="34" charset="0"/>
                <a:ea typeface="Calibri" pitchFamily="34" charset="-122"/>
                <a:cs typeface="Calibri" pitchFamily="34" charset="-120"/>
              </a:rPr>
              <a:t>Entrega viernes: idea validada, con números y decisiones que se pueden defender.</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2026-09-17T08:41:21Z</dcterms:created>
  <dcterms:modified xsi:type="dcterms:W3CDTF">2026-09-17T08:41:21Z</dcterms:modified>
</cp:coreProperties>
</file>