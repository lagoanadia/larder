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18/09: 40 semanas activas en vez de 52 (se descuentan vacaciones/viajes en los que no se hace la compra habitual del piso). Un rango (200-400€/ano) sigue siendo mas honesto que un unico numero porque la frecuencia real varia semana 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simplificada 17/09: se quito la cita de Bring! sobre el Apple Watch (real pero irrelevante para el argumento, quedaba "cringe") y la nota de correccion de "Out of Milk" (queda documentada en ideacion.md y en la bitacora de IA, no hacia falta duplicarla en la diapositiva). En su lugar, el razonamiento real de por que se paso de resenas a conversaciones directas: buenas resenas no sirven para encontrar el hueco, malas resenas eran solo compatibilidad tecnica, no quejas de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(17/09) a peticion de Nadia: anticipar la objecion de un desarrollador de AnyList antes de que la haga alguien en la defensa. El argumento se vuelve en su contra -- si papel y boli tampoco tienen esas funciones y aun asi ganan en uso real, lo que anaden esas apps es complejidad, no lo que faltaba. Ademas el enfoque de recetas encaja con un publico mas asentado (ej. una madre de familia), no con el estudiante medio -- el meal prep de moda entre jovenes busca cocinar MENOS, no explorar recetas. Actualizado con una respuesta real de la encuesta (llegada 17/09, ver n=35) que confirma esto sin que se preguntara: compra pensando en cocinar algo elaborado, nunca lo hace, la comida se pudre. Conclusion: ni siquiera cumplen bien la funcion de lista, porque el paso intermedio da pereza.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(el formulario sigue tecnicamente abierto en Vercel; "cerrada" en el documento significa "version usada para la entrega", no "imposible que llegue alguna mas"). El dato mas fuerte de toda la encuesta: 0/35 usa una app HOY como metodo (Pregunta 3) -- las 3 que probaron una app la abandonaron, sin excepcion. Novedad de esta tanda: una TERCERA persona probo Bring! y lo dejo, pero por un motivo nuevo (pereza/friccion, no cooperacion) -- dos motivos de abandono distintos apuntando al mismo sitio. El "metodo ganador" (Papel vs Notas) nunca se asento -- empate tecnico. El dato conjunto (54%, 19/35) se mantiene estable por encima de la mitad en toda la recogida.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(formulario sigue tecnicamente abierto).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sigue como el tema mas repetido (8/35, 23%). Las 3 respuestas nuevas no anadieron menciones de coop/gasto -- dos son sobre comida que se pudre (movidas a la diapositiva de recetas, donde encajan mejor) y una sobre "tener que mirar que falta". "Caducidad/comida que se estropea" (3 menciones) entra en el plan de construccion; "se acaba y nadie avisa" (1 mencion) se resuelve gratis con Fridge compartida.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Publico fijado como estudiantes (18/09): el embudo ahora parte de la UDC (&gt;13.300) en vez de hogares genericos. El mercado objetivo es directamente ~650 pisos, no "coincide con el accesible". Los ~99.700 hogares de A Coruna quedan solo como techo de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sin monetizacion. No hay punto de equilibrio que calcular porque no hay precio -- lo unico que tiene que cuadrar es que el coste fijo siga en 0. Publico acotado a estudiantes (antes decia "hogar compartido" en general); la cifra de "cuantos hay" pasa a la mas ajustada a ese publico (~650 pisos de estudiantes) en vez del mercado accesible completo (~99.700), que se mantiene documentado en la seccion de estudio de mercado como techo, no como objetivo de esta casilla.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Groq,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700" i="1" dirty="0">
                <a:solidFill>
                  <a:srgbClr val="D9A441"/>
                </a:solidFill>
                <a:latin typeface="Calibri" pitchFamily="34" charset="0"/>
                <a:ea typeface="Calibri" pitchFamily="34" charset="-122"/>
                <a:cs typeface="Calibri" pitchFamily="34" charset="-120"/>
              </a:rPr>
              <a:t>La lista de la compra se genera sola a partir de lo que hay en la nevera de tu piso compartido</a:t>
            </a:r>
            <a:endParaRPr lang="en-US" sz="17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1-2 veces/semana sin planificar, y a menudo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200-400 €</a:t>
            </a:r>
            <a:endParaRPr lang="en-US" sz="40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5 €/viaje × 1-2 viajes/semana × 40 semanas activas ≈ 200-400 €/año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y Nadia)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2423160"/>
          </a:xfrm>
          <a:prstGeom prst="roundRect">
            <a:avLst>
              <a:gd name="adj" fmla="val 4528"/>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160520"/>
            <a:ext cx="10607040" cy="320040"/>
          </a:xfrm>
          <a:prstGeom prst="rect">
            <a:avLst/>
          </a:prstGeom>
          <a:noFill/>
          <a:ln/>
        </p:spPr>
        <p:txBody>
          <a:bodyPr wrap="square" lIns="0" tIns="0" rIns="0" bIns="0" rtlCol="0" anchor="ctr"/>
          <a:lstStyle/>
          <a:p>
            <a:pPr indent="0" marL="0">
              <a:buNone/>
            </a:pPr>
            <a:r>
              <a:rPr lang="en-US" sz="1300" b="1" dirty="0">
                <a:solidFill>
                  <a:srgbClr val="C9682B"/>
                </a:solidFill>
                <a:latin typeface="Calibri" pitchFamily="34" charset="0"/>
                <a:ea typeface="Calibri" pitchFamily="34" charset="-122"/>
                <a:cs typeface="Calibri" pitchFamily="34" charset="-120"/>
              </a:rPr>
              <a:t>Por qué no nos basamos en reseñas de las apps</a:t>
            </a:r>
            <a:endParaRPr lang="en-US" sz="1300" dirty="0"/>
          </a:p>
        </p:txBody>
      </p:sp>
      <p:sp>
        <p:nvSpPr>
          <p:cNvPr id="10" name="Text 6"/>
          <p:cNvSpPr txBox="1"/>
          <p:nvPr/>
        </p:nvSpPr>
        <p:spPr>
          <a:xfrm>
            <a:off x="777240" y="4526280"/>
            <a:ext cx="10607040" cy="1783080"/>
          </a:xfrm>
          <a:prstGeom prst="rect">
            <a:avLst/>
          </a:prstGeom>
          <a:noFill/>
          <a:ln/>
        </p:spPr>
        <p:txBody>
          <a:bodyPr wrap="square" lIns="0" tIns="0" rIns="0" bIns="0" rtlCol="0" anchor="t"/>
          <a:lstStyle/>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reseñas buenas no sirven para encontrar un hueco — obviamente no hablan de lo que falta. </a:t>
            </a:r>
            <a:endParaRPr lang="en-US" sz="1250" dirty="0"/>
          </a:p>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malas, casi todas, eran quejas de compatibilidad técnica (se cuelga, no sincroniza...), no gente pidiendo una función o diciendo que el enfoque no encajaba con su forma de comprar. </a:t>
            </a:r>
            <a:endParaRPr lang="en-US" sz="1250" dirty="0"/>
          </a:p>
          <a:p>
            <a:pPr indent="0" marL="0">
              <a:buNone/>
            </a:pPr>
            <a:r>
              <a:rPr lang="en-US" sz="1250" dirty="0">
                <a:solidFill>
                  <a:srgbClr val="2E2119"/>
                </a:solidFill>
                <a:latin typeface="Calibri" pitchFamily="34" charset="0"/>
                <a:ea typeface="Calibri" pitchFamily="34" charset="-122"/>
                <a:cs typeface="Calibri" pitchFamily="34" charset="-120"/>
              </a:rPr>
              <a:t>Por eso se pasó a hablar directamente con quien vive el problema (estudiantes y gente joven) — la vía que el propio guion marca como "la más cara y la más fiable de las tres".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¿Y si tu app no tiene nada "chulo"?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La objeción que anticipamos antes de que nos la hagan — no una respuesta a la defensiva después.</a:t>
            </a:r>
            <a:endParaRPr lang="en-US" sz="1000" dirty="0"/>
          </a:p>
        </p:txBody>
      </p:sp>
      <p:sp>
        <p:nvSpPr>
          <p:cNvPr id="7" name="Shape 4"/>
          <p:cNvSpPr/>
          <p:nvPr/>
        </p:nvSpPr>
        <p:spPr>
          <a:xfrm>
            <a:off x="548640" y="1463040"/>
            <a:ext cx="11064240" cy="1097280"/>
          </a:xfrm>
          <a:prstGeom prst="roundRect">
            <a:avLst>
              <a:gd name="adj" fmla="val 10000"/>
            </a:avLst>
          </a:prstGeom>
          <a:solidFill>
            <a:srgbClr val="EDE6DC"/>
          </a:solidFill>
          <a:ln/>
          <a:effectLst>
            <a:outerShdw sx="100000" sy="100000" kx="0" ky="0" algn="bl" rotWithShape="0" blurRad="76200" dist="25400" dir="5400000">
              <a:srgbClr val="000000">
                <a:alpha val="12000"/>
              </a:srgbClr>
            </a:outerShdw>
          </a:effectLst>
        </p:spPr>
      </p:sp>
      <p:sp>
        <p:nvSpPr>
          <p:cNvPr id="8" name="Text 5"/>
          <p:cNvSpPr txBox="1"/>
          <p:nvPr/>
        </p:nvSpPr>
        <p:spPr>
          <a:xfrm>
            <a:off x="822960" y="1600200"/>
            <a:ext cx="10515600" cy="822960"/>
          </a:xfrm>
          <a:prstGeom prst="rect">
            <a:avLst/>
          </a:prstGeom>
          <a:noFill/>
          <a:ln/>
        </p:spPr>
        <p:txBody>
          <a:bodyPr wrap="square" lIns="0" tIns="0" rIns="0" bIns="0" rtlCol="0" anchor="ctr"/>
          <a:lstStyle/>
          <a:p>
            <a:pPr indent="0" marL="0">
              <a:buNone/>
            </a:pPr>
            <a:r>
              <a:rPr lang="en-US" sz="1500" i="1" dirty="0">
                <a:solidFill>
                  <a:srgbClr val="2E2119"/>
                </a:solidFill>
                <a:latin typeface="Calibri" pitchFamily="34" charset="0"/>
                <a:ea typeface="Calibri" pitchFamily="34" charset="-122"/>
                <a:cs typeface="Calibri" pitchFamily="34" charset="-120"/>
              </a:rPr>
              <a:t>"Tu solución (Notas) no tiene nada como mis recetas, mi meal planning o mis agentes de IA."</a:t>
            </a:r>
            <a:endParaRPr lang="en-US" sz="1500" dirty="0"/>
          </a:p>
        </p:txBody>
      </p:sp>
      <p:sp>
        <p:nvSpPr>
          <p:cNvPr id="9" name="Text 6"/>
          <p:cNvSpPr txBox="1"/>
          <p:nvPr/>
        </p:nvSpPr>
        <p:spPr>
          <a:xfrm>
            <a:off x="548640" y="2697480"/>
            <a:ext cx="11064240" cy="1005840"/>
          </a:xfrm>
          <a:prstGeom prst="rect">
            <a:avLst/>
          </a:prstGeom>
          <a:noFill/>
          <a:ln/>
        </p:spPr>
        <p:txBody>
          <a:bodyPr wrap="square" lIns="0" tIns="0" rIns="0" bIns="0" rtlCol="0" anchor="t"/>
          <a:lstStyle/>
          <a:p>
            <a:pPr indent="0" marL="0">
              <a:buNone/>
            </a:pPr>
            <a:r>
              <a:rPr lang="en-US" sz="1300" b="1" dirty="0">
                <a:solidFill>
                  <a:srgbClr val="C9682B"/>
                </a:solidFill>
                <a:latin typeface="Calibri" pitchFamily="34" charset="0"/>
                <a:ea typeface="Calibri" pitchFamily="34" charset="-122"/>
                <a:cs typeface="Calibri" pitchFamily="34" charset="-120"/>
              </a:rPr>
              <a:t>Cierto. </a:t>
            </a:r>
            <a:pPr indent="0" marL="0">
              <a:buNone/>
            </a:pPr>
            <a:r>
              <a:rPr lang="en-US" sz="1300" dirty="0">
                <a:solidFill>
                  <a:srgbClr val="2E2119"/>
                </a:solidFill>
                <a:latin typeface="Calibri" pitchFamily="34" charset="0"/>
                <a:ea typeface="Calibri" pitchFamily="34" charset="-122"/>
                <a:cs typeface="Calibri" pitchFamily="34" charset="-120"/>
              </a:rPr>
              <a:t>Pero tampoco las tiene el papel y boli, que es el sistema que en realidad se está digitalizando. Si ni Notas ni Papel tienen esas funciones y aun así ganan en el uso real (diapositiva anterior), lo que esas funciones añaden no es "lo que faltaba" — es complejidad y ruido visual encima de un sistema que no los pedía.</a:t>
            </a:r>
            <a:endParaRPr lang="en-US" sz="1300" dirty="0"/>
          </a:p>
        </p:txBody>
      </p:sp>
      <p:sp>
        <p:nvSpPr>
          <p:cNvPr id="10" name="Shape 7"/>
          <p:cNvSpPr/>
          <p:nvPr/>
        </p:nvSpPr>
        <p:spPr>
          <a:xfrm>
            <a:off x="548640" y="3794760"/>
            <a:ext cx="5440680" cy="1737360"/>
          </a:xfrm>
          <a:prstGeom prst="roundRect">
            <a:avLst>
              <a:gd name="adj" fmla="val 6316"/>
            </a:avLst>
          </a:prstGeom>
          <a:solidFill>
            <a:srgbClr val="F4E9DA"/>
          </a:solidFill>
          <a:ln/>
          <a:effectLst>
            <a:outerShdw sx="100000" sy="100000" kx="0" ky="0" algn="bl" rotWithShape="0" blurRad="76200" dist="25400" dir="5400000">
              <a:srgbClr val="000000">
                <a:alpha val="12000"/>
              </a:srgbClr>
            </a:outerShdw>
          </a:effectLst>
        </p:spPr>
      </p:sp>
      <p:sp>
        <p:nvSpPr>
          <p:cNvPr id="11" name="Text 8"/>
          <p:cNvSpPr txBox="1"/>
          <p:nvPr/>
        </p:nvSpPr>
        <p:spPr>
          <a:xfrm>
            <a:off x="77724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quién SÍ tiene sentido</a:t>
            </a:r>
            <a:endParaRPr lang="en-US" sz="1150" dirty="0"/>
          </a:p>
        </p:txBody>
      </p:sp>
      <p:sp>
        <p:nvSpPr>
          <p:cNvPr id="12" name="Text 9"/>
          <p:cNvSpPr txBox="1"/>
          <p:nvPr/>
        </p:nvSpPr>
        <p:spPr>
          <a:xfrm>
            <a:off x="77724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Alguien a quien de verdad le guste cocinar y guardar recetas — un perfil más asentado, quizá de más edad (ej. una madre de familia).</a:t>
            </a:r>
            <a:endParaRPr lang="en-US" sz="1250" dirty="0"/>
          </a:p>
        </p:txBody>
      </p:sp>
      <p:sp>
        <p:nvSpPr>
          <p:cNvPr id="13" name="Shape 10"/>
          <p:cNvSpPr/>
          <p:nvPr/>
        </p:nvSpPr>
        <p:spPr>
          <a:xfrm>
            <a:off x="6172200" y="3794760"/>
            <a:ext cx="5440680" cy="1737360"/>
          </a:xfrm>
          <a:prstGeom prst="roundRect">
            <a:avLst>
              <a:gd name="adj" fmla="val 6316"/>
            </a:avLst>
          </a:prstGeom>
          <a:solidFill>
            <a:srgbClr val="F6E4D3"/>
          </a:solidFill>
          <a:ln/>
          <a:effectLst>
            <a:outerShdw sx="100000" sy="100000" kx="0" ky="0" algn="bl" rotWithShape="0" blurRad="76200" dist="25400" dir="5400000">
              <a:srgbClr val="000000">
                <a:alpha val="12000"/>
              </a:srgbClr>
            </a:outerShdw>
          </a:effectLst>
        </p:spPr>
      </p:sp>
      <p:sp>
        <p:nvSpPr>
          <p:cNvPr id="14" name="Text 11"/>
          <p:cNvSpPr txBox="1"/>
          <p:nvPr/>
        </p:nvSpPr>
        <p:spPr>
          <a:xfrm>
            <a:off x="640080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nuestro público, NO</a:t>
            </a:r>
            <a:endParaRPr lang="en-US" sz="1150" dirty="0"/>
          </a:p>
        </p:txBody>
      </p:sp>
      <p:sp>
        <p:nvSpPr>
          <p:cNvPr id="15" name="Text 12"/>
          <p:cNvSpPr txBox="1"/>
          <p:nvPr/>
        </p:nvSpPr>
        <p:spPr>
          <a:xfrm>
            <a:off x="6400800" y="4251960"/>
            <a:ext cx="4983480" cy="1143000"/>
          </a:xfrm>
          <a:prstGeom prst="rect">
            <a:avLst/>
          </a:prstGeom>
          <a:noFill/>
          <a:ln/>
        </p:spPr>
        <p:txBody>
          <a:bodyPr wrap="square" lIns="0" tIns="0" rIns="0" bIns="0" rtlCol="0" anchor="t"/>
          <a:lstStyle/>
          <a:p>
            <a:pPr indent="0" marL="0">
              <a:spcAft>
                <a:spcPts val="600"/>
              </a:spcAft>
              <a:buNone/>
            </a:pPr>
            <a:r>
              <a:rPr lang="en-US" sz="1150" dirty="0">
                <a:solidFill>
                  <a:srgbClr val="2E2119"/>
                </a:solidFill>
                <a:latin typeface="Calibri" pitchFamily="34" charset="0"/>
                <a:ea typeface="Calibri" pitchFamily="34" charset="-122"/>
                <a:cs typeface="Calibri" pitchFamily="34" charset="-120"/>
              </a:rPr>
              <a:t>El estudiante medio independizado no es un apasionado de la cocina. La tendencia joven (meal prep) va al revés: tuppers básicos para toda la semana, para cocinar lo MÍNIMO posible. </a:t>
            </a:r>
            <a:endParaRPr lang="en-US" sz="1150" dirty="0"/>
          </a:p>
          <a:p>
            <a:pPr indent="0" marL="0">
              <a:buNone/>
            </a:pPr>
            <a:r>
              <a:rPr lang="en-US" sz="1150" b="1" dirty="0">
                <a:solidFill>
                  <a:srgbClr val="C9682B"/>
                </a:solidFill>
                <a:latin typeface="Calibri" pitchFamily="34" charset="0"/>
                <a:ea typeface="Calibri" pitchFamily="34" charset="-122"/>
                <a:cs typeface="Calibri" pitchFamily="34" charset="-120"/>
              </a:rPr>
              <a:t>Confirmado en la encuesta: </a:t>
            </a:r>
            <a:pPr indent="0" marL="0">
              <a:buNone/>
            </a:pPr>
            <a:r>
              <a:rPr lang="en-US" sz="1150" i="1" dirty="0">
                <a:solidFill>
                  <a:srgbClr val="2E2119"/>
                </a:solidFill>
                <a:latin typeface="Calibri" pitchFamily="34" charset="0"/>
                <a:ea typeface="Calibri" pitchFamily="34" charset="-122"/>
                <a:cs typeface="Calibri" pitchFamily="34" charset="-120"/>
              </a:rPr>
              <a:t>"compro cosas pensando en hacer comidas elaboradas pero nunca las llego a hacer, y acaban pudriéndose".</a:t>
            </a:r>
            <a:endParaRPr lang="en-US" sz="1150" dirty="0"/>
          </a:p>
        </p:txBody>
      </p:sp>
      <p:sp>
        <p:nvSpPr>
          <p:cNvPr id="16" name="Shape 13"/>
          <p:cNvSpPr/>
          <p:nvPr/>
        </p:nvSpPr>
        <p:spPr>
          <a:xfrm>
            <a:off x="548640" y="5760720"/>
            <a:ext cx="11064240" cy="822960"/>
          </a:xfrm>
          <a:prstGeom prst="roundRect">
            <a:avLst>
              <a:gd name="adj" fmla="val 13333"/>
            </a:avLst>
          </a:prstGeom>
          <a:solidFill>
            <a:srgbClr val="2E2119"/>
          </a:solidFill>
          <a:ln/>
        </p:spPr>
      </p:sp>
      <p:sp>
        <p:nvSpPr>
          <p:cNvPr id="17" name="Text 14"/>
          <p:cNvSpPr txBox="1"/>
          <p:nvPr/>
        </p:nvSpPr>
        <p:spPr>
          <a:xfrm>
            <a:off x="868680" y="5870448"/>
            <a:ext cx="10424160" cy="621792"/>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Ni siquiera cumplen bien su función principal: el paso intermedio de recetas da pereza, así que la lista queda peor servida que en Notas — por bonita que parezca la sensación de estar "más organizado".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(n=35)</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35 respuestas únicas a fecha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0/35</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3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00" i="1" dirty="0">
                <a:solidFill>
                  <a:srgbClr val="8A7A6D"/>
                </a:solidFill>
                <a:latin typeface="Calibri" pitchFamily="34" charset="0"/>
                <a:ea typeface="Calibri" pitchFamily="34" charset="-122"/>
                <a:cs typeface="Calibri" pitchFamily="34" charset="-120"/>
              </a:rPr>
              <a:t>El 54% (19 de 35) sufrió ambas cosas en el mismo mes — el mismo tiempo y dinero (200-400€/año) de la frase del dolor, confirmado con datos.</a:t>
            </a:r>
            <a:endParaRPr lang="en-US" sz="110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13</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9184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46888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9</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7432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3 personas la probaron alguna vez (Pregunta 7) — pero 0/35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00" b="1" dirty="0">
                <a:solidFill>
                  <a:srgbClr val="C9682B"/>
                </a:solidFill>
                <a:latin typeface="Calibri" pitchFamily="34" charset="0"/>
                <a:ea typeface="Calibri" pitchFamily="34" charset="-122"/>
                <a:cs typeface="Calibri" pitchFamily="34" charset="-120"/>
              </a:rPr>
              <a:t>Las apps no son el problema — la retención sí.  </a:t>
            </a:r>
            <a:endParaRPr lang="en-US" sz="1100" dirty="0"/>
          </a:p>
          <a:p>
            <a:pPr indent="0" marL="0">
              <a:buNone/>
            </a:pPr>
            <a:r>
              <a:rPr lang="en-US" sz="1100" dirty="0">
                <a:solidFill>
                  <a:srgbClr val="2E2119"/>
                </a:solidFill>
                <a:latin typeface="Calibri" pitchFamily="34" charset="0"/>
                <a:ea typeface="Calibri" pitchFamily="34" charset="-122"/>
                <a:cs typeface="Calibri" pitchFamily="34" charset="-120"/>
              </a:rPr>
              <a:t>Bring! y AnyList llevan años disponibles y son razonablemente buenas (estado del arte). 3 de 35 personas confirman haberlas probado — pero ninguna las usa hoy. Dos de ellas probaron Bring! y lo dejaron por motivos distintos: una por falta de cooperación de sus compañeros, otra "porque me acaba dando pereza usarla". El hueco no está en construir "una app más" — está en resolver por qué las que existen no retienen ni a quien sí las prueba.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35 personas (23%)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+ 12/35 (34%)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resuelto en P1, gratis: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&gt; 13.300</a:t>
            </a:r>
            <a:endParaRPr lang="en-US" sz="34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Estudiantes matriculados en la UDC (curso 2025-26, ambos campus)</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4.123</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31% cambia de ciudad para estudiar — % nacional aplicado a la UDC (Fundación CYD)</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650 pisos</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55% de esos comparte piso ÷ 3,5 pers./piso de media</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Margen de error reconocido: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la cifra de ≈650 pisos encadena 3 supuestos (% que cambia de ciudad, % que comparte piso, tamaño medio del piso) — es una estimación gruesa, no un conteo exacto. Deja fuera a jóvenes trabajadores que comparten piso y sufren el mismo problema, pero no salen en estas estadísticas.</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Para contexto, no como objetivo: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A Coruña tiene ≈99.700 hogares de 2+ personas — el techo si algún día se sirviera a cualquier hogar, no solo a estudiantes.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Nada — no es un producto de pago, es una herramienta gratuita</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Estudiantes que comparten piso en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0 € — no se cobra nada</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(niveles gratuitos de todo el stack).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No aplica — no hay ingresos que equilibrar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650 pisos de estudiantes (suelo verificable)</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0 €</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sin monetización — el objetivo es adopción real, no ingresos</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backend en Render "duerme" sin uso. Sigue habiendo un reto, pero ya no es económico — es conseguir que la gente use algo nuevo en vez de seguir con WhatsApp o papel, que ya conocen.</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(17/09): no se cobra nada a quien use la app, ni se adelanta dinero propio en hosting — coste fijo 0€, siempre.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Lectura de tickets → items (Groq API, free tier — la IA solo se usa aquí)</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la lista de la compra se genera sola a partir de lo que hay en la nevera de tu piso compartido.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Estudiantes que comparten piso en A Coruña. ≈650 pisos como suelo verificable.</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1-2 viajes/semana sin plan, 200-400€/año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 sin monetización · coste fijo 0€ · éxito = adopción, no ingresos.</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Lectura de tickets (Groq API) y aviso de turno de compra (bot de Telegram)</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2026-09-18T08:40:20Z</dcterms:created>
  <dcterms:modified xsi:type="dcterms:W3CDTF">2026-09-18T08:40:20Z</dcterms:modified>
</cp:coreProperties>
</file>