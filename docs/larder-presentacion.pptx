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Larder es el Proyecto Transversal de 2o DAM (P1). Presentar el nombre y encuadrar: es un documento de ideacion, no todavia el producto acabado.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17/09: rango en vez de cifra fija, y 5€/viaje en vez de 10€ (Nadia considero la primera estimacion demasiado dramatizada). Un rango (260-520€/ano) es mas honesto que un unico numero porque la frecuencia real varia semana a semana. Es la segunda correccion de esta cifra: la primera version (120€/ano) tampoco cuadraba con las cuentas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simplificada 17/09: se quito la cita de Bring! sobre el Apple Watch (real pero irrelevante para el argumento, quedaba "cringe") y la nota de correccion de "Out of Milk" (queda documentada en ideacion.md y en la bitacora de IA, no hacia falta duplicarla en la diapositiva). En su lugar, el razonamiento real de por que se paso de resenas a conversaciones directas: buenas resenas no sirven para encontrar el hueco, malas resenas eran solo compatibilidad tecnica, no quejas de producto.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nueva (17/09) a peticion de Nadia: anticipar la objecion de un desarrollador de AnyList antes de que la haga alguien en la defensa. El argumento se vuelve en su contra -- si papel y boli tampoco tienen esas funciones y aun asi ganan en uso real, lo que anaden esas apps es complejidad, no lo que faltaba. Ademas el enfoque de recetas encaja con un publico mas asentado (ej. una madre de familia), no con el estudiante medio -- el meal prep de moda entre jovenes busca cocinar MENOS, no explorar recetas. Actualizado con una respuesta real de la encuesta (llegada 17/09, ver n=35) que confirma esto sin que se preguntara: compra pensando en cocinar algo elaborado, nunca lo hace, la comida se pudre. Conclusion: ni siquiera cumplen bien la funcion de lista, porque el paso intermedio da pereza.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del estado del arte: el hueco no es "mas bonita", es rapidez de Notas + colaboracion de Bring + atribucion (quien apunto que) + saber que hay en casa SIN pedir que nadie cuente unidades a mano -- esto ultimo se corrigio el 17/09 porque la version anterior ("ahorro y control de stock") caia en el mismo error que criticamos de AnyList. Tambien vale mencionar el testimonio propio: en casa se abandono una app similar tras 2 usos por pereza de abrir "otra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n=35 a fecha 17/09/2026 (el formulario sigue tecnicamente abierto en Vercel; "cerrada" en el documento significa "version usada para la entrega", no "imposible que llegue alguna mas"). El dato mas fuerte de toda la encuesta: 0/35 usa una app HOY como metodo (Pregunta 3) -- las 3 que probaron una app la abandonaron, sin excepcion. Novedad de esta tanda: una TERCERA persona probo Bring! y lo dejo, pero por un motivo nuevo (pereza/friccion, no cooperacion) -- dos motivos de abandono distintos apuntando al mismo sitio. El "metodo ganador" (Papel vs Notas) nunca se asento -- empate tecnico. El dato conjunto (54%, 19/35) se mantiene estable por encima de la mitad en toda la recogida.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n=35 a fecha 17/09/2026 (formulario sigue tecnicamente abierto). Categorizacion: "no se quien compro que" y "llevar la cuenta de quien compro que antes" cuentan para AMBAS columnas (coop + tracker de gastos), "no saber que quieren los otros"/"comen mis cosas"/"compran cosas que no quiero"/"people eating my food"/"dudar en comprar algo y que se lo coma otro" es coop puro, "no participan/tardan en pagar" es tracker de gastos puro. Cooperacion sigue como el tema mas repetido (8/35, 23%). Las 3 respuestas nuevas no anadieron menciones de coop/gasto -- dos son sobre comida que se pudre (movidas a la diapositiva de recetas, donde encajan mejor) y una sobre "tener que mirar que falta". "Caducidad/comida que se estropea" (3 menciones) entra en el plan de construccion; "se acaba y nadie avisa" (1 mencion) se resuelve gratis con Fridge compartida. Las menciones de precio (2) siguen fuera de esta diapositiva por espacio -- estan en ideacion.md.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amplio el segmento objetivo a estudiantes+parejas+cualquiera que comparta gastos. Al no encontrar un desglose fiable para ese cruce en A Coruña, el mercado objetivo se iguala al accesible, y se documenta honestamente la limitacion de la busqueda.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17/09: sin monetizacion. No hay punto de equilibrio que calcular porque no hay precio -- lo unico que tiene que cuadrar es que el coste fijo siga en 0. Publico acotado a estudiantes (antes decia "hogar compartido" en general); la cifra de "cuantos hay" pasa a la mas ajustada a ese publico (~650 pisos de estudiantes) en vez del mercado accesible completo (~99.700), que se mantiene documentado en la seccion de estudio de mercado como techo, no como objetivo de esta casilla.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17/09 tras el giro de producto: se retira Odoo (Prices se calcula sobre nuestro propio historial de compras, no un catalogo externo que alguien tendria que mantener a mano). Se decide construir para esta entrega lo que antes era "P2 hipotetico" (lectura de tickets con Gemini, prediccion de consumo) -- la columna de la derecha se queda solo con lo que de verdad no compensa construir nunca en este proyecto. Nadie nos elegiria por construir facturacion o cobro con tarjeta propios; si por como llevamos nevera y lista compartida. Orden de construccion: una pantalla completa antes de abrir la siguiente -- eso no cambia aunque el alcance de cada pantalla haya crecido.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nombre Larder es una palabra inglesa comun (despensa) — revisar en P5 si dificulta encontrarlo en buscadores. De momento se mantiene.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Recalcar que lo entregado el viernes es la ideacion completa (docs/ideacion.md), no codigo terminado — eso es correcto para P1 en esta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119"/>
        </a:solidFill>
      </p:bgPr>
    </p:bg>
    <p:spTree>
      <p:nvGrpSpPr>
        <p:cNvPr id="1" name=""/>
        <p:cNvGrpSpPr/>
        <p:nvPr/>
      </p:nvGrpSpPr>
      <p:grpSpPr>
        <a:xfrm>
          <a:off x="0" y="0"/>
          <a:ext cx="0" cy="0"/>
          <a:chOff x="0" y="0"/>
          <a:chExt cx="0" cy="0"/>
        </a:xfrm>
      </p:grpSpPr>
      <p:sp>
        <p:nvSpPr>
          <p:cNvPr id="2" name="Shape 0"/>
          <p:cNvSpPr/>
          <p:nvPr/>
        </p:nvSpPr>
        <p:spPr>
          <a:xfrm>
            <a:off x="822960" y="685800"/>
            <a:ext cx="822960" cy="822960"/>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1020470" y="883310"/>
            <a:ext cx="427939" cy="427939"/>
          </a:xfrm>
          <a:prstGeom prst="rect">
            <a:avLst/>
          </a:prstGeom>
        </p:spPr>
      </p:pic>
      <p:sp>
        <p:nvSpPr>
          <p:cNvPr id="4" name="Text 1"/>
          <p:cNvSpPr txBox="1"/>
          <p:nvPr/>
        </p:nvSpPr>
        <p:spPr>
          <a:xfrm>
            <a:off x="777240" y="2286000"/>
            <a:ext cx="8229600" cy="11887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LARDER</a:t>
            </a:r>
            <a:endParaRPr lang="en-US" sz="6000" dirty="0"/>
          </a:p>
        </p:txBody>
      </p:sp>
      <p:sp>
        <p:nvSpPr>
          <p:cNvPr id="5" name="Text 2"/>
          <p:cNvSpPr txBox="1"/>
          <p:nvPr/>
        </p:nvSpPr>
        <p:spPr>
          <a:xfrm>
            <a:off x="822960" y="3429000"/>
            <a:ext cx="8686800" cy="548640"/>
          </a:xfrm>
          <a:prstGeom prst="rect">
            <a:avLst/>
          </a:prstGeom>
          <a:noFill/>
          <a:ln/>
        </p:spPr>
        <p:txBody>
          <a:bodyPr wrap="square" lIns="0" tIns="0" rIns="0" bIns="0" rtlCol="0" anchor="ctr"/>
          <a:lstStyle/>
          <a:p>
            <a:pPr indent="0" marL="0">
              <a:buNone/>
            </a:pPr>
            <a:r>
              <a:rPr lang="en-US" sz="1700" i="1" dirty="0">
                <a:solidFill>
                  <a:srgbClr val="D9A441"/>
                </a:solidFill>
                <a:latin typeface="Calibri" pitchFamily="34" charset="0"/>
                <a:ea typeface="Calibri" pitchFamily="34" charset="-122"/>
                <a:cs typeface="Calibri" pitchFamily="34" charset="-120"/>
              </a:rPr>
              <a:t>La lista de la compra se genera sola a partir de lo que hay en la nevera de tu piso compartido</a:t>
            </a:r>
            <a:endParaRPr lang="en-US" sz="1700" dirty="0"/>
          </a:p>
        </p:txBody>
      </p:sp>
      <p:sp>
        <p:nvSpPr>
          <p:cNvPr id="6" name="Shape 3"/>
          <p:cNvSpPr/>
          <p:nvPr/>
        </p:nvSpPr>
        <p:spPr>
          <a:xfrm>
            <a:off x="822960" y="5394960"/>
            <a:ext cx="7498080" cy="777240"/>
          </a:xfrm>
          <a:prstGeom prst="roundRect">
            <a:avLst>
              <a:gd name="adj" fmla="val 11765"/>
            </a:avLst>
          </a:prstGeom>
          <a:solidFill>
            <a:srgbClr val="3D2E23"/>
          </a:solidFill>
          <a:ln/>
        </p:spPr>
      </p:sp>
      <p:sp>
        <p:nvSpPr>
          <p:cNvPr id="7" name="Text 4"/>
          <p:cNvSpPr txBox="1"/>
          <p:nvPr/>
        </p:nvSpPr>
        <p:spPr>
          <a:xfrm>
            <a:off x="1051560" y="5486400"/>
            <a:ext cx="7132320" cy="5943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Proyecto Transversal · Sesión 00</a:t>
            </a:r>
            <a:endParaRPr lang="en-US" sz="1300" dirty="0"/>
          </a:p>
          <a:p>
            <a:pPr indent="0" marL="0">
              <a:buNone/>
            </a:pPr>
            <a:r>
              <a:rPr lang="en-US" sz="1300" dirty="0">
                <a:solidFill>
                  <a:srgbClr val="D8CBBE"/>
                </a:solidFill>
                <a:latin typeface="Calibri" pitchFamily="34" charset="0"/>
                <a:ea typeface="Calibri" pitchFamily="34" charset="-122"/>
                <a:cs typeface="Calibri" pitchFamily="34" charset="-120"/>
              </a:rPr>
              <a:t>2º DAM  ·  Bloque P1 — Que exista  ·  Documento de ideación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1</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frase del dolor</a:t>
            </a:r>
            <a:endParaRPr lang="en-US" sz="2800" dirty="0"/>
          </a:p>
        </p:txBody>
      </p:sp>
      <p:sp>
        <p:nvSpPr>
          <p:cNvPr id="6" name="Shape 3"/>
          <p:cNvSpPr/>
          <p:nvPr/>
        </p:nvSpPr>
        <p:spPr>
          <a:xfrm>
            <a:off x="548640" y="1417320"/>
            <a:ext cx="5212080" cy="2286000"/>
          </a:xfrm>
          <a:prstGeom prst="roundRect">
            <a:avLst>
              <a:gd name="adj" fmla="val 4800"/>
            </a:avLst>
          </a:prstGeom>
          <a:solidFill>
            <a:srgbClr val="EDE6DC"/>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00200"/>
            <a:ext cx="2743200" cy="274320"/>
          </a:xfrm>
          <a:prstGeom prst="rect">
            <a:avLst/>
          </a:prstGeom>
          <a:noFill/>
          <a:ln/>
        </p:spPr>
        <p:txBody>
          <a:bodyPr wrap="square" lIns="0" tIns="0" rIns="0" bIns="0" rtlCol="0" anchor="ctr"/>
          <a:lstStyle/>
          <a:p>
            <a:pPr indent="0" marL="0">
              <a:buNone/>
            </a:pPr>
            <a:r>
              <a:rPr lang="en-US" sz="1200" b="1" spc="200" kern="0" dirty="0">
                <a:solidFill>
                  <a:srgbClr val="8A7A6D"/>
                </a:solidFill>
                <a:latin typeface="Calibri" pitchFamily="34" charset="0"/>
                <a:ea typeface="Calibri" pitchFamily="34" charset="-122"/>
                <a:cs typeface="Calibri" pitchFamily="34" charset="-120"/>
              </a:rPr>
              <a:t>ANTES</a:t>
            </a:r>
            <a:endParaRPr lang="en-US" sz="1200" dirty="0"/>
          </a:p>
        </p:txBody>
      </p:sp>
      <p:sp>
        <p:nvSpPr>
          <p:cNvPr id="8" name="Text 5"/>
          <p:cNvSpPr txBox="1"/>
          <p:nvPr/>
        </p:nvSpPr>
        <p:spPr>
          <a:xfrm>
            <a:off x="777240" y="1920240"/>
            <a:ext cx="4754880" cy="1554480"/>
          </a:xfrm>
          <a:prstGeom prst="rect">
            <a:avLst/>
          </a:prstGeom>
          <a:noFill/>
          <a:ln/>
        </p:spPr>
        <p:txBody>
          <a:bodyPr wrap="square" lIns="0" tIns="0" rIns="0" bIns="0" rtlCol="0" anchor="t"/>
          <a:lstStyle/>
          <a:p>
            <a:pPr indent="0" marL="0">
              <a:buNone/>
            </a:pPr>
            <a:r>
              <a:rPr lang="en-US" sz="1500" i="1" dirty="0">
                <a:solidFill>
                  <a:srgbClr val="2E2119"/>
                </a:solidFill>
                <a:latin typeface="Calibri" pitchFamily="34" charset="0"/>
                <a:ea typeface="Calibri" pitchFamily="34" charset="-122"/>
                <a:cs typeface="Calibri" pitchFamily="34" charset="-120"/>
              </a:rPr>
              <a:t>"En mi casa perdemos tiempo controlando qué queda en la nevera y organizando la compra."</a:t>
            </a:r>
            <a:endParaRPr lang="en-US" sz="1500" dirty="0"/>
          </a:p>
        </p:txBody>
      </p:sp>
      <p:sp>
        <p:nvSpPr>
          <p:cNvPr id="9" name="Shape 6"/>
          <p:cNvSpPr/>
          <p:nvPr/>
        </p:nvSpPr>
        <p:spPr>
          <a:xfrm>
            <a:off x="5989320" y="1417320"/>
            <a:ext cx="5669280" cy="2286000"/>
          </a:xfrm>
          <a:prstGeom prst="roundRect">
            <a:avLst>
              <a:gd name="adj" fmla="val 4800"/>
            </a:avLst>
          </a:prstGeom>
          <a:solidFill>
            <a:srgbClr val="F4E9DA"/>
          </a:solidFill>
          <a:ln/>
          <a:effectLst>
            <a:outerShdw sx="100000" sy="100000" kx="0" ky="0" algn="bl" rotWithShape="0" blurRad="76200" dist="25400" dir="5400000">
              <a:srgbClr val="000000">
                <a:alpha val="12000"/>
              </a:srgbClr>
            </a:outerShdw>
          </a:effectLst>
        </p:spPr>
      </p:sp>
      <p:sp>
        <p:nvSpPr>
          <p:cNvPr id="10" name="Text 7"/>
          <p:cNvSpPr txBox="1"/>
          <p:nvPr/>
        </p:nvSpPr>
        <p:spPr>
          <a:xfrm>
            <a:off x="6217920" y="1600200"/>
            <a:ext cx="3657600" cy="274320"/>
          </a:xfrm>
          <a:prstGeom prst="rect">
            <a:avLst/>
          </a:prstGeom>
          <a:noFill/>
          <a:ln/>
        </p:spPr>
        <p:txBody>
          <a:bodyPr wrap="square" lIns="0" tIns="0" rIns="0" bIns="0" rtlCol="0" anchor="ctr"/>
          <a:lstStyle/>
          <a:p>
            <a:pPr indent="0" marL="0">
              <a:buNone/>
            </a:pPr>
            <a:r>
              <a:rPr lang="en-US" sz="1200" b="1" spc="100" kern="0" dirty="0">
                <a:solidFill>
                  <a:srgbClr val="C9682B"/>
                </a:solidFill>
                <a:latin typeface="Calibri" pitchFamily="34" charset="0"/>
                <a:ea typeface="Calibri" pitchFamily="34" charset="-122"/>
                <a:cs typeface="Calibri" pitchFamily="34" charset="-120"/>
              </a:rPr>
              <a:t>DESPUÉS — con datos reales</a:t>
            </a:r>
            <a:endParaRPr lang="en-US" sz="1200" dirty="0"/>
          </a:p>
        </p:txBody>
      </p:sp>
      <p:sp>
        <p:nvSpPr>
          <p:cNvPr id="11" name="Text 8"/>
          <p:cNvSpPr txBox="1"/>
          <p:nvPr/>
        </p:nvSpPr>
        <p:spPr>
          <a:xfrm>
            <a:off x="6217920" y="1920240"/>
            <a:ext cx="5212080" cy="1691640"/>
          </a:xfrm>
          <a:prstGeom prst="rect">
            <a:avLst/>
          </a:prstGeom>
          <a:noFill/>
          <a:ln/>
        </p:spPr>
        <p:txBody>
          <a:bodyPr wrap="square" lIns="0" tIns="0" rIns="0" bIns="0" rtlCol="0" anchor="t"/>
          <a:lstStyle/>
          <a:p>
            <a:pPr indent="0" marL="0">
              <a:buNone/>
            </a:pPr>
            <a:r>
              <a:rPr lang="en-US" sz="1350" dirty="0">
                <a:solidFill>
                  <a:srgbClr val="2E2119"/>
                </a:solidFill>
                <a:latin typeface="Calibri" pitchFamily="34" charset="0"/>
                <a:ea typeface="Calibri" pitchFamily="34" charset="-122"/>
                <a:cs typeface="Calibri" pitchFamily="34" charset="-120"/>
              </a:rPr>
              <a:t>Iago y Nadia pierden 10-15 min cada vez que hacen la lista a ojo con papel y boli, van a la tienda 1-2 veces/semana sin planificar, y a menudo acaban comprando algo duplicado o volviendo por algo olvidado.</a:t>
            </a:r>
            <a:endParaRPr lang="en-US" sz="1350" dirty="0"/>
          </a:p>
        </p:txBody>
      </p:sp>
      <p:sp>
        <p:nvSpPr>
          <p:cNvPr id="12" name="Shape 9"/>
          <p:cNvSpPr/>
          <p:nvPr/>
        </p:nvSpPr>
        <p:spPr>
          <a:xfrm>
            <a:off x="548640" y="3977640"/>
            <a:ext cx="4754880" cy="1737360"/>
          </a:xfrm>
          <a:prstGeom prst="roundRect">
            <a:avLst>
              <a:gd name="adj" fmla="val 6316"/>
            </a:avLst>
          </a:prstGeom>
          <a:solidFill>
            <a:srgbClr val="2E2119"/>
          </a:solidFill>
          <a:ln/>
        </p:spPr>
      </p:sp>
      <p:sp>
        <p:nvSpPr>
          <p:cNvPr id="13" name="Text 10"/>
          <p:cNvSpPr txBox="1"/>
          <p:nvPr/>
        </p:nvSpPr>
        <p:spPr>
          <a:xfrm>
            <a:off x="548640" y="4160520"/>
            <a:ext cx="4754880" cy="868680"/>
          </a:xfrm>
          <a:prstGeom prst="rect">
            <a:avLst/>
          </a:prstGeom>
          <a:noFill/>
          <a:ln/>
        </p:spPr>
        <p:txBody>
          <a:bodyPr wrap="square" lIns="0" tIns="0" rIns="0" bIns="0" rtlCol="0" anchor="ctr"/>
          <a:lstStyle/>
          <a:p>
            <a:pPr algn="ctr" indent="0" marL="0">
              <a:buNone/>
            </a:pPr>
            <a:r>
              <a:rPr lang="en-US" sz="4000" b="1" dirty="0">
                <a:solidFill>
                  <a:srgbClr val="D9A441"/>
                </a:solidFill>
                <a:latin typeface="Cambria" pitchFamily="34" charset="0"/>
                <a:ea typeface="Cambria" pitchFamily="34" charset="-122"/>
                <a:cs typeface="Cambria" pitchFamily="34" charset="-120"/>
              </a:rPr>
              <a:t>260-520 €</a:t>
            </a:r>
            <a:endParaRPr lang="en-US" sz="4000" dirty="0"/>
          </a:p>
        </p:txBody>
      </p:sp>
      <p:sp>
        <p:nvSpPr>
          <p:cNvPr id="14" name="Text 11"/>
          <p:cNvSpPr txBox="1"/>
          <p:nvPr/>
        </p:nvSpPr>
        <p:spPr>
          <a:xfrm>
            <a:off x="731520" y="5074920"/>
            <a:ext cx="438912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perdidos al año en compras mal planificadas</a:t>
            </a:r>
            <a:endParaRPr lang="en-US" sz="1300" dirty="0"/>
          </a:p>
        </p:txBody>
      </p:sp>
      <p:sp>
        <p:nvSpPr>
          <p:cNvPr id="15" name="Text 12"/>
          <p:cNvSpPr txBox="1"/>
          <p:nvPr/>
        </p:nvSpPr>
        <p:spPr>
          <a:xfrm>
            <a:off x="5532120" y="3977640"/>
            <a:ext cx="6126480" cy="1737360"/>
          </a:xfrm>
          <a:prstGeom prst="rect">
            <a:avLst/>
          </a:prstGeom>
          <a:noFill/>
          <a:ln/>
        </p:spPr>
        <p:txBody>
          <a:bodyPr wrap="square" lIns="0" tIns="0" rIns="0" bIns="0" rtlCol="0" anchor="t"/>
          <a:lstStyle/>
          <a:p>
            <a:pPr indent="0" marL="0">
              <a:buNone/>
            </a:pPr>
            <a:r>
              <a:rPr lang="en-US" sz="1300" b="1" dirty="0">
                <a:solidFill>
                  <a:srgbClr val="2E2119"/>
                </a:solidFill>
                <a:latin typeface="Calibri" pitchFamily="34" charset="0"/>
                <a:ea typeface="Calibri" pitchFamily="34" charset="-122"/>
                <a:cs typeface="Calibri" pitchFamily="34" charset="-120"/>
              </a:rPr>
              <a:t>Cómo se calculó:  </a:t>
            </a:r>
            <a:endParaRPr lang="en-US" sz="1300" dirty="0"/>
          </a:p>
          <a:p>
            <a:pPr indent="0" marL="0">
              <a:spcAft>
                <a:spcPts val="800"/>
              </a:spcAft>
              <a:buNone/>
            </a:pPr>
            <a:r>
              <a:rPr lang="en-US" sz="1300" dirty="0">
                <a:solidFill>
                  <a:srgbClr val="2E2119"/>
                </a:solidFill>
                <a:latin typeface="Calibri" pitchFamily="34" charset="0"/>
                <a:ea typeface="Calibri" pitchFamily="34" charset="-122"/>
                <a:cs typeface="Calibri" pitchFamily="34" charset="-120"/>
              </a:rPr>
              <a:t>5 €/viaje × 1-2 viajes/semana × 52 semanas ≈ 260-520 €/año</a:t>
            </a:r>
            <a:endParaRPr lang="en-US" sz="1300" dirty="0"/>
          </a:p>
          <a:p>
            <a:pPr indent="0" marL="0">
              <a:buNone/>
            </a:pPr>
            <a:r>
              <a:rPr lang="en-US" sz="1300" b="1" dirty="0">
                <a:solidFill>
                  <a:srgbClr val="2E2119"/>
                </a:solidFill>
                <a:latin typeface="Calibri" pitchFamily="34" charset="0"/>
                <a:ea typeface="Calibri" pitchFamily="34" charset="-122"/>
                <a:cs typeface="Calibri" pitchFamily="34" charset="-120"/>
              </a:rPr>
              <a:t>Fuente:  </a:t>
            </a:r>
            <a:endParaRPr lang="en-US" sz="1300" dirty="0"/>
          </a:p>
          <a:p>
            <a:pPr indent="0" marL="0">
              <a:buNone/>
            </a:pPr>
            <a:r>
              <a:rPr lang="en-US" sz="1300" dirty="0">
                <a:solidFill>
                  <a:srgbClr val="2E2119"/>
                </a:solidFill>
                <a:latin typeface="Calibri" pitchFamily="34" charset="0"/>
                <a:ea typeface="Calibri" pitchFamily="34" charset="-122"/>
                <a:cs typeface="Calibri" pitchFamily="34" charset="-120"/>
              </a:rPr>
              <a:t>experiencia directa del hogar (Iago y Nadia) — dato de primera mano, sin fuente externa.</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Estado del arte — la competencia</a:t>
            </a:r>
            <a:endParaRPr lang="en-US" sz="2800" dirty="0"/>
          </a:p>
        </p:txBody>
      </p:sp>
      <p:sp>
        <p:nvSpPr>
          <p:cNvPr id="6" name="Text 3"/>
          <p:cNvSpPr txBox="1"/>
          <p:nvPr/>
        </p:nvSpPr>
        <p:spPr>
          <a:xfrm>
            <a:off x="548640" y="1234440"/>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Fuente principal: conversaciones directas con estudiantes/gente joven — el mismo perfil que el mercado objetivo.</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286000"/>
        </p:xfrm>
        <a:graphic>
          <a:graphicData uri="http://schemas.openxmlformats.org/drawingml/2006/table">
            <a:tbl>
              <a:tblPr/>
              <a:tblGrid>
                <a:gridCol w="1737360"/>
                <a:gridCol w="4480560"/>
                <a:gridCol w="484632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Solución</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 bueno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 problema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Papel y boli</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Rápido y sencillo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Se pierde fácil; de un solo uso (gasta papel)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Notas (móvil)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La más usada; simple y reusable — "la que mejor funciona"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No se comparte ni coedita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Bring!</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Colaborativo de verdad,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Paso extra al añadir un item; su "Inspiración" no resuelve el caso de uso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AnyList</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Reconoce items al escribir + código de barras</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Todo el valor apunta a cocinar, no a compartir la lista ni saber qué hay en casa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3977640"/>
            <a:ext cx="11064240" cy="2423160"/>
          </a:xfrm>
          <a:prstGeom prst="roundRect">
            <a:avLst>
              <a:gd name="adj" fmla="val 4528"/>
            </a:avLst>
          </a:prstGeom>
          <a:solidFill>
            <a:srgbClr val="F4E9DA"/>
          </a:solidFill>
          <a:ln/>
          <a:effectLst>
            <a:outerShdw sx="100000" sy="100000" kx="0" ky="0" algn="bl" rotWithShape="0" blurRad="76200" dist="25400" dir="5400000">
              <a:srgbClr val="000000">
                <a:alpha val="12000"/>
              </a:srgbClr>
            </a:outerShdw>
          </a:effectLst>
        </p:spPr>
      </p:sp>
      <p:sp>
        <p:nvSpPr>
          <p:cNvPr id="9" name="Text 5"/>
          <p:cNvSpPr txBox="1"/>
          <p:nvPr/>
        </p:nvSpPr>
        <p:spPr>
          <a:xfrm>
            <a:off x="777240" y="4160520"/>
            <a:ext cx="10607040" cy="320040"/>
          </a:xfrm>
          <a:prstGeom prst="rect">
            <a:avLst/>
          </a:prstGeom>
          <a:noFill/>
          <a:ln/>
        </p:spPr>
        <p:txBody>
          <a:bodyPr wrap="square" lIns="0" tIns="0" rIns="0" bIns="0" rtlCol="0" anchor="ctr"/>
          <a:lstStyle/>
          <a:p>
            <a:pPr indent="0" marL="0">
              <a:buNone/>
            </a:pPr>
            <a:r>
              <a:rPr lang="en-US" sz="1300" b="1" dirty="0">
                <a:solidFill>
                  <a:srgbClr val="C9682B"/>
                </a:solidFill>
                <a:latin typeface="Calibri" pitchFamily="34" charset="0"/>
                <a:ea typeface="Calibri" pitchFamily="34" charset="-122"/>
                <a:cs typeface="Calibri" pitchFamily="34" charset="-120"/>
              </a:rPr>
              <a:t>Por qué no nos basamos en reseñas de las apps</a:t>
            </a:r>
            <a:endParaRPr lang="en-US" sz="1300" dirty="0"/>
          </a:p>
        </p:txBody>
      </p:sp>
      <p:sp>
        <p:nvSpPr>
          <p:cNvPr id="10" name="Text 6"/>
          <p:cNvSpPr txBox="1"/>
          <p:nvPr/>
        </p:nvSpPr>
        <p:spPr>
          <a:xfrm>
            <a:off x="777240" y="4526280"/>
            <a:ext cx="10607040" cy="1783080"/>
          </a:xfrm>
          <a:prstGeom prst="rect">
            <a:avLst/>
          </a:prstGeom>
          <a:noFill/>
          <a:ln/>
        </p:spPr>
        <p:txBody>
          <a:bodyPr wrap="square" lIns="0" tIns="0" rIns="0" bIns="0" rtlCol="0" anchor="t"/>
          <a:lstStyle/>
          <a:p>
            <a:pPr indent="0" marL="0">
              <a:spcAft>
                <a:spcPts val="800"/>
              </a:spcAft>
              <a:buNone/>
            </a:pPr>
            <a:r>
              <a:rPr lang="en-US" sz="1250" dirty="0">
                <a:solidFill>
                  <a:srgbClr val="2E2119"/>
                </a:solidFill>
                <a:latin typeface="Calibri" pitchFamily="34" charset="0"/>
                <a:ea typeface="Calibri" pitchFamily="34" charset="-122"/>
                <a:cs typeface="Calibri" pitchFamily="34" charset="-120"/>
              </a:rPr>
              <a:t>Las reseñas buenas no sirven para encontrar un hueco — obviamente no hablan de lo que falta. </a:t>
            </a:r>
            <a:endParaRPr lang="en-US" sz="1250" dirty="0"/>
          </a:p>
          <a:p>
            <a:pPr indent="0" marL="0">
              <a:spcAft>
                <a:spcPts val="800"/>
              </a:spcAft>
              <a:buNone/>
            </a:pPr>
            <a:r>
              <a:rPr lang="en-US" sz="1250" dirty="0">
                <a:solidFill>
                  <a:srgbClr val="2E2119"/>
                </a:solidFill>
                <a:latin typeface="Calibri" pitchFamily="34" charset="0"/>
                <a:ea typeface="Calibri" pitchFamily="34" charset="-122"/>
                <a:cs typeface="Calibri" pitchFamily="34" charset="-120"/>
              </a:rPr>
              <a:t>Las malas, casi todas, eran quejas de compatibilidad técnica (se cuelga, no sincroniza...), no gente pidiendo una función o diciendo que el enfoque no encajaba con su forma de comprar. </a:t>
            </a:r>
            <a:endParaRPr lang="en-US" sz="1250" dirty="0"/>
          </a:p>
          <a:p>
            <a:pPr indent="0" marL="0">
              <a:buNone/>
            </a:pPr>
            <a:r>
              <a:rPr lang="en-US" sz="1250" dirty="0">
                <a:solidFill>
                  <a:srgbClr val="2E2119"/>
                </a:solidFill>
                <a:latin typeface="Calibri" pitchFamily="34" charset="0"/>
                <a:ea typeface="Calibri" pitchFamily="34" charset="-122"/>
                <a:cs typeface="Calibri" pitchFamily="34" charset="-120"/>
              </a:rPr>
              <a:t>Por eso se pasó a hablar directamente con quien vive el problema (estudiantes y gente joven) — la vía que el propio guion marca como "la más cara y la más fiable de las tres".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¿Y si tu app no tiene nada "chulo"?</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La objeción que anticipamos antes de que nos la hagan — no una respuesta a la defensiva después.</a:t>
            </a:r>
            <a:endParaRPr lang="en-US" sz="1000" dirty="0"/>
          </a:p>
        </p:txBody>
      </p:sp>
      <p:sp>
        <p:nvSpPr>
          <p:cNvPr id="7" name="Shape 4"/>
          <p:cNvSpPr/>
          <p:nvPr/>
        </p:nvSpPr>
        <p:spPr>
          <a:xfrm>
            <a:off x="548640" y="1463040"/>
            <a:ext cx="11064240" cy="1097280"/>
          </a:xfrm>
          <a:prstGeom prst="roundRect">
            <a:avLst>
              <a:gd name="adj" fmla="val 10000"/>
            </a:avLst>
          </a:prstGeom>
          <a:solidFill>
            <a:srgbClr val="EDE6DC"/>
          </a:solidFill>
          <a:ln/>
          <a:effectLst>
            <a:outerShdw sx="100000" sy="100000" kx="0" ky="0" algn="bl" rotWithShape="0" blurRad="76200" dist="25400" dir="5400000">
              <a:srgbClr val="000000">
                <a:alpha val="12000"/>
              </a:srgbClr>
            </a:outerShdw>
          </a:effectLst>
        </p:spPr>
      </p:sp>
      <p:sp>
        <p:nvSpPr>
          <p:cNvPr id="8" name="Text 5"/>
          <p:cNvSpPr txBox="1"/>
          <p:nvPr/>
        </p:nvSpPr>
        <p:spPr>
          <a:xfrm>
            <a:off x="822960" y="1600200"/>
            <a:ext cx="10515600" cy="822960"/>
          </a:xfrm>
          <a:prstGeom prst="rect">
            <a:avLst/>
          </a:prstGeom>
          <a:noFill/>
          <a:ln/>
        </p:spPr>
        <p:txBody>
          <a:bodyPr wrap="square" lIns="0" tIns="0" rIns="0" bIns="0" rtlCol="0" anchor="ctr"/>
          <a:lstStyle/>
          <a:p>
            <a:pPr indent="0" marL="0">
              <a:buNone/>
            </a:pPr>
            <a:r>
              <a:rPr lang="en-US" sz="1500" i="1" dirty="0">
                <a:solidFill>
                  <a:srgbClr val="2E2119"/>
                </a:solidFill>
                <a:latin typeface="Calibri" pitchFamily="34" charset="0"/>
                <a:ea typeface="Calibri" pitchFamily="34" charset="-122"/>
                <a:cs typeface="Calibri" pitchFamily="34" charset="-120"/>
              </a:rPr>
              <a:t>"Tu solución (Notas) no tiene nada como mis recetas, mi meal planning o mis agentes de IA."</a:t>
            </a:r>
            <a:endParaRPr lang="en-US" sz="1500" dirty="0"/>
          </a:p>
        </p:txBody>
      </p:sp>
      <p:sp>
        <p:nvSpPr>
          <p:cNvPr id="9" name="Text 6"/>
          <p:cNvSpPr txBox="1"/>
          <p:nvPr/>
        </p:nvSpPr>
        <p:spPr>
          <a:xfrm>
            <a:off x="548640" y="2697480"/>
            <a:ext cx="11064240" cy="1005840"/>
          </a:xfrm>
          <a:prstGeom prst="rect">
            <a:avLst/>
          </a:prstGeom>
          <a:noFill/>
          <a:ln/>
        </p:spPr>
        <p:txBody>
          <a:bodyPr wrap="square" lIns="0" tIns="0" rIns="0" bIns="0" rtlCol="0" anchor="t"/>
          <a:lstStyle/>
          <a:p>
            <a:pPr indent="0" marL="0">
              <a:buNone/>
            </a:pPr>
            <a:r>
              <a:rPr lang="en-US" sz="1300" b="1" dirty="0">
                <a:solidFill>
                  <a:srgbClr val="C9682B"/>
                </a:solidFill>
                <a:latin typeface="Calibri" pitchFamily="34" charset="0"/>
                <a:ea typeface="Calibri" pitchFamily="34" charset="-122"/>
                <a:cs typeface="Calibri" pitchFamily="34" charset="-120"/>
              </a:rPr>
              <a:t>Cierto. </a:t>
            </a:r>
            <a:pPr indent="0" marL="0">
              <a:buNone/>
            </a:pPr>
            <a:r>
              <a:rPr lang="en-US" sz="1300" dirty="0">
                <a:solidFill>
                  <a:srgbClr val="2E2119"/>
                </a:solidFill>
                <a:latin typeface="Calibri" pitchFamily="34" charset="0"/>
                <a:ea typeface="Calibri" pitchFamily="34" charset="-122"/>
                <a:cs typeface="Calibri" pitchFamily="34" charset="-120"/>
              </a:rPr>
              <a:t>Pero tampoco las tiene el papel y boli, que es el sistema que en realidad se está digitalizando. Si ni Notas ni Papel tienen esas funciones y aun así ganan en el uso real (diapositiva anterior), lo que esas funciones añaden no es "lo que faltaba" — es complejidad y ruido visual encima de un sistema que no los pedía.</a:t>
            </a:r>
            <a:endParaRPr lang="en-US" sz="1300" dirty="0"/>
          </a:p>
        </p:txBody>
      </p:sp>
      <p:sp>
        <p:nvSpPr>
          <p:cNvPr id="10" name="Shape 7"/>
          <p:cNvSpPr/>
          <p:nvPr/>
        </p:nvSpPr>
        <p:spPr>
          <a:xfrm>
            <a:off x="548640" y="3794760"/>
            <a:ext cx="5440680" cy="1737360"/>
          </a:xfrm>
          <a:prstGeom prst="roundRect">
            <a:avLst>
              <a:gd name="adj" fmla="val 6316"/>
            </a:avLst>
          </a:prstGeom>
          <a:solidFill>
            <a:srgbClr val="F4E9DA"/>
          </a:solidFill>
          <a:ln/>
          <a:effectLst>
            <a:outerShdw sx="100000" sy="100000" kx="0" ky="0" algn="bl" rotWithShape="0" blurRad="76200" dist="25400" dir="5400000">
              <a:srgbClr val="000000">
                <a:alpha val="12000"/>
              </a:srgbClr>
            </a:outerShdw>
          </a:effectLst>
        </p:spPr>
      </p:sp>
      <p:sp>
        <p:nvSpPr>
          <p:cNvPr id="11" name="Text 8"/>
          <p:cNvSpPr txBox="1"/>
          <p:nvPr/>
        </p:nvSpPr>
        <p:spPr>
          <a:xfrm>
            <a:off x="777240" y="3931920"/>
            <a:ext cx="4983480" cy="274320"/>
          </a:xfrm>
          <a:prstGeom prst="rect">
            <a:avLst/>
          </a:prstGeom>
          <a:noFill/>
          <a:ln/>
        </p:spPr>
        <p:txBody>
          <a:bodyPr wrap="square" lIns="0" tIns="0" rIns="0" bIns="0" rtlCol="0" anchor="ctr"/>
          <a:lstStyle/>
          <a:p>
            <a:pPr indent="0" marL="0">
              <a:buNone/>
            </a:pPr>
            <a:r>
              <a:rPr lang="en-US" sz="1150" b="1" spc="100" kern="0" dirty="0">
                <a:solidFill>
                  <a:srgbClr val="C9682B"/>
                </a:solidFill>
                <a:latin typeface="Calibri" pitchFamily="34" charset="0"/>
                <a:ea typeface="Calibri" pitchFamily="34" charset="-122"/>
                <a:cs typeface="Calibri" pitchFamily="34" charset="-120"/>
              </a:rPr>
              <a:t>Para quién SÍ tiene sentido</a:t>
            </a:r>
            <a:endParaRPr lang="en-US" sz="1150" dirty="0"/>
          </a:p>
        </p:txBody>
      </p:sp>
      <p:sp>
        <p:nvSpPr>
          <p:cNvPr id="12" name="Text 9"/>
          <p:cNvSpPr txBox="1"/>
          <p:nvPr/>
        </p:nvSpPr>
        <p:spPr>
          <a:xfrm>
            <a:off x="777240" y="4251960"/>
            <a:ext cx="4983480" cy="1143000"/>
          </a:xfrm>
          <a:prstGeom prst="rect">
            <a:avLst/>
          </a:prstGeom>
          <a:noFill/>
          <a:ln/>
        </p:spPr>
        <p:txBody>
          <a:bodyPr wrap="square" lIns="0" tIns="0" rIns="0" bIns="0" rtlCol="0" anchor="t"/>
          <a:lstStyle/>
          <a:p>
            <a:pPr indent="0" marL="0">
              <a:buNone/>
            </a:pPr>
            <a:r>
              <a:rPr lang="en-US" sz="1250" dirty="0">
                <a:solidFill>
                  <a:srgbClr val="2E2119"/>
                </a:solidFill>
                <a:latin typeface="Calibri" pitchFamily="34" charset="0"/>
                <a:ea typeface="Calibri" pitchFamily="34" charset="-122"/>
                <a:cs typeface="Calibri" pitchFamily="34" charset="-120"/>
              </a:rPr>
              <a:t>Alguien a quien de verdad le guste cocinar y guardar recetas — un perfil más asentado, quizá de más edad (ej. una madre de familia).</a:t>
            </a:r>
            <a:endParaRPr lang="en-US" sz="1250" dirty="0"/>
          </a:p>
        </p:txBody>
      </p:sp>
      <p:sp>
        <p:nvSpPr>
          <p:cNvPr id="13" name="Shape 10"/>
          <p:cNvSpPr/>
          <p:nvPr/>
        </p:nvSpPr>
        <p:spPr>
          <a:xfrm>
            <a:off x="6172200" y="3794760"/>
            <a:ext cx="5440680" cy="1737360"/>
          </a:xfrm>
          <a:prstGeom prst="roundRect">
            <a:avLst>
              <a:gd name="adj" fmla="val 6316"/>
            </a:avLst>
          </a:prstGeom>
          <a:solidFill>
            <a:srgbClr val="F6E4D3"/>
          </a:solidFill>
          <a:ln/>
          <a:effectLst>
            <a:outerShdw sx="100000" sy="100000" kx="0" ky="0" algn="bl" rotWithShape="0" blurRad="76200" dist="25400" dir="5400000">
              <a:srgbClr val="000000">
                <a:alpha val="12000"/>
              </a:srgbClr>
            </a:outerShdw>
          </a:effectLst>
        </p:spPr>
      </p:sp>
      <p:sp>
        <p:nvSpPr>
          <p:cNvPr id="14" name="Text 11"/>
          <p:cNvSpPr txBox="1"/>
          <p:nvPr/>
        </p:nvSpPr>
        <p:spPr>
          <a:xfrm>
            <a:off x="6400800" y="3931920"/>
            <a:ext cx="4983480" cy="274320"/>
          </a:xfrm>
          <a:prstGeom prst="rect">
            <a:avLst/>
          </a:prstGeom>
          <a:noFill/>
          <a:ln/>
        </p:spPr>
        <p:txBody>
          <a:bodyPr wrap="square" lIns="0" tIns="0" rIns="0" bIns="0" rtlCol="0" anchor="ctr"/>
          <a:lstStyle/>
          <a:p>
            <a:pPr indent="0" marL="0">
              <a:buNone/>
            </a:pPr>
            <a:r>
              <a:rPr lang="en-US" sz="1150" b="1" spc="100" kern="0" dirty="0">
                <a:solidFill>
                  <a:srgbClr val="C9682B"/>
                </a:solidFill>
                <a:latin typeface="Calibri" pitchFamily="34" charset="0"/>
                <a:ea typeface="Calibri" pitchFamily="34" charset="-122"/>
                <a:cs typeface="Calibri" pitchFamily="34" charset="-120"/>
              </a:rPr>
              <a:t>Para nuestro público, NO</a:t>
            </a:r>
            <a:endParaRPr lang="en-US" sz="1150" dirty="0"/>
          </a:p>
        </p:txBody>
      </p:sp>
      <p:sp>
        <p:nvSpPr>
          <p:cNvPr id="15" name="Text 12"/>
          <p:cNvSpPr txBox="1"/>
          <p:nvPr/>
        </p:nvSpPr>
        <p:spPr>
          <a:xfrm>
            <a:off x="6400800" y="4251960"/>
            <a:ext cx="4983480" cy="1143000"/>
          </a:xfrm>
          <a:prstGeom prst="rect">
            <a:avLst/>
          </a:prstGeom>
          <a:noFill/>
          <a:ln/>
        </p:spPr>
        <p:txBody>
          <a:bodyPr wrap="square" lIns="0" tIns="0" rIns="0" bIns="0" rtlCol="0" anchor="t"/>
          <a:lstStyle/>
          <a:p>
            <a:pPr indent="0" marL="0">
              <a:spcAft>
                <a:spcPts val="600"/>
              </a:spcAft>
              <a:buNone/>
            </a:pPr>
            <a:r>
              <a:rPr lang="en-US" sz="1150" dirty="0">
                <a:solidFill>
                  <a:srgbClr val="2E2119"/>
                </a:solidFill>
                <a:latin typeface="Calibri" pitchFamily="34" charset="0"/>
                <a:ea typeface="Calibri" pitchFamily="34" charset="-122"/>
                <a:cs typeface="Calibri" pitchFamily="34" charset="-120"/>
              </a:rPr>
              <a:t>El estudiante medio independizado no es un apasionado de la cocina. La tendencia joven (meal prep) va al revés: tuppers básicos para toda la semana, para cocinar lo MÍNIMO posible. </a:t>
            </a:r>
            <a:endParaRPr lang="en-US" sz="1150" dirty="0"/>
          </a:p>
          <a:p>
            <a:pPr indent="0" marL="0">
              <a:buNone/>
            </a:pPr>
            <a:r>
              <a:rPr lang="en-US" sz="1150" b="1" dirty="0">
                <a:solidFill>
                  <a:srgbClr val="C9682B"/>
                </a:solidFill>
                <a:latin typeface="Calibri" pitchFamily="34" charset="0"/>
                <a:ea typeface="Calibri" pitchFamily="34" charset="-122"/>
                <a:cs typeface="Calibri" pitchFamily="34" charset="-120"/>
              </a:rPr>
              <a:t>Confirmado en la encuesta: </a:t>
            </a:r>
            <a:pPr indent="0" marL="0">
              <a:buNone/>
            </a:pPr>
            <a:r>
              <a:rPr lang="en-US" sz="1150" i="1" dirty="0">
                <a:solidFill>
                  <a:srgbClr val="2E2119"/>
                </a:solidFill>
                <a:latin typeface="Calibri" pitchFamily="34" charset="0"/>
                <a:ea typeface="Calibri" pitchFamily="34" charset="-122"/>
                <a:cs typeface="Calibri" pitchFamily="34" charset="-120"/>
              </a:rPr>
              <a:t>"compro cosas pensando en hacer comidas elaboradas pero nunca las llego a hacer, y acaban pudriéndose".</a:t>
            </a:r>
            <a:endParaRPr lang="en-US" sz="1150" dirty="0"/>
          </a:p>
        </p:txBody>
      </p:sp>
      <p:sp>
        <p:nvSpPr>
          <p:cNvPr id="16" name="Shape 13"/>
          <p:cNvSpPr/>
          <p:nvPr/>
        </p:nvSpPr>
        <p:spPr>
          <a:xfrm>
            <a:off x="548640" y="5760720"/>
            <a:ext cx="11064240" cy="822960"/>
          </a:xfrm>
          <a:prstGeom prst="roundRect">
            <a:avLst>
              <a:gd name="adj" fmla="val 13333"/>
            </a:avLst>
          </a:prstGeom>
          <a:solidFill>
            <a:srgbClr val="2E2119"/>
          </a:solidFill>
          <a:ln/>
        </p:spPr>
      </p:sp>
      <p:sp>
        <p:nvSpPr>
          <p:cNvPr id="17" name="Text 14"/>
          <p:cNvSpPr txBox="1"/>
          <p:nvPr/>
        </p:nvSpPr>
        <p:spPr>
          <a:xfrm>
            <a:off x="868680" y="5870448"/>
            <a:ext cx="10424160" cy="621792"/>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Ni siquiera cumplen bien su función principal: el paso intermedio de recetas da pereza, así que la lista queda peor servida que en Notas — por bonita que parezca la sensación de estar "más organizado".</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Estado del arte — el hueco detectado</a:t>
            </a:r>
            <a:endParaRPr lang="en-US" sz="2800" dirty="0"/>
          </a:p>
        </p:txBody>
      </p:sp>
      <p:sp>
        <p:nvSpPr>
          <p:cNvPr id="6" name="Shape 3"/>
          <p:cNvSpPr/>
          <p:nvPr/>
        </p:nvSpPr>
        <p:spPr>
          <a:xfrm>
            <a:off x="548640" y="1508760"/>
            <a:ext cx="11064240" cy="1051560"/>
          </a:xfrm>
          <a:prstGeom prst="roundRect">
            <a:avLst>
              <a:gd name="adj" fmla="val 10435"/>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822960" y="161848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posicionamiento</a:t>
            </a:r>
            <a:endParaRPr lang="en-US" sz="1500" dirty="0"/>
          </a:p>
        </p:txBody>
      </p:sp>
      <p:sp>
        <p:nvSpPr>
          <p:cNvPr id="8" name="Text 5"/>
          <p:cNvSpPr txBox="1"/>
          <p:nvPr/>
        </p:nvSpPr>
        <p:spPr>
          <a:xfrm>
            <a:off x="3657600" y="161848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Ni Bring! ni AnyList apuntan al acto simple de apuntar y compartir la lista — las dos están construidas para cocinar y planificar recetas.</a:t>
            </a:r>
            <a:endParaRPr lang="en-US" sz="1300" dirty="0"/>
          </a:p>
        </p:txBody>
      </p:sp>
      <p:sp>
        <p:nvSpPr>
          <p:cNvPr id="9" name="Shape 6"/>
          <p:cNvSpPr/>
          <p:nvPr/>
        </p:nvSpPr>
        <p:spPr>
          <a:xfrm>
            <a:off x="548640" y="2697480"/>
            <a:ext cx="11064240" cy="1051560"/>
          </a:xfrm>
          <a:prstGeom prst="roundRect">
            <a:avLst>
              <a:gd name="adj" fmla="val 10435"/>
            </a:avLst>
          </a:prstGeom>
          <a:solidFill>
            <a:srgbClr val="EDE6DC"/>
          </a:solidFill>
          <a:ln/>
          <a:effectLst>
            <a:outerShdw sx="100000" sy="100000" kx="0" ky="0" algn="bl" rotWithShape="0" blurRad="76200" dist="25400" dir="5400000">
              <a:srgbClr val="000000">
                <a:alpha val="12000"/>
              </a:srgbClr>
            </a:outerShdw>
          </a:effectLst>
        </p:spPr>
      </p:sp>
      <p:sp>
        <p:nvSpPr>
          <p:cNvPr id="10" name="Text 7"/>
          <p:cNvSpPr txBox="1"/>
          <p:nvPr/>
        </p:nvSpPr>
        <p:spPr>
          <a:xfrm>
            <a:off x="822960" y="280720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fricción</a:t>
            </a:r>
            <a:endParaRPr lang="en-US" sz="1500" dirty="0"/>
          </a:p>
        </p:txBody>
      </p:sp>
      <p:sp>
        <p:nvSpPr>
          <p:cNvPr id="11" name="Text 8"/>
          <p:cNvSpPr txBox="1"/>
          <p:nvPr/>
        </p:nvSpPr>
        <p:spPr>
          <a:xfrm>
            <a:off x="3657600" y="280720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Cualquier paso extra sobre "simplemente escribir" hace que la gente vuelva a Notas, la solución más simple.</a:t>
            </a:r>
            <a:endParaRPr lang="en-US" sz="1300" dirty="0"/>
          </a:p>
        </p:txBody>
      </p:sp>
      <p:sp>
        <p:nvSpPr>
          <p:cNvPr id="12" name="Shape 9"/>
          <p:cNvSpPr/>
          <p:nvPr/>
        </p:nvSpPr>
        <p:spPr>
          <a:xfrm>
            <a:off x="548640" y="3886200"/>
            <a:ext cx="11064240" cy="1051560"/>
          </a:xfrm>
          <a:prstGeom prst="roundRect">
            <a:avLst>
              <a:gd name="adj" fmla="val 10435"/>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 y="399592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colaboración</a:t>
            </a:r>
            <a:endParaRPr lang="en-US" sz="1500" dirty="0"/>
          </a:p>
        </p:txBody>
      </p:sp>
      <p:sp>
        <p:nvSpPr>
          <p:cNvPr id="14" name="Text 11"/>
          <p:cNvSpPr txBox="1"/>
          <p:nvPr/>
        </p:nvSpPr>
        <p:spPr>
          <a:xfrm>
            <a:off x="3657600" y="399592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La solución que mejor funciona en la práctica (Notas) no se puede compartir ni coeditar en tiempo real.</a:t>
            </a:r>
            <a:endParaRPr lang="en-US" sz="1300" dirty="0"/>
          </a:p>
        </p:txBody>
      </p:sp>
      <p:sp>
        <p:nvSpPr>
          <p:cNvPr id="15" name="Shape 12"/>
          <p:cNvSpPr/>
          <p:nvPr/>
        </p:nvSpPr>
        <p:spPr>
          <a:xfrm>
            <a:off x="548640" y="5212080"/>
            <a:ext cx="11064240" cy="1051560"/>
          </a:xfrm>
          <a:prstGeom prst="roundRect">
            <a:avLst>
              <a:gd name="adj" fmla="val 10435"/>
            </a:avLst>
          </a:prstGeom>
          <a:solidFill>
            <a:srgbClr val="2E2119"/>
          </a:solidFill>
          <a:ln/>
        </p:spPr>
      </p:sp>
      <p:sp>
        <p:nvSpPr>
          <p:cNvPr id="16" name="Text 13"/>
          <p:cNvSpPr txBox="1"/>
          <p:nvPr/>
        </p:nvSpPr>
        <p:spPr>
          <a:xfrm>
            <a:off x="868680" y="5330952"/>
            <a:ext cx="10424160" cy="777240"/>
          </a:xfrm>
          <a:prstGeom prst="rect">
            <a:avLst/>
          </a:prstGeom>
          <a:noFill/>
          <a:ln/>
        </p:spPr>
        <p:txBody>
          <a:bodyPr wrap="square" lIns="0" tIns="0" rIns="0" bIns="0" rtlCol="0" anchor="ctr"/>
          <a:lstStyle/>
          <a:p>
            <a:pPr indent="0" marL="0">
              <a:buNone/>
            </a:pPr>
            <a:r>
              <a:rPr lang="en-US" sz="1300" i="1" dirty="0">
                <a:solidFill>
                  <a:srgbClr val="D9A441"/>
                </a:solidFill>
                <a:latin typeface="Calibri" pitchFamily="34" charset="0"/>
                <a:ea typeface="Calibri" pitchFamily="34" charset="-122"/>
                <a:cs typeface="Calibri" pitchFamily="34" charset="-120"/>
              </a:rPr>
              <a:t>El hueco real: una herramienta tan rápida de usar como Notas, tan colaborativa como Bring!, que además dice quién apuntó cada cosa y muestra qué hay en casa sin pedir que nadie lleve la cuenta a mano — el ángulo que nadie cubre.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encuesta confirma el hueco (n=35)</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Encuesta bilingüe (ES/EN), 9 preguntas sobre hechos del último mes — no opiniones sobre una app futura. 35 respuestas únicas a fecha 17/09/2026.</a:t>
            </a:r>
            <a:endParaRPr lang="en-US" sz="1000" dirty="0"/>
          </a:p>
        </p:txBody>
      </p:sp>
      <p:sp>
        <p:nvSpPr>
          <p:cNvPr id="7" name="Shape 4"/>
          <p:cNvSpPr/>
          <p:nvPr/>
        </p:nvSpPr>
        <p:spPr>
          <a:xfrm>
            <a:off x="548640" y="1508760"/>
            <a:ext cx="3611880" cy="1143000"/>
          </a:xfrm>
          <a:prstGeom prst="roundRect">
            <a:avLst>
              <a:gd name="adj" fmla="val 9600"/>
            </a:avLst>
          </a:prstGeom>
          <a:solidFill>
            <a:srgbClr val="2E2119"/>
          </a:solidFill>
          <a:ln/>
        </p:spPr>
      </p:sp>
      <p:sp>
        <p:nvSpPr>
          <p:cNvPr id="8" name="Text 5"/>
          <p:cNvSpPr txBox="1"/>
          <p:nvPr/>
        </p:nvSpPr>
        <p:spPr>
          <a:xfrm>
            <a:off x="73152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0/35</a:t>
            </a:r>
            <a:endParaRPr lang="en-US" sz="3000" dirty="0"/>
          </a:p>
        </p:txBody>
      </p:sp>
      <p:sp>
        <p:nvSpPr>
          <p:cNvPr id="9" name="Text 6"/>
          <p:cNvSpPr txBox="1"/>
          <p:nvPr/>
        </p:nvSpPr>
        <p:spPr>
          <a:xfrm>
            <a:off x="73152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usa hoy una app específica como método — aunque 3 personas SÍ la probaron alguna vez (ver abajo)</a:t>
            </a:r>
            <a:endParaRPr lang="en-US" sz="1000" dirty="0"/>
          </a:p>
        </p:txBody>
      </p:sp>
      <p:sp>
        <p:nvSpPr>
          <p:cNvPr id="10" name="Shape 7"/>
          <p:cNvSpPr/>
          <p:nvPr/>
        </p:nvSpPr>
        <p:spPr>
          <a:xfrm>
            <a:off x="4297680" y="1508760"/>
            <a:ext cx="3611880" cy="1143000"/>
          </a:xfrm>
          <a:prstGeom prst="roundRect">
            <a:avLst>
              <a:gd name="adj" fmla="val 9600"/>
            </a:avLst>
          </a:prstGeom>
          <a:solidFill>
            <a:srgbClr val="2E2119"/>
          </a:solidFill>
          <a:ln/>
        </p:spPr>
      </p:sp>
      <p:sp>
        <p:nvSpPr>
          <p:cNvPr id="11" name="Text 8"/>
          <p:cNvSpPr txBox="1"/>
          <p:nvPr/>
        </p:nvSpPr>
        <p:spPr>
          <a:xfrm>
            <a:off x="448056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74%</a:t>
            </a:r>
            <a:endParaRPr lang="en-US" sz="3000" dirty="0"/>
          </a:p>
        </p:txBody>
      </p:sp>
      <p:sp>
        <p:nvSpPr>
          <p:cNvPr id="12" name="Text 9"/>
          <p:cNvSpPr txBox="1"/>
          <p:nvPr/>
        </p:nvSpPr>
        <p:spPr>
          <a:xfrm>
            <a:off x="448056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compró algo duplicado el último mes</a:t>
            </a:r>
            <a:endParaRPr lang="en-US" sz="1000" dirty="0"/>
          </a:p>
        </p:txBody>
      </p:sp>
      <p:sp>
        <p:nvSpPr>
          <p:cNvPr id="13" name="Shape 10"/>
          <p:cNvSpPr/>
          <p:nvPr/>
        </p:nvSpPr>
        <p:spPr>
          <a:xfrm>
            <a:off x="8046720" y="1508760"/>
            <a:ext cx="3611880" cy="1143000"/>
          </a:xfrm>
          <a:prstGeom prst="roundRect">
            <a:avLst>
              <a:gd name="adj" fmla="val 9600"/>
            </a:avLst>
          </a:prstGeom>
          <a:solidFill>
            <a:srgbClr val="2E2119"/>
          </a:solidFill>
          <a:ln/>
        </p:spPr>
      </p:sp>
      <p:sp>
        <p:nvSpPr>
          <p:cNvPr id="14" name="Text 11"/>
          <p:cNvSpPr txBox="1"/>
          <p:nvPr/>
        </p:nvSpPr>
        <p:spPr>
          <a:xfrm>
            <a:off x="822960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74%</a:t>
            </a:r>
            <a:endParaRPr lang="en-US" sz="3000" dirty="0"/>
          </a:p>
        </p:txBody>
      </p:sp>
      <p:sp>
        <p:nvSpPr>
          <p:cNvPr id="15" name="Text 12"/>
          <p:cNvSpPr txBox="1"/>
          <p:nvPr/>
        </p:nvSpPr>
        <p:spPr>
          <a:xfrm>
            <a:off x="822960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tuvo que volver a la tienda por algo olvidado</a:t>
            </a:r>
            <a:endParaRPr lang="en-US" sz="1000" dirty="0"/>
          </a:p>
        </p:txBody>
      </p:sp>
      <p:sp>
        <p:nvSpPr>
          <p:cNvPr id="16" name="Text 13"/>
          <p:cNvSpPr txBox="1"/>
          <p:nvPr/>
        </p:nvSpPr>
        <p:spPr>
          <a:xfrm>
            <a:off x="548640" y="2724912"/>
            <a:ext cx="11064240" cy="292608"/>
          </a:xfrm>
          <a:prstGeom prst="rect">
            <a:avLst/>
          </a:prstGeom>
          <a:noFill/>
          <a:ln/>
        </p:spPr>
        <p:txBody>
          <a:bodyPr wrap="square" lIns="0" tIns="0" rIns="0" bIns="0" rtlCol="0" anchor="ctr"/>
          <a:lstStyle/>
          <a:p>
            <a:pPr indent="0" marL="0">
              <a:buNone/>
            </a:pPr>
            <a:r>
              <a:rPr lang="en-US" sz="1100" i="1" dirty="0">
                <a:solidFill>
                  <a:srgbClr val="8A7A6D"/>
                </a:solidFill>
                <a:latin typeface="Calibri" pitchFamily="34" charset="0"/>
                <a:ea typeface="Calibri" pitchFamily="34" charset="-122"/>
                <a:cs typeface="Calibri" pitchFamily="34" charset="-120"/>
              </a:rPr>
              <a:t>El 54% (19 de 35) sufrió ambas cosas en el mismo mes — el mismo tiempo y dinero (260-520€/año) de la frase del dolor, confirmado con datos.</a:t>
            </a:r>
            <a:endParaRPr lang="en-US" sz="1100" dirty="0"/>
          </a:p>
        </p:txBody>
      </p:sp>
      <p:sp>
        <p:nvSpPr>
          <p:cNvPr id="17" name="Shape 14"/>
          <p:cNvSpPr/>
          <p:nvPr/>
        </p:nvSpPr>
        <p:spPr>
          <a:xfrm>
            <a:off x="548640" y="3108960"/>
            <a:ext cx="6492240" cy="2148840"/>
          </a:xfrm>
          <a:prstGeom prst="roundRect">
            <a:avLst>
              <a:gd name="adj" fmla="val 5106"/>
            </a:avLst>
          </a:prstGeom>
          <a:solidFill>
            <a:srgbClr val="F4E9DA"/>
          </a:solidFill>
          <a:ln/>
          <a:effectLst>
            <a:outerShdw sx="100000" sy="100000" kx="0" ky="0" algn="bl" rotWithShape="0" blurRad="76200" dist="25400" dir="5400000">
              <a:srgbClr val="000000">
                <a:alpha val="12000"/>
              </a:srgbClr>
            </a:outerShdw>
          </a:effectLst>
        </p:spPr>
      </p:sp>
      <p:sp>
        <p:nvSpPr>
          <p:cNvPr id="18" name="Text 15"/>
          <p:cNvSpPr txBox="1"/>
          <p:nvPr/>
        </p:nvSpPr>
        <p:spPr>
          <a:xfrm>
            <a:off x="777240" y="3246120"/>
            <a:ext cx="6035040" cy="320040"/>
          </a:xfrm>
          <a:prstGeom prst="rect">
            <a:avLst/>
          </a:prstGeom>
          <a:noFill/>
          <a:ln/>
        </p:spPr>
        <p:txBody>
          <a:bodyPr wrap="square" lIns="0" tIns="0" rIns="0" bIns="0" rtlCol="0" anchor="ctr"/>
          <a:lstStyle/>
          <a:p>
            <a:pPr indent="0" marL="0">
              <a:buNone/>
            </a:pPr>
            <a:r>
              <a:rPr lang="en-US" sz="1150" b="1" dirty="0">
                <a:solidFill>
                  <a:srgbClr val="C9682B"/>
                </a:solidFill>
                <a:latin typeface="Calibri" pitchFamily="34" charset="0"/>
                <a:ea typeface="Calibri" pitchFamily="34" charset="-122"/>
                <a:cs typeface="Calibri" pitchFamily="34" charset="-120"/>
              </a:rPr>
              <a:t>Pregunta 3 · ¿Cómo organizáis hoy la lista de la compra?</a:t>
            </a:r>
            <a:endParaRPr lang="en-US" sz="1150" dirty="0"/>
          </a:p>
        </p:txBody>
      </p:sp>
      <p:sp>
        <p:nvSpPr>
          <p:cNvPr id="19" name="Text 16"/>
          <p:cNvSpPr txBox="1"/>
          <p:nvPr/>
        </p:nvSpPr>
        <p:spPr>
          <a:xfrm>
            <a:off x="777240" y="3648456"/>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Notas del móvil</a:t>
            </a:r>
            <a:endParaRPr lang="en-US" sz="1100" dirty="0"/>
          </a:p>
        </p:txBody>
      </p:sp>
      <p:sp>
        <p:nvSpPr>
          <p:cNvPr id="20" name="Shape 17"/>
          <p:cNvSpPr/>
          <p:nvPr/>
        </p:nvSpPr>
        <p:spPr>
          <a:xfrm>
            <a:off x="2788920" y="3675888"/>
            <a:ext cx="3566160" cy="219456"/>
          </a:xfrm>
          <a:prstGeom prst="roundRect">
            <a:avLst>
              <a:gd name="adj" fmla="val 16667"/>
            </a:avLst>
          </a:prstGeom>
          <a:solidFill>
            <a:srgbClr val="E7DCCB"/>
          </a:solidFill>
          <a:ln/>
        </p:spPr>
      </p:sp>
      <p:sp>
        <p:nvSpPr>
          <p:cNvPr id="21" name="Shape 18"/>
          <p:cNvSpPr/>
          <p:nvPr/>
        </p:nvSpPr>
        <p:spPr>
          <a:xfrm>
            <a:off x="2788920" y="3675888"/>
            <a:ext cx="3566160" cy="219456"/>
          </a:xfrm>
          <a:prstGeom prst="roundRect">
            <a:avLst>
              <a:gd name="adj" fmla="val 16667"/>
            </a:avLst>
          </a:prstGeom>
          <a:solidFill>
            <a:srgbClr val="D9A441"/>
          </a:solidFill>
          <a:ln/>
        </p:spPr>
      </p:sp>
      <p:sp>
        <p:nvSpPr>
          <p:cNvPr id="22" name="Text 19"/>
          <p:cNvSpPr txBox="1"/>
          <p:nvPr/>
        </p:nvSpPr>
        <p:spPr>
          <a:xfrm>
            <a:off x="6428232" y="3648456"/>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13</a:t>
            </a:r>
            <a:endParaRPr lang="en-US" sz="1100" dirty="0"/>
          </a:p>
        </p:txBody>
      </p:sp>
      <p:sp>
        <p:nvSpPr>
          <p:cNvPr id="23" name="Text 20"/>
          <p:cNvSpPr txBox="1"/>
          <p:nvPr/>
        </p:nvSpPr>
        <p:spPr>
          <a:xfrm>
            <a:off x="777240" y="3959352"/>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Papel y boli</a:t>
            </a:r>
            <a:endParaRPr lang="en-US" sz="1100" dirty="0"/>
          </a:p>
        </p:txBody>
      </p:sp>
      <p:sp>
        <p:nvSpPr>
          <p:cNvPr id="24" name="Shape 21"/>
          <p:cNvSpPr/>
          <p:nvPr/>
        </p:nvSpPr>
        <p:spPr>
          <a:xfrm>
            <a:off x="2788920" y="3986784"/>
            <a:ext cx="3566160" cy="219456"/>
          </a:xfrm>
          <a:prstGeom prst="roundRect">
            <a:avLst>
              <a:gd name="adj" fmla="val 16667"/>
            </a:avLst>
          </a:prstGeom>
          <a:solidFill>
            <a:srgbClr val="E7DCCB"/>
          </a:solidFill>
          <a:ln/>
        </p:spPr>
      </p:sp>
      <p:sp>
        <p:nvSpPr>
          <p:cNvPr id="25" name="Shape 22"/>
          <p:cNvSpPr/>
          <p:nvPr/>
        </p:nvSpPr>
        <p:spPr>
          <a:xfrm>
            <a:off x="2788920" y="3986784"/>
            <a:ext cx="3291840" cy="219456"/>
          </a:xfrm>
          <a:prstGeom prst="roundRect">
            <a:avLst>
              <a:gd name="adj" fmla="val 16667"/>
            </a:avLst>
          </a:prstGeom>
          <a:solidFill>
            <a:srgbClr val="C9682B"/>
          </a:solidFill>
          <a:ln/>
        </p:spPr>
      </p:sp>
      <p:sp>
        <p:nvSpPr>
          <p:cNvPr id="26" name="Text 23"/>
          <p:cNvSpPr txBox="1"/>
          <p:nvPr/>
        </p:nvSpPr>
        <p:spPr>
          <a:xfrm>
            <a:off x="6428232" y="3959352"/>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12</a:t>
            </a:r>
            <a:endParaRPr lang="en-US" sz="1100" dirty="0"/>
          </a:p>
        </p:txBody>
      </p:sp>
      <p:sp>
        <p:nvSpPr>
          <p:cNvPr id="27" name="Text 24"/>
          <p:cNvSpPr txBox="1"/>
          <p:nvPr/>
        </p:nvSpPr>
        <p:spPr>
          <a:xfrm>
            <a:off x="777240" y="4270248"/>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Ninguno / a ojo</a:t>
            </a:r>
            <a:endParaRPr lang="en-US" sz="1100" dirty="0"/>
          </a:p>
        </p:txBody>
      </p:sp>
      <p:sp>
        <p:nvSpPr>
          <p:cNvPr id="28" name="Shape 25"/>
          <p:cNvSpPr/>
          <p:nvPr/>
        </p:nvSpPr>
        <p:spPr>
          <a:xfrm>
            <a:off x="2788920" y="4297680"/>
            <a:ext cx="3566160" cy="219456"/>
          </a:xfrm>
          <a:prstGeom prst="roundRect">
            <a:avLst>
              <a:gd name="adj" fmla="val 16667"/>
            </a:avLst>
          </a:prstGeom>
          <a:solidFill>
            <a:srgbClr val="E7DCCB"/>
          </a:solidFill>
          <a:ln/>
        </p:spPr>
      </p:sp>
      <p:sp>
        <p:nvSpPr>
          <p:cNvPr id="29" name="Shape 26"/>
          <p:cNvSpPr/>
          <p:nvPr/>
        </p:nvSpPr>
        <p:spPr>
          <a:xfrm>
            <a:off x="2788920" y="4297680"/>
            <a:ext cx="2468880" cy="219456"/>
          </a:xfrm>
          <a:prstGeom prst="roundRect">
            <a:avLst>
              <a:gd name="adj" fmla="val 16667"/>
            </a:avLst>
          </a:prstGeom>
          <a:solidFill>
            <a:srgbClr val="8A7A6D"/>
          </a:solidFill>
          <a:ln/>
        </p:spPr>
      </p:sp>
      <p:sp>
        <p:nvSpPr>
          <p:cNvPr id="30" name="Text 27"/>
          <p:cNvSpPr txBox="1"/>
          <p:nvPr/>
        </p:nvSpPr>
        <p:spPr>
          <a:xfrm>
            <a:off x="6428232" y="4270248"/>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9</a:t>
            </a:r>
            <a:endParaRPr lang="en-US" sz="1100" dirty="0"/>
          </a:p>
        </p:txBody>
      </p:sp>
      <p:sp>
        <p:nvSpPr>
          <p:cNvPr id="31" name="Text 28"/>
          <p:cNvSpPr txBox="1"/>
          <p:nvPr/>
        </p:nvSpPr>
        <p:spPr>
          <a:xfrm>
            <a:off x="777240" y="4581144"/>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Grupo de WhatsApp</a:t>
            </a:r>
            <a:endParaRPr lang="en-US" sz="1100" dirty="0"/>
          </a:p>
        </p:txBody>
      </p:sp>
      <p:sp>
        <p:nvSpPr>
          <p:cNvPr id="32" name="Shape 29"/>
          <p:cNvSpPr/>
          <p:nvPr/>
        </p:nvSpPr>
        <p:spPr>
          <a:xfrm>
            <a:off x="2788920" y="4608576"/>
            <a:ext cx="3566160" cy="219456"/>
          </a:xfrm>
          <a:prstGeom prst="roundRect">
            <a:avLst>
              <a:gd name="adj" fmla="val 16667"/>
            </a:avLst>
          </a:prstGeom>
          <a:solidFill>
            <a:srgbClr val="E7DCCB"/>
          </a:solidFill>
          <a:ln/>
        </p:spPr>
      </p:sp>
      <p:sp>
        <p:nvSpPr>
          <p:cNvPr id="33" name="Shape 30"/>
          <p:cNvSpPr/>
          <p:nvPr/>
        </p:nvSpPr>
        <p:spPr>
          <a:xfrm>
            <a:off x="2788920" y="4608576"/>
            <a:ext cx="274320" cy="219456"/>
          </a:xfrm>
          <a:prstGeom prst="roundRect">
            <a:avLst>
              <a:gd name="adj" fmla="val 16667"/>
            </a:avLst>
          </a:prstGeom>
          <a:solidFill>
            <a:srgbClr val="8A7A6D"/>
          </a:solidFill>
          <a:ln/>
        </p:spPr>
      </p:sp>
      <p:sp>
        <p:nvSpPr>
          <p:cNvPr id="34" name="Text 31"/>
          <p:cNvSpPr txBox="1"/>
          <p:nvPr/>
        </p:nvSpPr>
        <p:spPr>
          <a:xfrm>
            <a:off x="6428232" y="4581144"/>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a:t>
            </a:r>
            <a:endParaRPr lang="en-US" sz="1100" dirty="0"/>
          </a:p>
        </p:txBody>
      </p:sp>
      <p:sp>
        <p:nvSpPr>
          <p:cNvPr id="35" name="Text 32"/>
          <p:cNvSpPr txBox="1"/>
          <p:nvPr/>
        </p:nvSpPr>
        <p:spPr>
          <a:xfrm>
            <a:off x="777240" y="4892040"/>
            <a:ext cx="1920240" cy="274320"/>
          </a:xfrm>
          <a:prstGeom prst="rect">
            <a:avLst/>
          </a:prstGeom>
          <a:noFill/>
          <a:ln/>
        </p:spPr>
        <p:txBody>
          <a:bodyPr wrap="square" lIns="0" tIns="0" rIns="0" bIns="0" rtlCol="0" anchor="ctr"/>
          <a:lstStyle/>
          <a:p>
            <a:pPr algn="r" indent="0" marL="0">
              <a:buNone/>
            </a:pPr>
            <a:r>
              <a:rPr lang="en-US" sz="1100" b="1" dirty="0">
                <a:solidFill>
                  <a:srgbClr val="2E2119"/>
                </a:solidFill>
                <a:latin typeface="Calibri" pitchFamily="34" charset="0"/>
                <a:ea typeface="Calibri" pitchFamily="34" charset="-122"/>
                <a:cs typeface="Calibri" pitchFamily="34" charset="-120"/>
              </a:rPr>
              <a:t>Una app específica</a:t>
            </a:r>
            <a:endParaRPr lang="en-US" sz="1100" dirty="0"/>
          </a:p>
        </p:txBody>
      </p:sp>
      <p:sp>
        <p:nvSpPr>
          <p:cNvPr id="36" name="Shape 33"/>
          <p:cNvSpPr/>
          <p:nvPr/>
        </p:nvSpPr>
        <p:spPr>
          <a:xfrm>
            <a:off x="2788920" y="4919472"/>
            <a:ext cx="3566160" cy="219456"/>
          </a:xfrm>
          <a:prstGeom prst="roundRect">
            <a:avLst>
              <a:gd name="adj" fmla="val 16667"/>
            </a:avLst>
          </a:prstGeom>
          <a:solidFill>
            <a:srgbClr val="E7DCCB"/>
          </a:solidFill>
          <a:ln/>
        </p:spPr>
      </p:sp>
      <p:sp>
        <p:nvSpPr>
          <p:cNvPr id="37" name="Text 34"/>
          <p:cNvSpPr txBox="1"/>
          <p:nvPr/>
        </p:nvSpPr>
        <p:spPr>
          <a:xfrm>
            <a:off x="6428232" y="4892040"/>
            <a:ext cx="411480" cy="274320"/>
          </a:xfrm>
          <a:prstGeom prst="rect">
            <a:avLst/>
          </a:prstGeom>
          <a:noFill/>
          <a:ln/>
        </p:spPr>
        <p:txBody>
          <a:bodyPr wrap="square" lIns="0" tIns="0" rIns="0" bIns="0" rtlCol="0" anchor="ctr"/>
          <a:lstStyle/>
          <a:p>
            <a:pPr algn="l" indent="0" marL="0">
              <a:buNone/>
            </a:pPr>
            <a:r>
              <a:rPr lang="en-US" sz="1100" b="1" dirty="0">
                <a:solidFill>
                  <a:srgbClr val="C9682B"/>
                </a:solidFill>
                <a:latin typeface="Calibri" pitchFamily="34" charset="0"/>
                <a:ea typeface="Calibri" pitchFamily="34" charset="-122"/>
                <a:cs typeface="Calibri" pitchFamily="34" charset="-120"/>
              </a:rPr>
              <a:t>0</a:t>
            </a:r>
            <a:endParaRPr lang="en-US" sz="1100" dirty="0"/>
          </a:p>
        </p:txBody>
      </p:sp>
      <p:sp>
        <p:nvSpPr>
          <p:cNvPr id="38" name="Text 35"/>
          <p:cNvSpPr txBox="1"/>
          <p:nvPr/>
        </p:nvSpPr>
        <p:spPr>
          <a:xfrm>
            <a:off x="777240" y="5248656"/>
            <a:ext cx="6035040" cy="256032"/>
          </a:xfrm>
          <a:prstGeom prst="rect">
            <a:avLst/>
          </a:prstGeom>
          <a:noFill/>
          <a:ln/>
        </p:spPr>
        <p:txBody>
          <a:bodyPr wrap="square" lIns="0" tIns="0" rIns="0" bIns="0" rtlCol="0" anchor="ctr"/>
          <a:lstStyle/>
          <a:p>
            <a:pPr indent="0" marL="0">
              <a:buNone/>
            </a:pPr>
            <a:r>
              <a:rPr lang="en-US" sz="950" i="1" dirty="0">
                <a:solidFill>
                  <a:srgbClr val="C9682B"/>
                </a:solidFill>
                <a:latin typeface="Calibri" pitchFamily="34" charset="0"/>
                <a:ea typeface="Calibri" pitchFamily="34" charset="-122"/>
                <a:cs typeface="Calibri" pitchFamily="34" charset="-120"/>
              </a:rPr>
              <a:t>↑ 3 personas la probaron alguna vez (Pregunta 7) — pero 0/35 la usa hoy: la abandonaron</a:t>
            </a:r>
            <a:endParaRPr lang="en-US" sz="950" dirty="0"/>
          </a:p>
        </p:txBody>
      </p:sp>
      <p:sp>
        <p:nvSpPr>
          <p:cNvPr id="39" name="Shape 36"/>
          <p:cNvSpPr/>
          <p:nvPr/>
        </p:nvSpPr>
        <p:spPr>
          <a:xfrm>
            <a:off x="7223760" y="3108960"/>
            <a:ext cx="4389120" cy="2148840"/>
          </a:xfrm>
          <a:prstGeom prst="roundRect">
            <a:avLst>
              <a:gd name="adj" fmla="val 5106"/>
            </a:avLst>
          </a:prstGeom>
          <a:solidFill>
            <a:srgbClr val="F6E9D8"/>
          </a:solidFill>
          <a:ln w="12700">
            <a:solidFill>
              <a:srgbClr val="C9682B"/>
            </a:solidFill>
            <a:prstDash val="solid"/>
          </a:ln>
        </p:spPr>
      </p:sp>
      <p:sp>
        <p:nvSpPr>
          <p:cNvPr id="40" name="Text 37"/>
          <p:cNvSpPr txBox="1"/>
          <p:nvPr/>
        </p:nvSpPr>
        <p:spPr>
          <a:xfrm>
            <a:off x="7452360" y="3246120"/>
            <a:ext cx="3931920" cy="1874520"/>
          </a:xfrm>
          <a:prstGeom prst="rect">
            <a:avLst/>
          </a:prstGeom>
          <a:noFill/>
          <a:ln/>
        </p:spPr>
        <p:txBody>
          <a:bodyPr wrap="square" lIns="0" tIns="0" rIns="0" bIns="0" rtlCol="0" anchor="t"/>
          <a:lstStyle/>
          <a:p>
            <a:pPr indent="0" marL="0">
              <a:spcAft>
                <a:spcPts val="600"/>
              </a:spcAft>
              <a:buNone/>
            </a:pPr>
            <a:r>
              <a:rPr lang="en-US" sz="1100" b="1" dirty="0">
                <a:solidFill>
                  <a:srgbClr val="C9682B"/>
                </a:solidFill>
                <a:latin typeface="Calibri" pitchFamily="34" charset="0"/>
                <a:ea typeface="Calibri" pitchFamily="34" charset="-122"/>
                <a:cs typeface="Calibri" pitchFamily="34" charset="-120"/>
              </a:rPr>
              <a:t>Las apps no son el problema — la retención sí.  </a:t>
            </a:r>
            <a:endParaRPr lang="en-US" sz="1100" dirty="0"/>
          </a:p>
          <a:p>
            <a:pPr indent="0" marL="0">
              <a:buNone/>
            </a:pPr>
            <a:r>
              <a:rPr lang="en-US" sz="1100" dirty="0">
                <a:solidFill>
                  <a:srgbClr val="2E2119"/>
                </a:solidFill>
                <a:latin typeface="Calibri" pitchFamily="34" charset="0"/>
                <a:ea typeface="Calibri" pitchFamily="34" charset="-122"/>
                <a:cs typeface="Calibri" pitchFamily="34" charset="-120"/>
              </a:rPr>
              <a:t>Bring! y AnyList llevan años disponibles y son razonablemente buenas (estado del arte). 3 de 35 personas confirman haberlas probado — pero ninguna las usa hoy. Dos de ellas probaron Bring! y lo dejaron por motivos distintos: una por falta de cooperación de sus compañeros, otra "porque me acaba dando pereza usarla". El hueco no está en construir "una app más" — está en resolver por qué las que existen no retienen ni a quien sí las prueba.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Las quejas espontáneas confirman el mismo patrón</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Pregunta 9 (abierta): "¿Qué es lo que más te frustra de gestionar la compra o la nevera?" — nadie vio el prototipo antes de responder.</a:t>
            </a:r>
            <a:endParaRPr lang="en-US" sz="1000" dirty="0"/>
          </a:p>
        </p:txBody>
      </p:sp>
      <p:sp>
        <p:nvSpPr>
          <p:cNvPr id="7" name="Shape 4"/>
          <p:cNvSpPr/>
          <p:nvPr/>
        </p:nvSpPr>
        <p:spPr>
          <a:xfrm>
            <a:off x="548640" y="1508760"/>
            <a:ext cx="5532120" cy="4160520"/>
          </a:xfrm>
          <a:prstGeom prst="roundRect">
            <a:avLst>
              <a:gd name="adj" fmla="val 2637"/>
            </a:avLst>
          </a:prstGeom>
          <a:solidFill>
            <a:srgbClr val="F4E9DA"/>
          </a:solidFill>
          <a:ln/>
          <a:effectLst>
            <a:outerShdw sx="100000" sy="100000" kx="0" ky="0" algn="bl" rotWithShape="0" blurRad="76200" dist="25400" dir="5400000">
              <a:srgbClr val="000000">
                <a:alpha val="12000"/>
              </a:srgbClr>
            </a:outerShdw>
          </a:effectLst>
        </p:spPr>
      </p:sp>
      <p:sp>
        <p:nvSpPr>
          <p:cNvPr id="8" name="Text 5"/>
          <p:cNvSpPr txBox="1"/>
          <p:nvPr/>
        </p:nvSpPr>
        <p:spPr>
          <a:xfrm>
            <a:off x="777240" y="1645920"/>
            <a:ext cx="5074920" cy="274320"/>
          </a:xfrm>
          <a:prstGeom prst="rect">
            <a:avLst/>
          </a:prstGeom>
          <a:noFill/>
          <a:ln/>
        </p:spPr>
        <p:txBody>
          <a:bodyPr wrap="square" lIns="0" tIns="0" rIns="0" bIns="0" rtlCol="0" anchor="ctr"/>
          <a:lstStyle/>
          <a:p>
            <a:pPr indent="0" marL="0">
              <a:buNone/>
            </a:pPr>
            <a:r>
              <a:rPr lang="en-US" sz="1200" b="1" spc="150" kern="0" dirty="0">
                <a:solidFill>
                  <a:srgbClr val="C9682B"/>
                </a:solidFill>
                <a:latin typeface="Calibri" pitchFamily="34" charset="0"/>
                <a:ea typeface="Calibri" pitchFamily="34" charset="-122"/>
                <a:cs typeface="Calibri" pitchFamily="34" charset="-120"/>
              </a:rPr>
              <a:t>FALTA DE COOPERACIÓN</a:t>
            </a:r>
            <a:endParaRPr lang="en-US" sz="1200" dirty="0"/>
          </a:p>
        </p:txBody>
      </p:sp>
      <p:sp>
        <p:nvSpPr>
          <p:cNvPr id="9" name="Text 6"/>
          <p:cNvSpPr txBox="1"/>
          <p:nvPr/>
        </p:nvSpPr>
        <p:spPr>
          <a:xfrm>
            <a:off x="777240" y="1901952"/>
            <a:ext cx="5074920" cy="274320"/>
          </a:xfrm>
          <a:prstGeom prst="rect">
            <a:avLst/>
          </a:prstGeom>
          <a:noFill/>
          <a:ln/>
        </p:spPr>
        <p:txBody>
          <a:bodyPr wrap="square" lIns="0" tIns="0" rIns="0" bIns="0" rtlCol="0" anchor="ctr"/>
          <a:lstStyle/>
          <a:p>
            <a:pPr indent="0" marL="0">
              <a:buNone/>
            </a:pPr>
            <a:r>
              <a:rPr lang="en-US" sz="1050" i="1" dirty="0">
                <a:solidFill>
                  <a:srgbClr val="8A7A6D"/>
                </a:solidFill>
                <a:latin typeface="Calibri" pitchFamily="34" charset="0"/>
                <a:ea typeface="Calibri" pitchFamily="34" charset="-122"/>
                <a:cs typeface="Calibri" pitchFamily="34" charset="-120"/>
              </a:rPr>
              <a:t>8 de 35 personas (23%) — el tema más repetido, sin que se les preguntara</a:t>
            </a:r>
            <a:endParaRPr lang="en-US" sz="1050" dirty="0"/>
          </a:p>
        </p:txBody>
      </p:sp>
      <p:sp>
        <p:nvSpPr>
          <p:cNvPr id="10" name="Text 7"/>
          <p:cNvSpPr txBox="1"/>
          <p:nvPr/>
        </p:nvSpPr>
        <p:spPr>
          <a:xfrm>
            <a:off x="822960" y="2286000"/>
            <a:ext cx="5029200" cy="3291840"/>
          </a:xfrm>
          <a:prstGeom prst="rect">
            <a:avLst/>
          </a:prstGeom>
          <a:noFill/>
          <a:ln/>
        </p:spPr>
        <p:txBody>
          <a:bodyPr wrap="square" lIns="0" tIns="0" rIns="0" bIns="0" rtlCol="0" anchor="t"/>
          <a:lstStyle/>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"I don’t know who bought what"</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"Not knowing what the others want, the others eating my stuff" / "People eating my food"</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"When people use the food I planned to use in a meal for myself... so I have to use something else"</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"Not knowing if someone bought something just for themself" / dudar en comprar algo "y que se lo coma otra persona"</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"Que compran cosas que no quiero"</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"Cada vez una compra una cosa, lo complicado es llevar la cuenta de quién compró qué antes"</a:t>
            </a:r>
            <a:endParaRPr lang="en-US" sz="1000" dirty="0"/>
          </a:p>
        </p:txBody>
      </p:sp>
      <p:sp>
        <p:nvSpPr>
          <p:cNvPr id="11" name="Shape 8"/>
          <p:cNvSpPr/>
          <p:nvPr/>
        </p:nvSpPr>
        <p:spPr>
          <a:xfrm>
            <a:off x="6263640" y="1508760"/>
            <a:ext cx="5349240" cy="4160520"/>
          </a:xfrm>
          <a:prstGeom prst="roundRect">
            <a:avLst>
              <a:gd name="adj" fmla="val 2637"/>
            </a:avLst>
          </a:prstGeom>
          <a:solidFill>
            <a:srgbClr val="EDE6DC"/>
          </a:solidFill>
          <a:ln/>
          <a:effectLst>
            <a:outerShdw sx="100000" sy="100000" kx="0" ky="0" algn="bl" rotWithShape="0" blurRad="76200" dist="25400" dir="5400000">
              <a:srgbClr val="000000">
                <a:alpha val="12000"/>
              </a:srgbClr>
            </a:outerShdw>
          </a:effectLst>
        </p:spPr>
      </p:sp>
      <p:sp>
        <p:nvSpPr>
          <p:cNvPr id="12" name="Text 9"/>
          <p:cNvSpPr txBox="1"/>
          <p:nvPr/>
        </p:nvSpPr>
        <p:spPr>
          <a:xfrm>
            <a:off x="6492240" y="1645920"/>
            <a:ext cx="4892040" cy="274320"/>
          </a:xfrm>
          <a:prstGeom prst="rect">
            <a:avLst/>
          </a:prstGeom>
          <a:noFill/>
          <a:ln/>
        </p:spPr>
        <p:txBody>
          <a:bodyPr wrap="square" lIns="0" tIns="0" rIns="0" bIns="0" rtlCol="0" anchor="ctr"/>
          <a:lstStyle/>
          <a:p>
            <a:pPr indent="0" marL="0">
              <a:buNone/>
            </a:pPr>
            <a:r>
              <a:rPr lang="en-US" sz="1200" b="1" spc="150" kern="0" dirty="0">
                <a:solidFill>
                  <a:srgbClr val="C9682B"/>
                </a:solidFill>
                <a:latin typeface="Calibri" pitchFamily="34" charset="0"/>
                <a:ea typeface="Calibri" pitchFamily="34" charset="-122"/>
                <a:cs typeface="Calibri" pitchFamily="34" charset="-120"/>
              </a:rPr>
              <a:t>FALTA DE TRACKER DE GASTOS</a:t>
            </a:r>
            <a:endParaRPr lang="en-US" sz="1200" dirty="0"/>
          </a:p>
        </p:txBody>
      </p:sp>
      <p:sp>
        <p:nvSpPr>
          <p:cNvPr id="13" name="Text 10"/>
          <p:cNvSpPr txBox="1"/>
          <p:nvPr/>
        </p:nvSpPr>
        <p:spPr>
          <a:xfrm>
            <a:off x="6492240" y="1901952"/>
            <a:ext cx="4892040" cy="384048"/>
          </a:xfrm>
          <a:prstGeom prst="rect">
            <a:avLst/>
          </a:prstGeom>
          <a:noFill/>
          <a:ln/>
        </p:spPr>
        <p:txBody>
          <a:bodyPr wrap="square" lIns="0" tIns="0" rIns="0" bIns="0" rtlCol="0" anchor="ctr"/>
          <a:lstStyle/>
          <a:p>
            <a:pPr indent="0" marL="0">
              <a:buNone/>
            </a:pPr>
            <a:r>
              <a:rPr lang="en-US" sz="1050" i="1" dirty="0">
                <a:solidFill>
                  <a:srgbClr val="8A7A6D"/>
                </a:solidFill>
                <a:latin typeface="Calibri" pitchFamily="34" charset="0"/>
                <a:ea typeface="Calibri" pitchFamily="34" charset="-122"/>
                <a:cs typeface="Calibri" pitchFamily="34" charset="-120"/>
              </a:rPr>
              <a:t>3 menciones espontáneas + 12/35 (34%) dice en la Pregunta 8 que no llevan cuenta</a:t>
            </a:r>
            <a:endParaRPr lang="en-US" sz="1050" dirty="0"/>
          </a:p>
        </p:txBody>
      </p:sp>
      <p:sp>
        <p:nvSpPr>
          <p:cNvPr id="14" name="Text 11"/>
          <p:cNvSpPr txBox="1"/>
          <p:nvPr/>
        </p:nvSpPr>
        <p:spPr>
          <a:xfrm>
            <a:off x="6537960" y="2331720"/>
            <a:ext cx="4846320" cy="1737360"/>
          </a:xfrm>
          <a:prstGeom prst="rect">
            <a:avLst/>
          </a:prstGeom>
          <a:noFill/>
          <a:ln/>
        </p:spPr>
        <p:txBody>
          <a:bodyPr wrap="square" lIns="0" tIns="0" rIns="0" bIns="0" rtlCol="0" anchor="t"/>
          <a:lstStyle/>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"I don’t know who bought what" — también aquí: no saber quién pagó qué</a:t>
            </a:r>
            <a:endParaRPr lang="en-US" sz="1100" dirty="0"/>
          </a:p>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"Que la gente no participe a la hora de hacer la compra o que tarden en pagar cuando dividimos gastos"</a:t>
            </a:r>
            <a:endParaRPr lang="en-US" sz="1100" dirty="0"/>
          </a:p>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"Llevar la cuenta de quién compró qué antes" — también dual, coop + gasto</a:t>
            </a:r>
            <a:endParaRPr lang="en-US" sz="1100" dirty="0"/>
          </a:p>
        </p:txBody>
      </p:sp>
      <p:sp>
        <p:nvSpPr>
          <p:cNvPr id="15" name="Shape 12"/>
          <p:cNvSpPr/>
          <p:nvPr/>
        </p:nvSpPr>
        <p:spPr>
          <a:xfrm>
            <a:off x="6492240" y="4160520"/>
            <a:ext cx="4892040" cy="1371600"/>
          </a:xfrm>
          <a:prstGeom prst="roundRect">
            <a:avLst>
              <a:gd name="adj" fmla="val 6667"/>
            </a:avLst>
          </a:prstGeom>
          <a:solidFill>
            <a:srgbClr val="2E2119"/>
          </a:solidFill>
          <a:ln/>
        </p:spPr>
      </p:sp>
      <p:sp>
        <p:nvSpPr>
          <p:cNvPr id="16" name="Text 13"/>
          <p:cNvSpPr txBox="1"/>
          <p:nvPr/>
        </p:nvSpPr>
        <p:spPr>
          <a:xfrm>
            <a:off x="6720840" y="4279392"/>
            <a:ext cx="4480560" cy="1143000"/>
          </a:xfrm>
          <a:prstGeom prst="rect">
            <a:avLst/>
          </a:prstGeom>
          <a:noFill/>
          <a:ln/>
        </p:spPr>
        <p:txBody>
          <a:bodyPr wrap="square" lIns="0" tIns="0" rIns="0" bIns="0" rtlCol="0" anchor="t"/>
          <a:lstStyle/>
          <a:p>
            <a:pPr indent="0" marL="0">
              <a:spcAft>
                <a:spcPts val="400"/>
              </a:spcAft>
              <a:buNone/>
            </a:pPr>
            <a:r>
              <a:rPr lang="en-US" sz="1100" b="1" dirty="0">
                <a:solidFill>
                  <a:srgbClr val="D9A441"/>
                </a:solidFill>
                <a:latin typeface="Calibri" pitchFamily="34" charset="0"/>
                <a:ea typeface="Calibri" pitchFamily="34" charset="-122"/>
                <a:cs typeface="Calibri" pitchFamily="34" charset="-120"/>
              </a:rPr>
              <a:t>Esto es exactamente History:  </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quién compró qué y quién debe a quién, resuelto sin depender de que alguien lo recuerde o lo apunte a mano.</a:t>
            </a:r>
            <a:endParaRPr lang="en-US" sz="1100" dirty="0"/>
          </a:p>
        </p:txBody>
      </p:sp>
      <p:sp>
        <p:nvSpPr>
          <p:cNvPr id="17" name="Shape 14"/>
          <p:cNvSpPr/>
          <p:nvPr/>
        </p:nvSpPr>
        <p:spPr>
          <a:xfrm>
            <a:off x="548640" y="5806440"/>
            <a:ext cx="11064240" cy="777240"/>
          </a:xfrm>
          <a:prstGeom prst="roundRect">
            <a:avLst>
              <a:gd name="adj" fmla="val 11765"/>
            </a:avLst>
          </a:prstGeom>
          <a:solidFill>
            <a:srgbClr val="F6E9D8"/>
          </a:solidFill>
          <a:ln w="12700">
            <a:solidFill>
              <a:srgbClr val="C9682B"/>
            </a:solidFill>
            <a:prstDash val="solid"/>
          </a:ln>
        </p:spPr>
      </p:sp>
      <p:sp>
        <p:nvSpPr>
          <p:cNvPr id="18" name="Text 15"/>
          <p:cNvSpPr txBox="1"/>
          <p:nvPr/>
        </p:nvSpPr>
        <p:spPr>
          <a:xfrm>
            <a:off x="777240" y="5806440"/>
            <a:ext cx="10607040" cy="777240"/>
          </a:xfrm>
          <a:prstGeom prst="rect">
            <a:avLst/>
          </a:prstGeom>
          <a:noFill/>
          <a:ln/>
        </p:spPr>
        <p:txBody>
          <a:bodyPr wrap="square" lIns="0" tIns="0" rIns="0" bIns="0" rtlCol="0" anchor="ctr"/>
          <a:lstStyle/>
          <a:p>
            <a:pPr indent="0" marL="0">
              <a:buNone/>
            </a:pPr>
            <a:r>
              <a:rPr lang="en-US" sz="1100" b="1" dirty="0">
                <a:solidFill>
                  <a:srgbClr val="C9682B"/>
                </a:solidFill>
                <a:latin typeface="Calibri" pitchFamily="34" charset="0"/>
                <a:ea typeface="Calibri" pitchFamily="34" charset="-122"/>
                <a:cs typeface="Calibri" pitchFamily="34" charset="-120"/>
              </a:rPr>
              <a:t>Ya resuelto en P1, gratis:  </a:t>
            </a:r>
            <a:pPr indent="0" marL="0">
              <a:buNone/>
            </a:pPr>
            <a:r>
              <a:rPr lang="en-US" sz="1100" dirty="0">
                <a:solidFill>
                  <a:srgbClr val="2E2119"/>
                </a:solidFill>
                <a:latin typeface="Calibri" pitchFamily="34" charset="0"/>
                <a:ea typeface="Calibri" pitchFamily="34" charset="-122"/>
                <a:cs typeface="Calibri" pitchFamily="34" charset="-120"/>
              </a:rPr>
              <a:t>"Pois supoño que cando algo se acabe ninguén avise" — se resuelve solo con que Fridge sea una vista compartida: marcar "se acabó" ya avisa a todo el piso, sin lógica extra ni contar unidades.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3</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Estudio de mercado — A Coruña</a:t>
            </a:r>
            <a:endParaRPr lang="en-US" sz="2800" dirty="0"/>
          </a:p>
        </p:txBody>
      </p:sp>
      <p:sp>
        <p:nvSpPr>
          <p:cNvPr id="6" name="Shape 3"/>
          <p:cNvSpPr/>
          <p:nvPr/>
        </p:nvSpPr>
        <p:spPr>
          <a:xfrm>
            <a:off x="548640" y="1463040"/>
            <a:ext cx="3566160" cy="2468880"/>
          </a:xfrm>
          <a:prstGeom prst="roundRect">
            <a:avLst>
              <a:gd name="adj" fmla="val 4444"/>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MERCADO TOTAL</a:t>
            </a:r>
            <a:endParaRPr lang="en-US" sz="1100" dirty="0"/>
          </a:p>
        </p:txBody>
      </p:sp>
      <p:sp>
        <p:nvSpPr>
          <p:cNvPr id="8" name="Text 5"/>
          <p:cNvSpPr txBox="1"/>
          <p:nvPr/>
        </p:nvSpPr>
        <p:spPr>
          <a:xfrm>
            <a:off x="777240" y="2011680"/>
            <a:ext cx="3108960" cy="1005840"/>
          </a:xfrm>
          <a:prstGeom prst="rect">
            <a:avLst/>
          </a:prstGeom>
          <a:noFill/>
          <a:ln/>
        </p:spPr>
        <p:txBody>
          <a:bodyPr wrap="square" lIns="0" tIns="0" rIns="0" bIns="0" rtlCol="0" anchor="ctr"/>
          <a:lstStyle/>
          <a:p>
            <a:pPr indent="0" marL="0">
              <a:buNone/>
            </a:pPr>
            <a:r>
              <a:rPr lang="en-US" sz="2000" b="1" dirty="0">
                <a:solidFill>
                  <a:srgbClr val="2E2119"/>
                </a:solidFill>
                <a:latin typeface="Cambria" pitchFamily="34" charset="0"/>
                <a:ea typeface="Cambria" pitchFamily="34" charset="-122"/>
                <a:cs typeface="Cambria" pitchFamily="34" charset="-120"/>
              </a:rPr>
              <a:t>Hogares de</a:t>
            </a:r>
            <a:endParaRPr lang="en-US" sz="2000" dirty="0"/>
          </a:p>
          <a:p>
            <a:pPr indent="0" marL="0">
              <a:buNone/>
            </a:pPr>
            <a:r>
              <a:rPr lang="en-US" sz="2000" b="1" dirty="0">
                <a:solidFill>
                  <a:srgbClr val="2E2119"/>
                </a:solidFill>
                <a:latin typeface="Cambria" pitchFamily="34" charset="0"/>
                <a:ea typeface="Cambria" pitchFamily="34" charset="-122"/>
                <a:cs typeface="Cambria" pitchFamily="34" charset="-120"/>
              </a:rPr>
              <a:t>España 2+ pers.</a:t>
            </a:r>
            <a:endParaRPr lang="en-US" sz="2000" dirty="0"/>
          </a:p>
        </p:txBody>
      </p:sp>
      <p:sp>
        <p:nvSpPr>
          <p:cNvPr id="9" name="Text 6"/>
          <p:cNvSpPr txBox="1"/>
          <p:nvPr/>
        </p:nvSpPr>
        <p:spPr>
          <a:xfrm>
            <a:off x="777240" y="3063240"/>
            <a:ext cx="3108960" cy="777240"/>
          </a:xfrm>
          <a:prstGeom prst="rect">
            <a:avLst/>
          </a:prstGeom>
          <a:noFill/>
          <a:ln/>
        </p:spPr>
        <p:txBody>
          <a:bodyPr wrap="square" lIns="0" tIns="0" rIns="0" bIns="0" rtlCol="0" anchor="t"/>
          <a:lstStyle/>
          <a:p>
            <a:pPr indent="0" marL="0">
              <a:buNone/>
            </a:pPr>
            <a:r>
              <a:rPr lang="en-US" sz="1050" dirty="0">
                <a:solidFill>
                  <a:srgbClr val="8A7A6D"/>
                </a:solidFill>
                <a:latin typeface="Calibri" pitchFamily="34" charset="0"/>
                <a:ea typeface="Calibri" pitchFamily="34" charset="-122"/>
                <a:cs typeface="Calibri" pitchFamily="34" charset="-120"/>
              </a:rPr>
              <a:t>Tamaño medio 2,50 pers./hogar (INE 2023)</a:t>
            </a:r>
            <a:endParaRPr lang="en-US" sz="1050" dirty="0"/>
          </a:p>
        </p:txBody>
      </p:sp>
      <p:sp>
        <p:nvSpPr>
          <p:cNvPr id="10" name="Shape 7"/>
          <p:cNvSpPr/>
          <p:nvPr/>
        </p:nvSpPr>
        <p:spPr>
          <a:xfrm>
            <a:off x="4297680" y="1463040"/>
            <a:ext cx="3566160" cy="2468880"/>
          </a:xfrm>
          <a:prstGeom prst="roundRect">
            <a:avLst>
              <a:gd name="adj" fmla="val 4444"/>
            </a:avLst>
          </a:prstGeom>
          <a:solidFill>
            <a:srgbClr val="2E2119"/>
          </a:solidFill>
          <a:ln/>
          <a:effectLst>
            <a:outerShdw sx="100000" sy="100000" kx="0" ky="0" algn="bl" rotWithShape="0" blurRad="76200" dist="25400" dir="5400000">
              <a:srgbClr val="000000">
                <a:alpha val="12000"/>
              </a:srgbClr>
            </a:outerShdw>
          </a:effectLst>
        </p:spPr>
      </p:sp>
      <p:sp>
        <p:nvSpPr>
          <p:cNvPr id="11" name="Text 8"/>
          <p:cNvSpPr txBox="1"/>
          <p:nvPr/>
        </p:nvSpPr>
        <p:spPr>
          <a:xfrm>
            <a:off x="4526280" y="1645920"/>
            <a:ext cx="3108960" cy="320040"/>
          </a:xfrm>
          <a:prstGeom prst="rect">
            <a:avLst/>
          </a:prstGeom>
          <a:noFill/>
          <a:ln/>
        </p:spPr>
        <p:txBody>
          <a:bodyPr wrap="square" lIns="0" tIns="0" rIns="0" bIns="0" rtlCol="0" anchor="ctr"/>
          <a:lstStyle/>
          <a:p>
            <a:pPr indent="0" marL="0">
              <a:buNone/>
            </a:pPr>
            <a:r>
              <a:rPr lang="en-US" sz="1100" b="1" spc="100" kern="0" dirty="0">
                <a:solidFill>
                  <a:srgbClr val="D9A441"/>
                </a:solidFill>
                <a:latin typeface="Calibri" pitchFamily="34" charset="0"/>
                <a:ea typeface="Calibri" pitchFamily="34" charset="-122"/>
                <a:cs typeface="Calibri" pitchFamily="34" charset="-120"/>
              </a:rPr>
              <a:t>MERCADO ACCESIBLE</a:t>
            </a:r>
            <a:endParaRPr lang="en-US" sz="1100" dirty="0"/>
          </a:p>
        </p:txBody>
      </p:sp>
      <p:sp>
        <p:nvSpPr>
          <p:cNvPr id="12" name="Text 9"/>
          <p:cNvSpPr txBox="1"/>
          <p:nvPr/>
        </p:nvSpPr>
        <p:spPr>
          <a:xfrm>
            <a:off x="4526280" y="2011680"/>
            <a:ext cx="310896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 99.700</a:t>
            </a:r>
            <a:endParaRPr lang="en-US" sz="3400" dirty="0"/>
          </a:p>
        </p:txBody>
      </p:sp>
      <p:sp>
        <p:nvSpPr>
          <p:cNvPr id="13" name="Text 10"/>
          <p:cNvSpPr txBox="1"/>
          <p:nvPr/>
        </p:nvSpPr>
        <p:spPr>
          <a:xfrm>
            <a:off x="4526280" y="3063240"/>
            <a:ext cx="3108960" cy="777240"/>
          </a:xfrm>
          <a:prstGeom prst="rect">
            <a:avLst/>
          </a:prstGeom>
          <a:noFill/>
          <a:ln/>
        </p:spPr>
        <p:txBody>
          <a:bodyPr wrap="square" lIns="0" tIns="0" rIns="0" bIns="0" rtlCol="0" anchor="t"/>
          <a:lstStyle/>
          <a:p>
            <a:pPr indent="0" marL="0">
              <a:buNone/>
            </a:pPr>
            <a:r>
              <a:rPr lang="en-US" sz="1050" dirty="0">
                <a:solidFill>
                  <a:srgbClr val="D8CBBE"/>
                </a:solidFill>
                <a:latin typeface="Calibri" pitchFamily="34" charset="0"/>
                <a:ea typeface="Calibri" pitchFamily="34" charset="-122"/>
                <a:cs typeface="Calibri" pitchFamily="34" charset="-120"/>
              </a:rPr>
              <a:t>249.261 hab. ÷ 2,50 pers./hogar (INE/IGE 2024)</a:t>
            </a:r>
            <a:endParaRPr lang="en-US" sz="1050" dirty="0"/>
          </a:p>
        </p:txBody>
      </p:sp>
      <p:sp>
        <p:nvSpPr>
          <p:cNvPr id="14" name="Shape 11"/>
          <p:cNvSpPr/>
          <p:nvPr/>
        </p:nvSpPr>
        <p:spPr>
          <a:xfrm>
            <a:off x="8046720" y="1463040"/>
            <a:ext cx="3566160" cy="2468880"/>
          </a:xfrm>
          <a:prstGeom prst="roundRect">
            <a:avLst>
              <a:gd name="adj" fmla="val 4444"/>
            </a:avLst>
          </a:prstGeom>
          <a:solidFill>
            <a:srgbClr val="F4E9DA"/>
          </a:solidFill>
          <a:ln/>
          <a:effectLst>
            <a:outerShdw sx="100000" sy="100000" kx="0" ky="0" algn="bl" rotWithShape="0" blurRad="76200" dist="25400" dir="5400000">
              <a:srgbClr val="000000">
                <a:alpha val="12000"/>
              </a:srgbClr>
            </a:outerShdw>
          </a:effectLst>
        </p:spPr>
      </p:sp>
      <p:sp>
        <p:nvSpPr>
          <p:cNvPr id="15" name="Text 12"/>
          <p:cNvSpPr txBox="1"/>
          <p:nvPr/>
        </p:nvSpPr>
        <p:spPr>
          <a:xfrm>
            <a:off x="827532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MERCADO OBJETIVO</a:t>
            </a:r>
            <a:endParaRPr lang="en-US" sz="1100" dirty="0"/>
          </a:p>
        </p:txBody>
      </p:sp>
      <p:sp>
        <p:nvSpPr>
          <p:cNvPr id="16" name="Text 13"/>
          <p:cNvSpPr txBox="1"/>
          <p:nvPr/>
        </p:nvSpPr>
        <p:spPr>
          <a:xfrm>
            <a:off x="8275320" y="2011680"/>
            <a:ext cx="3108960" cy="1005840"/>
          </a:xfrm>
          <a:prstGeom prst="rect">
            <a:avLst/>
          </a:prstGeom>
          <a:noFill/>
          <a:ln/>
        </p:spPr>
        <p:txBody>
          <a:bodyPr wrap="square" lIns="0" tIns="0" rIns="0" bIns="0" rtlCol="0" anchor="ctr"/>
          <a:lstStyle/>
          <a:p>
            <a:pPr indent="0" marL="0">
              <a:buNone/>
            </a:pPr>
            <a:r>
              <a:rPr lang="en-US" sz="3400" b="1" dirty="0">
                <a:solidFill>
                  <a:srgbClr val="2E2119"/>
                </a:solidFill>
                <a:latin typeface="Cambria" pitchFamily="34" charset="0"/>
                <a:ea typeface="Cambria" pitchFamily="34" charset="-122"/>
                <a:cs typeface="Cambria" pitchFamily="34" charset="-120"/>
              </a:rPr>
              <a:t>≈ 99.700</a:t>
            </a:r>
            <a:endParaRPr lang="en-US" sz="3400" dirty="0"/>
          </a:p>
        </p:txBody>
      </p:sp>
      <p:sp>
        <p:nvSpPr>
          <p:cNvPr id="17" name="Text 14"/>
          <p:cNvSpPr txBox="1"/>
          <p:nvPr/>
        </p:nvSpPr>
        <p:spPr>
          <a:xfrm>
            <a:off x="8275320" y="3063240"/>
            <a:ext cx="3108960" cy="777240"/>
          </a:xfrm>
          <a:prstGeom prst="rect">
            <a:avLst/>
          </a:prstGeom>
          <a:noFill/>
          <a:ln/>
        </p:spPr>
        <p:txBody>
          <a:bodyPr wrap="square" lIns="0" tIns="0" rIns="0" bIns="0" rtlCol="0" anchor="t"/>
          <a:lstStyle/>
          <a:p>
            <a:pPr indent="0" marL="0">
              <a:buNone/>
            </a:pPr>
            <a:r>
              <a:rPr lang="en-US" sz="1050" dirty="0">
                <a:solidFill>
                  <a:srgbClr val="8A7A6D"/>
                </a:solidFill>
                <a:latin typeface="Calibri" pitchFamily="34" charset="0"/>
                <a:ea typeface="Calibri" pitchFamily="34" charset="-122"/>
                <a:cs typeface="Calibri" pitchFamily="34" charset="-120"/>
              </a:rPr>
              <a:t>Coincide con el accesible — ver nota abajo</a:t>
            </a:r>
            <a:endParaRPr lang="en-US" sz="1050" dirty="0"/>
          </a:p>
        </p:txBody>
      </p:sp>
      <p:sp>
        <p:nvSpPr>
          <p:cNvPr id="18" name="Shape 15"/>
          <p:cNvSpPr/>
          <p:nvPr/>
        </p:nvSpPr>
        <p:spPr>
          <a:xfrm>
            <a:off x="548640" y="4160520"/>
            <a:ext cx="11064240" cy="1965960"/>
          </a:xfrm>
          <a:prstGeom prst="roundRect">
            <a:avLst>
              <a:gd name="adj" fmla="val 4651"/>
            </a:avLst>
          </a:prstGeom>
          <a:solidFill>
            <a:srgbClr val="F6E9D8"/>
          </a:solidFill>
          <a:ln w="12700">
            <a:solidFill>
              <a:srgbClr val="C9682B"/>
            </a:solidFill>
            <a:prstDash val="solid"/>
          </a:ln>
        </p:spPr>
      </p:sp>
      <p:sp>
        <p:nvSpPr>
          <p:cNvPr id="19" name="Text 16"/>
          <p:cNvSpPr txBox="1"/>
          <p:nvPr/>
        </p:nvSpPr>
        <p:spPr>
          <a:xfrm>
            <a:off x="777240" y="4279392"/>
            <a:ext cx="10607040" cy="1737360"/>
          </a:xfrm>
          <a:prstGeom prst="rect">
            <a:avLst/>
          </a:prstGeom>
          <a:noFill/>
          <a:ln/>
        </p:spPr>
        <p:txBody>
          <a:bodyPr wrap="square" lIns="0" tIns="0" rIns="0" bIns="0" rtlCol="0" anchor="t"/>
          <a:lstStyle/>
          <a:p>
            <a:pPr indent="0" marL="0">
              <a:buNone/>
            </a:pPr>
            <a:r>
              <a:rPr lang="en-US" sz="1200" b="1" dirty="0">
                <a:solidFill>
                  <a:srgbClr val="C9682B"/>
                </a:solidFill>
                <a:latin typeface="Calibri" pitchFamily="34" charset="0"/>
                <a:ea typeface="Calibri" pitchFamily="34" charset="-122"/>
                <a:cs typeface="Calibri" pitchFamily="34" charset="-120"/>
              </a:rPr>
              <a:t>Nota honesta sobre la búsqueda:  </a:t>
            </a:r>
            <a:endParaRPr lang="en-US" sz="1200" dirty="0"/>
          </a:p>
          <a:p>
            <a:pPr indent="0" marL="0">
              <a:spcAft>
                <a:spcPts val="600"/>
              </a:spcAft>
              <a:buNone/>
            </a:pPr>
            <a:r>
              <a:rPr lang="en-US" sz="1200" dirty="0">
                <a:solidFill>
                  <a:srgbClr val="2E2119"/>
                </a:solidFill>
                <a:latin typeface="Calibri" pitchFamily="34" charset="0"/>
                <a:ea typeface="Calibri" pitchFamily="34" charset="-122"/>
                <a:cs typeface="Calibri" pitchFamily="34" charset="-120"/>
              </a:rPr>
              <a:t>no se encontró un desglose público fiable de "hogares no familiares/parejas sin hijos" a nivel de A Coruña — es un resultado válido en sí mismo, no un dato inventado.</a:t>
            </a:r>
            <a:endParaRPr lang="en-US" sz="1200" dirty="0"/>
          </a:p>
          <a:p>
            <a:pPr indent="0" marL="0">
              <a:buNone/>
            </a:pPr>
            <a:r>
              <a:rPr lang="en-US" sz="1200" b="1" dirty="0">
                <a:solidFill>
                  <a:srgbClr val="C9682B"/>
                </a:solidFill>
                <a:latin typeface="Calibri" pitchFamily="34" charset="0"/>
                <a:ea typeface="Calibri" pitchFamily="34" charset="-122"/>
                <a:cs typeface="Calibri" pitchFamily="34" charset="-120"/>
              </a:rPr>
              <a:t>Suelo verificable:  </a:t>
            </a:r>
            <a:endParaRPr lang="en-US" sz="1200" dirty="0"/>
          </a:p>
          <a:p>
            <a:pPr indent="0" marL="0">
              <a:buNone/>
            </a:pPr>
            <a:r>
              <a:rPr lang="en-US" sz="1200" dirty="0">
                <a:solidFill>
                  <a:srgbClr val="2E2119"/>
                </a:solidFill>
                <a:latin typeface="Calibri" pitchFamily="34" charset="0"/>
                <a:ea typeface="Calibri" pitchFamily="34" charset="-122"/>
                <a:cs typeface="Calibri" pitchFamily="34" charset="-120"/>
              </a:rPr>
              <a:t>≈ 650 pisos de estudiantes en A Coruña (UDC &gt;13.300 matriculados · 31% cambia de ciudad · 55% comparte piso — Fundación CYD).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4</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servilleta de 6 casillas</a:t>
            </a:r>
            <a:endParaRPr lang="en-US" sz="2800" dirty="0"/>
          </a:p>
        </p:txBody>
      </p:sp>
      <p:sp>
        <p:nvSpPr>
          <p:cNvPr id="6" name="Shape 3"/>
          <p:cNvSpPr/>
          <p:nvPr/>
        </p:nvSpPr>
        <p:spPr>
          <a:xfrm>
            <a:off x="54864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VENDEMOS</a:t>
            </a:r>
            <a:endParaRPr lang="en-US" sz="1000" dirty="0"/>
          </a:p>
        </p:txBody>
      </p:sp>
      <p:sp>
        <p:nvSpPr>
          <p:cNvPr id="8" name="Text 5"/>
          <p:cNvSpPr txBox="1"/>
          <p:nvPr/>
        </p:nvSpPr>
        <p:spPr>
          <a:xfrm>
            <a:off x="73152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Nada — no es un producto de pago, es una herramienta gratuita</a:t>
            </a:r>
            <a:endParaRPr lang="en-US" sz="1150" dirty="0"/>
          </a:p>
        </p:txBody>
      </p:sp>
      <p:sp>
        <p:nvSpPr>
          <p:cNvPr id="9" name="Shape 6"/>
          <p:cNvSpPr/>
          <p:nvPr/>
        </p:nvSpPr>
        <p:spPr>
          <a:xfrm>
            <a:off x="429768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0" name="Text 7"/>
          <p:cNvSpPr txBox="1"/>
          <p:nvPr/>
        </p:nvSpPr>
        <p:spPr>
          <a:xfrm>
            <a:off x="448056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 QUIÉN</a:t>
            </a:r>
            <a:endParaRPr lang="en-US" sz="1000" dirty="0"/>
          </a:p>
        </p:txBody>
      </p:sp>
      <p:sp>
        <p:nvSpPr>
          <p:cNvPr id="11" name="Text 8"/>
          <p:cNvSpPr txBox="1"/>
          <p:nvPr/>
        </p:nvSpPr>
        <p:spPr>
          <a:xfrm>
            <a:off x="448056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Estudiantes que comparten piso en A Coruña</a:t>
            </a:r>
            <a:endParaRPr lang="en-US" sz="1150" dirty="0"/>
          </a:p>
        </p:txBody>
      </p:sp>
      <p:sp>
        <p:nvSpPr>
          <p:cNvPr id="12" name="Shape 9"/>
          <p:cNvSpPr/>
          <p:nvPr/>
        </p:nvSpPr>
        <p:spPr>
          <a:xfrm>
            <a:off x="804672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 CUÁNTO</a:t>
            </a:r>
            <a:endParaRPr lang="en-US" sz="1000" dirty="0"/>
          </a:p>
        </p:txBody>
      </p:sp>
      <p:sp>
        <p:nvSpPr>
          <p:cNvPr id="14" name="Text 11"/>
          <p:cNvSpPr txBox="1"/>
          <p:nvPr/>
        </p:nvSpPr>
        <p:spPr>
          <a:xfrm>
            <a:off x="822960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0 € — no se cobra nada</a:t>
            </a:r>
            <a:endParaRPr lang="en-US" sz="1150" dirty="0"/>
          </a:p>
        </p:txBody>
      </p:sp>
      <p:sp>
        <p:nvSpPr>
          <p:cNvPr id="15" name="Shape 12"/>
          <p:cNvSpPr/>
          <p:nvPr/>
        </p:nvSpPr>
        <p:spPr>
          <a:xfrm>
            <a:off x="54864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6" name="Text 13"/>
          <p:cNvSpPr txBox="1"/>
          <p:nvPr/>
        </p:nvSpPr>
        <p:spPr>
          <a:xfrm>
            <a:off x="73152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NOS CUESTA</a:t>
            </a:r>
            <a:endParaRPr lang="en-US" sz="1000" dirty="0"/>
          </a:p>
        </p:txBody>
      </p:sp>
      <p:sp>
        <p:nvSpPr>
          <p:cNvPr id="17" name="Text 14"/>
          <p:cNvSpPr txBox="1"/>
          <p:nvPr/>
        </p:nvSpPr>
        <p:spPr>
          <a:xfrm>
            <a:off x="73152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Coste fijo: 0 € (niveles gratuitos de todo el stack). Variable: 0 €</a:t>
            </a:r>
            <a:endParaRPr lang="en-US" sz="1150" dirty="0"/>
          </a:p>
        </p:txBody>
      </p:sp>
      <p:sp>
        <p:nvSpPr>
          <p:cNvPr id="18" name="Shape 15"/>
          <p:cNvSpPr/>
          <p:nvPr/>
        </p:nvSpPr>
        <p:spPr>
          <a:xfrm>
            <a:off x="429768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9" name="Text 16"/>
          <p:cNvSpPr txBox="1"/>
          <p:nvPr/>
        </p:nvSpPr>
        <p:spPr>
          <a:xfrm>
            <a:off x="448056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CUÁNTOS HACEN FALTA</a:t>
            </a:r>
            <a:endParaRPr lang="en-US" sz="1000" dirty="0"/>
          </a:p>
        </p:txBody>
      </p:sp>
      <p:sp>
        <p:nvSpPr>
          <p:cNvPr id="20" name="Text 17"/>
          <p:cNvSpPr txBox="1"/>
          <p:nvPr/>
        </p:nvSpPr>
        <p:spPr>
          <a:xfrm>
            <a:off x="448056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No aplica — no hay ingresos que equilibrar</a:t>
            </a:r>
            <a:endParaRPr lang="en-US" sz="1150" dirty="0"/>
          </a:p>
        </p:txBody>
      </p:sp>
      <p:sp>
        <p:nvSpPr>
          <p:cNvPr id="21" name="Shape 18"/>
          <p:cNvSpPr/>
          <p:nvPr/>
        </p:nvSpPr>
        <p:spPr>
          <a:xfrm>
            <a:off x="804672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22" name="Text 19"/>
          <p:cNvSpPr txBox="1"/>
          <p:nvPr/>
        </p:nvSpPr>
        <p:spPr>
          <a:xfrm>
            <a:off x="822960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CUÁNTOS HAY</a:t>
            </a:r>
            <a:endParaRPr lang="en-US" sz="1000" dirty="0"/>
          </a:p>
        </p:txBody>
      </p:sp>
      <p:sp>
        <p:nvSpPr>
          <p:cNvPr id="23" name="Text 20"/>
          <p:cNvSpPr txBox="1"/>
          <p:nvPr/>
        </p:nvSpPr>
        <p:spPr>
          <a:xfrm>
            <a:off x="822960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 650 pisos de estudiantes (suelo verificable)</a:t>
            </a:r>
            <a:endParaRPr lang="en-US" sz="1150" dirty="0"/>
          </a:p>
        </p:txBody>
      </p:sp>
      <p:sp>
        <p:nvSpPr>
          <p:cNvPr id="24" name="Shape 21"/>
          <p:cNvSpPr/>
          <p:nvPr/>
        </p:nvSpPr>
        <p:spPr>
          <a:xfrm>
            <a:off x="548640" y="3657600"/>
            <a:ext cx="5349240" cy="1417320"/>
          </a:xfrm>
          <a:prstGeom prst="roundRect">
            <a:avLst>
              <a:gd name="adj" fmla="val 7742"/>
            </a:avLst>
          </a:prstGeom>
          <a:solidFill>
            <a:srgbClr val="2E2119"/>
          </a:solidFill>
          <a:ln/>
        </p:spPr>
      </p:sp>
      <p:sp>
        <p:nvSpPr>
          <p:cNvPr id="25" name="Text 22"/>
          <p:cNvSpPr txBox="1"/>
          <p:nvPr/>
        </p:nvSpPr>
        <p:spPr>
          <a:xfrm>
            <a:off x="548640" y="3767328"/>
            <a:ext cx="5349240" cy="685800"/>
          </a:xfrm>
          <a:prstGeom prst="rect">
            <a:avLst/>
          </a:prstGeom>
          <a:noFill/>
          <a:ln/>
        </p:spPr>
        <p:txBody>
          <a:bodyPr wrap="square" lIns="0" tIns="0" rIns="0" bIns="0" rtlCol="0" anchor="ctr"/>
          <a:lstStyle/>
          <a:p>
            <a:pPr algn="ctr" indent="0" marL="0">
              <a:buNone/>
            </a:pPr>
            <a:r>
              <a:rPr lang="en-US" sz="3400" b="1" dirty="0">
                <a:solidFill>
                  <a:srgbClr val="D9A441"/>
                </a:solidFill>
                <a:latin typeface="Cambria" pitchFamily="34" charset="0"/>
                <a:ea typeface="Cambria" pitchFamily="34" charset="-122"/>
                <a:cs typeface="Cambria" pitchFamily="34" charset="-120"/>
              </a:rPr>
              <a:t>0 €</a:t>
            </a:r>
            <a:endParaRPr lang="en-US" sz="3400" dirty="0"/>
          </a:p>
        </p:txBody>
      </p:sp>
      <p:sp>
        <p:nvSpPr>
          <p:cNvPr id="26" name="Text 23"/>
          <p:cNvSpPr txBox="1"/>
          <p:nvPr/>
        </p:nvSpPr>
        <p:spPr>
          <a:xfrm>
            <a:off x="777240" y="4434840"/>
            <a:ext cx="4892040" cy="502920"/>
          </a:xfrm>
          <a:prstGeom prst="rect">
            <a:avLst/>
          </a:prstGeom>
          <a:no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sin monetización — el objetivo es adopción real, no ingresos</a:t>
            </a:r>
            <a:endParaRPr lang="en-US" sz="1150" dirty="0"/>
          </a:p>
        </p:txBody>
      </p:sp>
      <p:sp>
        <p:nvSpPr>
          <p:cNvPr id="27" name="Shape 24"/>
          <p:cNvSpPr/>
          <p:nvPr/>
        </p:nvSpPr>
        <p:spPr>
          <a:xfrm>
            <a:off x="6035040" y="3657600"/>
            <a:ext cx="5577840" cy="1417320"/>
          </a:xfrm>
          <a:prstGeom prst="roundRect">
            <a:avLst>
              <a:gd name="adj" fmla="val 6452"/>
            </a:avLst>
          </a:prstGeom>
          <a:solidFill>
            <a:srgbClr val="F6E9D8"/>
          </a:solidFill>
          <a:ln w="12700">
            <a:solidFill>
              <a:srgbClr val="C9682B"/>
            </a:solidFill>
            <a:prstDash val="solid"/>
          </a:ln>
        </p:spPr>
      </p:sp>
      <p:sp>
        <p:nvSpPr>
          <p:cNvPr id="28" name="Text 25"/>
          <p:cNvSpPr txBox="1"/>
          <p:nvPr/>
        </p:nvSpPr>
        <p:spPr>
          <a:xfrm>
            <a:off x="6263640" y="3767328"/>
            <a:ext cx="5120640" cy="1188720"/>
          </a:xfrm>
          <a:prstGeom prst="rect">
            <a:avLst/>
          </a:prstGeom>
          <a:noFill/>
          <a:ln/>
        </p:spPr>
        <p:txBody>
          <a:bodyPr wrap="square" lIns="0" tIns="0" rIns="0" bIns="0" rtlCol="0" anchor="ctr"/>
          <a:lstStyle/>
          <a:p>
            <a:pPr indent="0" marL="0">
              <a:buNone/>
            </a:pPr>
            <a:r>
              <a:rPr lang="en-US" sz="1150" i="1" dirty="0">
                <a:solidFill>
                  <a:srgbClr val="2E2119"/>
                </a:solidFill>
                <a:latin typeface="Calibri" pitchFamily="34" charset="0"/>
                <a:ea typeface="Calibri" pitchFamily="34" charset="-122"/>
                <a:cs typeface="Calibri" pitchFamily="34" charset="-120"/>
              </a:rPr>
              <a:t>Lectura honesta: el backend en Render "duerme" sin uso. Sigue habiendo un reto, pero ya no es económico — es conseguir que la gente use algo nuevo en vez de seguir con WhatsApp o papel, que ya conocen.</a:t>
            </a:r>
            <a:endParaRPr lang="en-US" sz="1150" dirty="0"/>
          </a:p>
        </p:txBody>
      </p:sp>
      <p:sp>
        <p:nvSpPr>
          <p:cNvPr id="29" name="Text 26"/>
          <p:cNvSpPr txBox="1"/>
          <p:nvPr/>
        </p:nvSpPr>
        <p:spPr>
          <a:xfrm>
            <a:off x="548640" y="5349240"/>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Decisión explícita (17/09): no se cobra nada a quien use la app, ni se adelanta dinero propio en hosting — coste fijo 0€, siempre.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5</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Las 3 columnas del alcance</a:t>
            </a:r>
            <a:endParaRPr lang="en-US" sz="2800" dirty="0"/>
          </a:p>
        </p:txBody>
      </p:sp>
      <p:sp>
        <p:nvSpPr>
          <p:cNvPr id="6" name="Shape 3"/>
          <p:cNvSpPr/>
          <p:nvPr/>
        </p:nvSpPr>
        <p:spPr>
          <a:xfrm>
            <a:off x="548640" y="1417320"/>
            <a:ext cx="3611880" cy="3246120"/>
          </a:xfrm>
          <a:prstGeom prst="roundRect">
            <a:avLst>
              <a:gd name="adj" fmla="val 3380"/>
            </a:avLst>
          </a:prstGeom>
          <a:solidFill>
            <a:srgbClr val="F6E4D3"/>
          </a:solidFill>
          <a:ln/>
          <a:effectLst>
            <a:outerShdw sx="100000" sy="100000" kx="0" ky="0" algn="bl" rotWithShape="0" blurRad="76200" dist="25400" dir="5400000">
              <a:srgbClr val="000000">
                <a:alpha val="12000"/>
              </a:srgbClr>
            </a:outerShdw>
          </a:effectLst>
        </p:spPr>
      </p:sp>
      <p:sp>
        <p:nvSpPr>
          <p:cNvPr id="7" name="Shape 4"/>
          <p:cNvSpPr/>
          <p:nvPr/>
        </p:nvSpPr>
        <p:spPr>
          <a:xfrm>
            <a:off x="731520" y="1600200"/>
            <a:ext cx="3246120" cy="411480"/>
          </a:xfrm>
          <a:prstGeom prst="roundRect">
            <a:avLst>
              <a:gd name="adj" fmla="val 17778"/>
            </a:avLst>
          </a:prstGeom>
          <a:solidFill>
            <a:srgbClr val="C9682B"/>
          </a:solidFill>
          <a:ln/>
        </p:spPr>
      </p:sp>
      <p:sp>
        <p:nvSpPr>
          <p:cNvPr id="8" name="Text 5"/>
          <p:cNvSpPr txBox="1"/>
          <p:nvPr/>
        </p:nvSpPr>
        <p:spPr>
          <a:xfrm>
            <a:off x="73152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construimos</a:t>
            </a:r>
            <a:endParaRPr lang="en-US" sz="1400" dirty="0"/>
          </a:p>
        </p:txBody>
      </p:sp>
      <p:sp>
        <p:nvSpPr>
          <p:cNvPr id="9" name="Text 6"/>
          <p:cNvSpPr txBox="1"/>
          <p:nvPr/>
        </p:nvSpPr>
        <p:spPr>
          <a:xfrm>
            <a:off x="77724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Nevera: 3 estados (bien/queda poco/se acabó), sin cantidades — se rellena sola al comprar</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Lista que se genera sola a partir de la nevera, con concurrencia</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Historial + cálculo de quién debe a quién</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Precios sobre nuestro propio historial de compras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Predicción de reposición (aritmética sobre eventos propios)</a:t>
            </a:r>
            <a:endParaRPr lang="en-US" sz="1000" dirty="0"/>
          </a:p>
        </p:txBody>
      </p:sp>
      <p:sp>
        <p:nvSpPr>
          <p:cNvPr id="10" name="Shape 7"/>
          <p:cNvSpPr/>
          <p:nvPr/>
        </p:nvSpPr>
        <p:spPr>
          <a:xfrm>
            <a:off x="4297680" y="1417320"/>
            <a:ext cx="3611880" cy="3246120"/>
          </a:xfrm>
          <a:prstGeom prst="roundRect">
            <a:avLst>
              <a:gd name="adj" fmla="val 3380"/>
            </a:avLst>
          </a:prstGeom>
          <a:solidFill>
            <a:srgbClr val="F4EFE8"/>
          </a:solidFill>
          <a:ln/>
          <a:effectLst>
            <a:outerShdw sx="100000" sy="100000" kx="0" ky="0" algn="bl" rotWithShape="0" blurRad="76200" dist="25400" dir="5400000">
              <a:srgbClr val="000000">
                <a:alpha val="12000"/>
              </a:srgbClr>
            </a:outerShdw>
          </a:effectLst>
        </p:spPr>
      </p:sp>
      <p:sp>
        <p:nvSpPr>
          <p:cNvPr id="11" name="Shape 8"/>
          <p:cNvSpPr/>
          <p:nvPr/>
        </p:nvSpPr>
        <p:spPr>
          <a:xfrm>
            <a:off x="4480560" y="1600200"/>
            <a:ext cx="3246120" cy="411480"/>
          </a:xfrm>
          <a:prstGeom prst="roundRect">
            <a:avLst>
              <a:gd name="adj" fmla="val 17778"/>
            </a:avLst>
          </a:prstGeom>
          <a:solidFill>
            <a:srgbClr val="D9A441"/>
          </a:solidFill>
          <a:ln/>
        </p:spPr>
      </p:sp>
      <p:sp>
        <p:nvSpPr>
          <p:cNvPr id="12" name="Text 9"/>
          <p:cNvSpPr txBox="1"/>
          <p:nvPr/>
        </p:nvSpPr>
        <p:spPr>
          <a:xfrm>
            <a:off x="448056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hace un servicio externo</a:t>
            </a:r>
            <a:endParaRPr lang="en-US" sz="1400" dirty="0"/>
          </a:p>
        </p:txBody>
      </p:sp>
      <p:sp>
        <p:nvSpPr>
          <p:cNvPr id="13" name="Text 10"/>
          <p:cNvSpPr txBox="1"/>
          <p:nvPr/>
        </p:nvSpPr>
        <p:spPr>
          <a:xfrm>
            <a:off x="452628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Diccionario de productos (Open Food Facts, gratis)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Lectura de tickets → items (Gemini API, free tier — la IA solo se usa aquí)</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Aviso de turno de compra (bot de Telegram, gratis)</a:t>
            </a:r>
            <a:endParaRPr lang="en-US" sz="1000" dirty="0"/>
          </a:p>
        </p:txBody>
      </p:sp>
      <p:sp>
        <p:nvSpPr>
          <p:cNvPr id="14" name="Shape 11"/>
          <p:cNvSpPr/>
          <p:nvPr/>
        </p:nvSpPr>
        <p:spPr>
          <a:xfrm>
            <a:off x="8046720" y="1417320"/>
            <a:ext cx="3611880" cy="3246120"/>
          </a:xfrm>
          <a:prstGeom prst="roundRect">
            <a:avLst>
              <a:gd name="adj" fmla="val 3380"/>
            </a:avLst>
          </a:prstGeom>
          <a:solidFill>
            <a:srgbClr val="F4EFE8"/>
          </a:solidFill>
          <a:ln/>
          <a:effectLst>
            <a:outerShdw sx="100000" sy="100000" kx="0" ky="0" algn="bl" rotWithShape="0" blurRad="76200" dist="25400" dir="5400000">
              <a:srgbClr val="000000">
                <a:alpha val="12000"/>
              </a:srgbClr>
            </a:outerShdw>
          </a:effectLst>
        </p:spPr>
      </p:sp>
      <p:sp>
        <p:nvSpPr>
          <p:cNvPr id="15" name="Shape 12"/>
          <p:cNvSpPr/>
          <p:nvPr/>
        </p:nvSpPr>
        <p:spPr>
          <a:xfrm>
            <a:off x="8229600" y="1600200"/>
            <a:ext cx="3246120" cy="411480"/>
          </a:xfrm>
          <a:prstGeom prst="roundRect">
            <a:avLst>
              <a:gd name="adj" fmla="val 17778"/>
            </a:avLst>
          </a:prstGeom>
          <a:solidFill>
            <a:srgbClr val="8A7A6D"/>
          </a:solidFill>
          <a:ln/>
        </p:spPr>
      </p:sp>
      <p:sp>
        <p:nvSpPr>
          <p:cNvPr id="16" name="Text 13"/>
          <p:cNvSpPr txBox="1"/>
          <p:nvPr/>
        </p:nvSpPr>
        <p:spPr>
          <a:xfrm>
            <a:off x="822960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 se hace este curso</a:t>
            </a:r>
            <a:endParaRPr lang="en-US" sz="1400" dirty="0"/>
          </a:p>
        </p:txBody>
      </p:sp>
      <p:sp>
        <p:nvSpPr>
          <p:cNvPr id="17" name="Text 14"/>
          <p:cNvSpPr txBox="1"/>
          <p:nvPr/>
        </p:nvSpPr>
        <p:spPr>
          <a:xfrm>
            <a:off x="827532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Escaneo de código de barras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Cobro real con tarjeta</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Notificaciones push nativas (Telegram es la excepción)</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Liquidar deudas de verdad</a:t>
            </a:r>
            <a:endParaRPr lang="en-US" sz="1000" dirty="0"/>
          </a:p>
        </p:txBody>
      </p:sp>
      <p:sp>
        <p:nvSpPr>
          <p:cNvPr id="18" name="Shape 15"/>
          <p:cNvSpPr/>
          <p:nvPr/>
        </p:nvSpPr>
        <p:spPr>
          <a:xfrm>
            <a:off x="548640" y="4846320"/>
            <a:ext cx="11064240" cy="1417320"/>
          </a:xfrm>
          <a:prstGeom prst="roundRect">
            <a:avLst>
              <a:gd name="adj" fmla="val 7742"/>
            </a:avLst>
          </a:prstGeom>
          <a:solidFill>
            <a:srgbClr val="2E2119"/>
          </a:solidFill>
          <a:ln/>
        </p:spPr>
      </p:sp>
      <p:sp>
        <p:nvSpPr>
          <p:cNvPr id="19" name="Text 16"/>
          <p:cNvSpPr txBox="1"/>
          <p:nvPr/>
        </p:nvSpPr>
        <p:spPr>
          <a:xfrm>
            <a:off x="868680" y="4956048"/>
            <a:ext cx="10424160" cy="914400"/>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"Un hogar de A Coruña deja de escribir la lista de la compra: la nevera se rellena sola al comprar, avisa cuando algo se acaba, y la lista sale de ahí. El grupo se entera por Telegram, marca la compra en tiempo real, y consulta después quién debe qué y dónde sale más barato cada cosa."</a:t>
            </a:r>
            <a:endParaRPr lang="en-US" sz="1250" dirty="0"/>
          </a:p>
        </p:txBody>
      </p:sp>
      <p:sp>
        <p:nvSpPr>
          <p:cNvPr id="20" name="Text 17"/>
          <p:cNvSpPr txBox="1"/>
          <p:nvPr/>
        </p:nvSpPr>
        <p:spPr>
          <a:xfrm>
            <a:off x="868680" y="5852160"/>
            <a:ext cx="10424160" cy="320040"/>
          </a:xfrm>
          <a:prstGeom prst="rect">
            <a:avLst/>
          </a:prstGeom>
          <a:noFill/>
          <a:ln/>
        </p:spPr>
        <p:txBody>
          <a:bodyPr wrap="square" lIns="0" tIns="0" rIns="0" bIns="0" rtlCol="0" anchor="ctr"/>
          <a:lstStyle/>
          <a:p>
            <a:pPr indent="0" marL="0">
              <a:buNone/>
            </a:pPr>
            <a:r>
              <a:rPr lang="en-US" sz="1100" dirty="0">
                <a:solidFill>
                  <a:srgbClr val="D8CBBE"/>
                </a:solidFill>
                <a:latin typeface="Calibri" pitchFamily="34" charset="0"/>
                <a:ea typeface="Calibri" pitchFamily="34" charset="-122"/>
                <a:cs typeface="Calibri" pitchFamily="34" charset="-120"/>
              </a:rPr>
              <a:t>Orden de construcción: Nevera → Lista (concurrencia) → Historial → Precios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6</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Documento de una página</a:t>
            </a:r>
            <a:endParaRPr lang="en-US" sz="2800" dirty="0"/>
          </a:p>
        </p:txBody>
      </p:sp>
      <p:sp>
        <p:nvSpPr>
          <p:cNvPr id="6" name="Shape 3"/>
          <p:cNvSpPr/>
          <p:nvPr/>
        </p:nvSpPr>
        <p:spPr>
          <a:xfrm>
            <a:off x="548640" y="1417320"/>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NOMBRE Y MENSAJE</a:t>
            </a:r>
            <a:endParaRPr lang="en-US" sz="1000" dirty="0"/>
          </a:p>
        </p:txBody>
      </p:sp>
      <p:sp>
        <p:nvSpPr>
          <p:cNvPr id="8" name="Text 5"/>
          <p:cNvSpPr txBox="1"/>
          <p:nvPr/>
        </p:nvSpPr>
        <p:spPr>
          <a:xfrm>
            <a:off x="731520" y="1728216"/>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Larder — la lista de la compra se genera sola a partir de lo que hay en la nevera de tu piso compartido.</a:t>
            </a:r>
            <a:endParaRPr lang="en-US" sz="1100" dirty="0"/>
          </a:p>
        </p:txBody>
      </p:sp>
      <p:sp>
        <p:nvSpPr>
          <p:cNvPr id="9" name="Shape 6"/>
          <p:cNvSpPr/>
          <p:nvPr/>
        </p:nvSpPr>
        <p:spPr>
          <a:xfrm>
            <a:off x="6172200" y="1417320"/>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10" name="Text 7"/>
          <p:cNvSpPr txBox="1"/>
          <p:nvPr/>
        </p:nvSpPr>
        <p:spPr>
          <a:xfrm>
            <a:off x="635508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PÚBLICO</a:t>
            </a:r>
            <a:endParaRPr lang="en-US" sz="1000" dirty="0"/>
          </a:p>
        </p:txBody>
      </p:sp>
      <p:sp>
        <p:nvSpPr>
          <p:cNvPr id="11" name="Text 8"/>
          <p:cNvSpPr txBox="1"/>
          <p:nvPr/>
        </p:nvSpPr>
        <p:spPr>
          <a:xfrm>
            <a:off x="6355080" y="1728216"/>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Estudiantes que comparten piso en A Coruña. ≈650 pisos como suelo verificable.</a:t>
            </a:r>
            <a:endParaRPr lang="en-US" sz="1100" dirty="0"/>
          </a:p>
        </p:txBody>
      </p:sp>
      <p:sp>
        <p:nvSpPr>
          <p:cNvPr id="12" name="Shape 9"/>
          <p:cNvSpPr/>
          <p:nvPr/>
        </p:nvSpPr>
        <p:spPr>
          <a:xfrm>
            <a:off x="548640" y="2432304"/>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73152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PROBLEMA</a:t>
            </a:r>
            <a:endParaRPr lang="en-US" sz="1000" dirty="0"/>
          </a:p>
        </p:txBody>
      </p:sp>
      <p:sp>
        <p:nvSpPr>
          <p:cNvPr id="14" name="Text 11"/>
          <p:cNvSpPr txBox="1"/>
          <p:nvPr/>
        </p:nvSpPr>
        <p:spPr>
          <a:xfrm>
            <a:off x="731520" y="2743200"/>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10-15 min/lista a ojo, 1-2 viajes/semana sin plan, 260-520€/año perdidos.</a:t>
            </a:r>
            <a:endParaRPr lang="en-US" sz="1100" dirty="0"/>
          </a:p>
        </p:txBody>
      </p:sp>
      <p:sp>
        <p:nvSpPr>
          <p:cNvPr id="15" name="Shape 12"/>
          <p:cNvSpPr/>
          <p:nvPr/>
        </p:nvSpPr>
        <p:spPr>
          <a:xfrm>
            <a:off x="6172200" y="2432304"/>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16" name="Text 13"/>
          <p:cNvSpPr txBox="1"/>
          <p:nvPr/>
        </p:nvSpPr>
        <p:spPr>
          <a:xfrm>
            <a:off x="635508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NÚMEROS</a:t>
            </a:r>
            <a:endParaRPr lang="en-US" sz="1000" dirty="0"/>
          </a:p>
        </p:txBody>
      </p:sp>
      <p:sp>
        <p:nvSpPr>
          <p:cNvPr id="17" name="Text 14"/>
          <p:cNvSpPr txBox="1"/>
          <p:nvPr/>
        </p:nvSpPr>
        <p:spPr>
          <a:xfrm>
            <a:off x="6355080" y="2743200"/>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0€, sin monetización · coste fijo 0€ · éxito = adopción, no ingresos.</a:t>
            </a:r>
            <a:endParaRPr lang="en-US" sz="1100" dirty="0"/>
          </a:p>
        </p:txBody>
      </p:sp>
      <p:sp>
        <p:nvSpPr>
          <p:cNvPr id="18" name="Shape 15"/>
          <p:cNvSpPr/>
          <p:nvPr/>
        </p:nvSpPr>
        <p:spPr>
          <a:xfrm>
            <a:off x="548640" y="3447288"/>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19" name="Text 16"/>
          <p:cNvSpPr txBox="1"/>
          <p:nvPr/>
        </p:nvSpPr>
        <p:spPr>
          <a:xfrm>
            <a:off x="73152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ALCANCE</a:t>
            </a:r>
            <a:endParaRPr lang="en-US" sz="1000" dirty="0"/>
          </a:p>
        </p:txBody>
      </p:sp>
      <p:sp>
        <p:nvSpPr>
          <p:cNvPr id="20" name="Text 17"/>
          <p:cNvSpPr txBox="1"/>
          <p:nvPr/>
        </p:nvSpPr>
        <p:spPr>
          <a:xfrm>
            <a:off x="731520" y="3758184"/>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Nevera (sin cantidades) + Lista que se genera sola + Historial + Precios sobre nuestro propio historial + lectura de tickets y predicción. Cobro real, fuera de alcance.</a:t>
            </a:r>
            <a:endParaRPr lang="en-US" sz="1100" dirty="0"/>
          </a:p>
        </p:txBody>
      </p:sp>
      <p:sp>
        <p:nvSpPr>
          <p:cNvPr id="21" name="Shape 18"/>
          <p:cNvSpPr/>
          <p:nvPr/>
        </p:nvSpPr>
        <p:spPr>
          <a:xfrm>
            <a:off x="6172200" y="3447288"/>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22" name="Text 19"/>
          <p:cNvSpPr txBox="1"/>
          <p:nvPr/>
        </p:nvSpPr>
        <p:spPr>
          <a:xfrm>
            <a:off x="635508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CANAL</a:t>
            </a:r>
            <a:endParaRPr lang="en-US" sz="1000" dirty="0"/>
          </a:p>
        </p:txBody>
      </p:sp>
      <p:sp>
        <p:nvSpPr>
          <p:cNvPr id="23" name="Text 20"/>
          <p:cNvSpPr txBox="1"/>
          <p:nvPr/>
        </p:nvSpPr>
        <p:spPr>
          <a:xfrm>
            <a:off x="6355080" y="3758184"/>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Directo: el propio hogar es el primer usuario real.</a:t>
            </a:r>
            <a:endParaRPr lang="en-US" sz="1100" dirty="0"/>
          </a:p>
        </p:txBody>
      </p:sp>
      <p:sp>
        <p:nvSpPr>
          <p:cNvPr id="24" name="Shape 21"/>
          <p:cNvSpPr/>
          <p:nvPr/>
        </p:nvSpPr>
        <p:spPr>
          <a:xfrm>
            <a:off x="548640" y="4462272"/>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25" name="Text 22"/>
          <p:cNvSpPr txBox="1"/>
          <p:nvPr/>
        </p:nvSpPr>
        <p:spPr>
          <a:xfrm>
            <a:off x="731520" y="4535424"/>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NO HAREMOS</a:t>
            </a:r>
            <a:endParaRPr lang="en-US" sz="1000" dirty="0"/>
          </a:p>
        </p:txBody>
      </p:sp>
      <p:sp>
        <p:nvSpPr>
          <p:cNvPr id="26" name="Text 23"/>
          <p:cNvSpPr txBox="1"/>
          <p:nvPr/>
        </p:nvSpPr>
        <p:spPr>
          <a:xfrm>
            <a:off x="731520" y="4773168"/>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Código de barras, cobro con tarjeta, notificaciones push nativas (Telegram es la excepción), liquidar deudas de verdad.</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E2119"/>
        </a:solidFill>
      </p:bgPr>
    </p:bg>
    <p:spTree>
      <p:nvGrpSpPr>
        <p:cNvPr id="1" name=""/>
        <p:cNvGrpSpPr/>
        <p:nvPr/>
      </p:nvGrpSpPr>
      <p:grpSpPr>
        <a:xfrm>
          <a:off x="0" y="0"/>
          <a:ext cx="0" cy="0"/>
          <a:chOff x="0" y="0"/>
          <a:chExt cx="0" cy="0"/>
        </a:xfrm>
      </p:grpSpPr>
      <p:sp>
        <p:nvSpPr>
          <p:cNvPr id="2" name="Shape 0"/>
          <p:cNvSpPr/>
          <p:nvPr/>
        </p:nvSpPr>
        <p:spPr>
          <a:xfrm>
            <a:off x="822960" y="731520"/>
            <a:ext cx="777240" cy="777240"/>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1009498" y="918058"/>
            <a:ext cx="404165" cy="404165"/>
          </a:xfrm>
          <a:prstGeom prst="rect">
            <a:avLst/>
          </a:prstGeom>
        </p:spPr>
      </p:pic>
      <p:sp>
        <p:nvSpPr>
          <p:cNvPr id="4" name="Text 1"/>
          <p:cNvSpPr txBox="1"/>
          <p:nvPr/>
        </p:nvSpPr>
        <p:spPr>
          <a:xfrm>
            <a:off x="777240" y="1737360"/>
            <a:ext cx="822960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Próximos pasos</a:t>
            </a:r>
            <a:endParaRPr lang="en-US" sz="3800" dirty="0"/>
          </a:p>
        </p:txBody>
      </p:sp>
      <p:sp>
        <p:nvSpPr>
          <p:cNvPr id="5" name="Text 2"/>
          <p:cNvSpPr txBox="1"/>
          <p:nvPr/>
        </p:nvSpPr>
        <p:spPr>
          <a:xfrm>
            <a:off x="822960" y="2697480"/>
            <a:ext cx="9601200" cy="292608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Terminar la pantalla de la Nevera con el nuevo modelo (3 estados, sin cantidades)</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Backend real: Supabase/Neon (Postgres) + Render, sustituyendo el estado local</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Lista de la compra que se genera sola, con concurrencia real</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Lectura de tickets (Gemini API) y aviso de turno de compra (bot de Telegram)</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Historial de gasto y comparador de precios sobre el propio historial de compras</a:t>
            </a:r>
            <a:endParaRPr lang="en-US" sz="1600" dirty="0"/>
          </a:p>
        </p:txBody>
      </p:sp>
      <p:sp>
        <p:nvSpPr>
          <p:cNvPr id="6" name="Shape 3"/>
          <p:cNvSpPr/>
          <p:nvPr/>
        </p:nvSpPr>
        <p:spPr>
          <a:xfrm>
            <a:off x="822960" y="5806440"/>
            <a:ext cx="7772400" cy="640080"/>
          </a:xfrm>
          <a:prstGeom prst="roundRect">
            <a:avLst>
              <a:gd name="adj" fmla="val 11429"/>
            </a:avLst>
          </a:prstGeom>
          <a:solidFill>
            <a:srgbClr val="3D2E23"/>
          </a:solidFill>
          <a:ln/>
        </p:spPr>
      </p:sp>
      <p:sp>
        <p:nvSpPr>
          <p:cNvPr id="7" name="Text 4"/>
          <p:cNvSpPr txBox="1"/>
          <p:nvPr/>
        </p:nvSpPr>
        <p:spPr>
          <a:xfrm>
            <a:off x="1051560" y="5806440"/>
            <a:ext cx="7315200" cy="640080"/>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Entrega viernes: idea validada, con números y decisiones que se pueden defender.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2026-09-17T20:15:13Z</dcterms:created>
  <dcterms:modified xsi:type="dcterms:W3CDTF">2026-09-17T20:15:13Z</dcterms:modified>
</cp:coreProperties>
</file>