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Portada. Larder es el Proyecto Transversal de 2o DAM (P1). Presentar el nombre y encuadrar: es un documento de ideacion, no todavia el producto acabado.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dato de 1.040€/año sale de una estimacion propia (10€ de media perdidos por viaje), no de una fuente externa. Es honesto explicar que la primera cifra que se penso (120€/ano) no cuadraba con las cuentas reales, y se corrigio.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fuente principal ya no es busqueda por IA sino conversaciones reales con estudiantes/gente joven que comparten piso (mismo perfil que el mercado objetivo). AnyList tiene reconocimiento inteligente al escribir y codigo de barras -casi tan rapido como Notas-, pero todo su valor extra apunta a cocinar. La fila de Out of Milk se genero con IA (IA-2) y no se pudo verificar como app real: se documenta la retractacion en vez de ocultarla.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Conclusion del estado del arte: el hueco no es "mas bonita", es rapidez de Notas + colaboracion de Bring + foco en ahorro/stock, que ninguna cubre. Tambien vale mencionar el testimonio propio: en casa se abandono una app similar tras 2 usos por pereza de abrir "otra app".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n=12. Punto clave que pidio Nadia remarcar: la gente no usa apps de listas (0/12), y eso a pesar de que Bring!/AnyList existen y de que "una app especifica" era una opcion de respuesta explicita en la propia pregunta 3 -- nadie la marco. Esto no invalida la idea: valida que el problema no es "falta una app", sino que las que hay no logran adopcion real. Los dos stats de dolor (75% duplico, 75% volvio a la tienda) bajaron un poco respecto a n=11 (82%/73%), como es esperable con muestra pequena -- se anade el dato conjunto (50% sufrio ambas cosas el mismo mes) como refuerzo.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Categorizacion pedida explicitamente: "no se quien compro que" cuenta para AMBAS columnas (coop + tracker de gastos), "no saber que quieren los otros"/"comen mis cosas" es coop puro, "no participan/tardan en pagar" es tracker de gastos puro. El 33% de coop y el 33% de "no llevamos cuenta" en la P8 son numeros independientes que apuntan al mismo sitio: History no es una funcion añadida sin motivo.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amplio el segmento objetivo a estudiantes+parejas+cualquiera que comparta gastos. Al no encontrar un desglose fiable para ese cruce en A Coruña, el mercado objetivo se iguala al accesible, y se documenta honestamente la limitacion de la busqueda.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Coste fijo 0 porque se usa el tier gratuito de Render, sin dominio de pago. Eso hace el punto de equilibrio trivial (1 hogar), pero viene con un coste tecnico real: sleep del servicio y disco efimero para SQLite.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Nadie nos elegiria por construir facturacion o cobro con tarjeta propios; si por como llevamos nevera y lista compartida. Orden de construccion: una pantalla completa antes de abrir la siguiente.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nombre Larder es una palabra inglesa comun (despensa) — revisar en P5 si dificulta encontrarlo en buscadores. De momento se mantiene.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Cierre. Recalcar que lo entregado el viernes es la ideacion completa (docs/ideacion.md), no codigo terminado — eso es correcto para P1 en esta fase.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21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822960" cy="822960"/>
          </a:xfrm>
          <a:prstGeom prst="ellipse">
            <a:avLst/>
          </a:prstGeom>
          <a:solidFill>
            <a:srgbClr val="C9682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0470" y="883310"/>
            <a:ext cx="427939" cy="42793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22860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LARDER</a:t>
            </a:r>
            <a:endParaRPr lang="en-US" sz="6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42900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nevera y la compra de un hogar compartido, sin líos ni WhatsApp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822960" y="5394960"/>
            <a:ext cx="7498080" cy="777240"/>
          </a:xfrm>
          <a:prstGeom prst="roundRect">
            <a:avLst>
              <a:gd name="adj" fmla="val 11765"/>
            </a:avLst>
          </a:prstGeom>
          <a:solidFill>
            <a:srgbClr val="3D2E23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51560" y="548640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Transversal · Sesión 00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8CB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2º DAM  ·  Bloque P1 — Que exista  ·  Documento de ideación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C9682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593263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4389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1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676656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1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frase del dolor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417320"/>
            <a:ext cx="5212080" cy="2286000"/>
          </a:xfrm>
          <a:prstGeom prst="roundRect">
            <a:avLst>
              <a:gd name="adj" fmla="val 4800"/>
            </a:avLst>
          </a:prstGeom>
          <a:solidFill>
            <a:srgbClr val="EDE6DC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7724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7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192024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"En mi casa perdemos tiempo controlando qué queda en la nevera y organizando la compra."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989320" y="1417320"/>
            <a:ext cx="5669280" cy="2286000"/>
          </a:xfrm>
          <a:prstGeom prst="roundRect">
            <a:avLst>
              <a:gd name="adj" fmla="val 4800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21792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DESPUÉS — con datos reales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217920" y="1920240"/>
            <a:ext cx="52120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Iago y Nadia pierden 10-15 min cada vez que hacen la lista a ojo con papel y boli, van a la tienda 2 veces/semana sin planificar, y casi siempre acaban comprando algo duplicado o volviendo por algo olvidado.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48640" y="3977640"/>
            <a:ext cx="4754880" cy="1737360"/>
          </a:xfrm>
          <a:prstGeom prst="roundRect">
            <a:avLst>
              <a:gd name="adj" fmla="val 6316"/>
            </a:avLst>
          </a:prstGeom>
          <a:solidFill>
            <a:srgbClr val="2E211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48640" y="416052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1.040 €</a:t>
            </a:r>
            <a:endParaRPr lang="en-US" sz="440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507492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perdidos al año en compras mal planificadas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532120" y="3977640"/>
            <a:ext cx="6126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calculó:  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10 €/viaje × 2 viajes/semana × 52 semanas ≈ 1.040 €/año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experiencia directa del hogar (Iago, Nadia, Muxia) — dato de primera mano, sin fuente externa.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C9682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593263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4389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2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676656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1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del arte — la competencia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344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7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 principal: conversaciones directas con estudiantes/gente joven — el mismo perfil que el mercado objetivo.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2286000"/>
        </p:xfrm>
        <a:graphic>
          <a:graphicData uri="http://schemas.openxmlformats.org/drawingml/2006/table">
            <a:tbl>
              <a:tblPr/>
              <a:tblGrid>
                <a:gridCol w="1737360"/>
                <a:gridCol w="4480560"/>
                <a:gridCol w="48463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1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 bueno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1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problema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211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1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 y boli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1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Rápido y sencillo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1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pierde fácil; de un solo uso (gasta papel)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1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Notas (móvil)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1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más usada; simple y reusable — "la que mejor funciona"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1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 comparte ni coedita en tiempo real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1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Bring!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1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Colaborativo de verdad, en tiempo real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1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Paso extra al añadir un item; su "Inspiración" no resuelve el caso de uso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1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AnyList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1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Reconoce items al escribir + código de barras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1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Todo el valor apunta a cocinar, no a ahorrar o controlar stock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3977640"/>
            <a:ext cx="11064240" cy="1280160"/>
          </a:xfrm>
          <a:prstGeom prst="roundRect">
            <a:avLst>
              <a:gd name="adj" fmla="val 8571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777240" y="4096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 literal verificada (fuente secundaria)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4370832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"El icono de la aplicación aparece marcado como comprado en el Apple Watch pero no llega a descargarse ni a instalarse."</a:t>
            </a:r>
            <a:endParaRPr lang="en-US" sz="125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486460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7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Reseña real verificada de Bring! Grocery Shopping List, App Store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548640" y="5440680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F6E9D8"/>
          </a:solidFill>
          <a:ln w="12700">
            <a:solidFill>
              <a:srgbClr val="C9682B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77240" y="553212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Corrección honesta:  </a:t>
            </a:r>
            <a:pPr indent="0" marL="0">
              <a:buNone/>
            </a:pPr>
            <a:r>
              <a:rPr lang="en-US" sz="12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tercera app ("Out of Milk") encontrada por búsqueda IA no superó la verificación real y se retiró del análisis, en vez de darse por buena.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C9682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593263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4389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2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676656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1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del arte — el hueco detectado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508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22960" y="1618488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6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posicionamiento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3657600" y="1618488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Bring! ni AnyList apuntan a ahorrar o controlar stock — las dos están construidas para cocinar y planificar recetas.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2697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DE6DC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822960" y="2807208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6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fricción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3657600" y="2807208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Cualquier paso extra sobre "simplemente escribir" hace que la gente vuelva a Notas, la solución más simple.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3886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822960" y="3995928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68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colaboración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657600" y="3995928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que mejor funciona en la práctica (Notas) no se puede compartir ni coeditar en tiempo real.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48640" y="52120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2E2119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68680" y="5330952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hueco real: una herramienta tan rápida de usar como Notas, tan colaborativa como Bring!, y centrada en ahorro y control de stock — el ángulo que nadie cubre.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C9682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593263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4389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2 — VALIDACIÓN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676656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1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encuesta confirma el hueco (n=12)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070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7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Encuesta bilingüe (ES/EN), 9 preguntas sobre hechos del último mes — no opiniones sobre una app futura. 12 respuestas reales recogidas.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508760"/>
            <a:ext cx="3611880" cy="1143000"/>
          </a:xfrm>
          <a:prstGeom prst="roundRect">
            <a:avLst>
              <a:gd name="adj" fmla="val 9600"/>
            </a:avLst>
          </a:prstGeom>
          <a:solidFill>
            <a:srgbClr val="2E2119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31520" y="16002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0/12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130552"/>
            <a:ext cx="3246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8CB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probado alguna app específica de listas — aunque podían elegirla como método (ver abajo)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297680" y="1508760"/>
            <a:ext cx="3611880" cy="1143000"/>
          </a:xfrm>
          <a:prstGeom prst="roundRect">
            <a:avLst>
              <a:gd name="adj" fmla="val 9600"/>
            </a:avLst>
          </a:prstGeom>
          <a:solidFill>
            <a:srgbClr val="2E211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480560" y="16002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4480560" y="2130552"/>
            <a:ext cx="3246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8CB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compró algo duplicado el último mes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8046720" y="1508760"/>
            <a:ext cx="3611880" cy="1143000"/>
          </a:xfrm>
          <a:prstGeom prst="roundRect">
            <a:avLst>
              <a:gd name="adj" fmla="val 9600"/>
            </a:avLst>
          </a:prstGeom>
          <a:solidFill>
            <a:srgbClr val="2E2119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229600" y="16002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75%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0" y="2130552"/>
            <a:ext cx="3246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8CB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tuvo que volver a la tienda por algo olvidado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2724912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7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50% (6 de 12 personas) sufrió ambas cosas — compró duplicado y volvió a la tienda — en el mismo mes.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48640" y="3108960"/>
            <a:ext cx="6492240" cy="2148840"/>
          </a:xfrm>
          <a:prstGeom prst="roundRect">
            <a:avLst>
              <a:gd name="adj" fmla="val 5106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77240" y="324612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3 · ¿Cómo organizáis hoy la lista de la compra?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364845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Papel y boli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788920" y="3675888"/>
            <a:ext cx="3566160" cy="219456"/>
          </a:xfrm>
          <a:prstGeom prst="roundRect">
            <a:avLst>
              <a:gd name="adj" fmla="val 16667"/>
            </a:avLst>
          </a:prstGeom>
          <a:solidFill>
            <a:srgbClr val="E7DCCB"/>
          </a:solidFill>
          <a:ln/>
        </p:spPr>
      </p:sp>
      <p:sp>
        <p:nvSpPr>
          <p:cNvPr id="21" name="Shape 18"/>
          <p:cNvSpPr/>
          <p:nvPr/>
        </p:nvSpPr>
        <p:spPr>
          <a:xfrm>
            <a:off x="2788920" y="3675888"/>
            <a:ext cx="3566160" cy="219456"/>
          </a:xfrm>
          <a:prstGeom prst="roundRect">
            <a:avLst>
              <a:gd name="adj" fmla="val 16667"/>
            </a:avLst>
          </a:prstGeom>
          <a:solidFill>
            <a:srgbClr val="C9682B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28232" y="364845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777240" y="39593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Notas del móvil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2788920" y="3986784"/>
            <a:ext cx="3566160" cy="219456"/>
          </a:xfrm>
          <a:prstGeom prst="roundRect">
            <a:avLst>
              <a:gd name="adj" fmla="val 16667"/>
            </a:avLst>
          </a:prstGeom>
          <a:solidFill>
            <a:srgbClr val="E7DCCB"/>
          </a:solidFill>
          <a:ln/>
        </p:spPr>
      </p:sp>
      <p:sp>
        <p:nvSpPr>
          <p:cNvPr id="25" name="Shape 22"/>
          <p:cNvSpPr/>
          <p:nvPr/>
        </p:nvSpPr>
        <p:spPr>
          <a:xfrm>
            <a:off x="2788920" y="3986784"/>
            <a:ext cx="2852928" cy="219456"/>
          </a:xfrm>
          <a:prstGeom prst="roundRect">
            <a:avLst>
              <a:gd name="adj" fmla="val 16667"/>
            </a:avLst>
          </a:prstGeom>
          <a:solidFill>
            <a:srgbClr val="D9A441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428232" y="39593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777240" y="427024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 / a ojo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2788920" y="4297680"/>
            <a:ext cx="3566160" cy="219456"/>
          </a:xfrm>
          <a:prstGeom prst="roundRect">
            <a:avLst>
              <a:gd name="adj" fmla="val 16667"/>
            </a:avLst>
          </a:prstGeom>
          <a:solidFill>
            <a:srgbClr val="E7DCCB"/>
          </a:solidFill>
          <a:ln/>
        </p:spPr>
      </p:sp>
      <p:sp>
        <p:nvSpPr>
          <p:cNvPr id="29" name="Shape 26"/>
          <p:cNvSpPr/>
          <p:nvPr/>
        </p:nvSpPr>
        <p:spPr>
          <a:xfrm>
            <a:off x="2788920" y="4297680"/>
            <a:ext cx="1426464" cy="219456"/>
          </a:xfrm>
          <a:prstGeom prst="roundRect">
            <a:avLst>
              <a:gd name="adj" fmla="val 16667"/>
            </a:avLst>
          </a:prstGeom>
          <a:solidFill>
            <a:srgbClr val="8A7A6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428232" y="427024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777240" y="458114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de WhatsApp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2788920" y="4608576"/>
            <a:ext cx="3566160" cy="219456"/>
          </a:xfrm>
          <a:prstGeom prst="roundRect">
            <a:avLst>
              <a:gd name="adj" fmla="val 16667"/>
            </a:avLst>
          </a:prstGeom>
          <a:solidFill>
            <a:srgbClr val="E7DCCB"/>
          </a:solidFill>
          <a:ln/>
        </p:spPr>
      </p:sp>
      <p:sp>
        <p:nvSpPr>
          <p:cNvPr id="33" name="Shape 30"/>
          <p:cNvSpPr/>
          <p:nvPr/>
        </p:nvSpPr>
        <p:spPr>
          <a:xfrm>
            <a:off x="2788920" y="4608576"/>
            <a:ext cx="713232" cy="219456"/>
          </a:xfrm>
          <a:prstGeom prst="roundRect">
            <a:avLst>
              <a:gd name="adj" fmla="val 16667"/>
            </a:avLst>
          </a:prstGeom>
          <a:solidFill>
            <a:srgbClr val="8A7A6D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6428232" y="458114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777240" y="48920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app específica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2788920" y="4919472"/>
            <a:ext cx="3566160" cy="219456"/>
          </a:xfrm>
          <a:prstGeom prst="roundRect">
            <a:avLst>
              <a:gd name="adj" fmla="val 16667"/>
            </a:avLst>
          </a:prstGeom>
          <a:solidFill>
            <a:srgbClr val="E7DCCB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6428232" y="489204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777240" y="5248656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opción disponible desde el primer momento — nadie la eligió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7223760" y="3108960"/>
            <a:ext cx="4389120" cy="2148840"/>
          </a:xfrm>
          <a:prstGeom prst="roundRect">
            <a:avLst>
              <a:gd name="adj" fmla="val 5106"/>
            </a:avLst>
          </a:prstGeom>
          <a:solidFill>
            <a:srgbClr val="F6E9D8"/>
          </a:solidFill>
          <a:ln w="12700">
            <a:solidFill>
              <a:srgbClr val="C9682B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452360" y="3246120"/>
            <a:ext cx="39319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50" b="1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apps no son el problema — la adopción sí.  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Bring! y AnyList llevan años disponibles y son razonablemente buenas (estado del arte, diapositiva anterior). Aun así, 0 de 12 personas las ha probado nunca, ni al escoger su método actual. El hueco no está en construir "una app más" — está en resolver por qué ninguna de las que ya existen consigue ni el primer uso.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C9682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593263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4389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2 — VALIDACIÓN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676656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1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quejas espontáneas confirman el mismo patrón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070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7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9 (abierta): "¿Qué es lo que más te frustra de gestionar la compra o la nevera?" — nadie vio el prototipo antes de responder.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508760"/>
            <a:ext cx="5532120" cy="4160520"/>
          </a:xfrm>
          <a:prstGeom prst="roundRect">
            <a:avLst>
              <a:gd name="adj" fmla="val 2637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77240" y="164592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DE COOPERACIÓN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1901952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7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de 12 personas (33%) — sin que se les preguntara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286000"/>
            <a:ext cx="50292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i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don’t know who bought what"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i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"Not knowing what the others want, the others eating my stuff"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i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"When people use the food I planned to use in a meal for myself... so I have to use something else"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i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"Not knowing if someone bought something just for themself"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63640" y="1508760"/>
            <a:ext cx="5349240" cy="4160520"/>
          </a:xfrm>
          <a:prstGeom prst="roundRect">
            <a:avLst>
              <a:gd name="adj" fmla="val 2637"/>
            </a:avLst>
          </a:prstGeom>
          <a:solidFill>
            <a:srgbClr val="EDE6DC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492240" y="164592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DE TRACKER DE GASTOS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492240" y="1901952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7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menciones espontáneas + 4/12 (33%) dice en la Pregunta 8 que no llevan cuenta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6537960" y="233172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i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don’t know who bought what" — también aquí: no saber quién pagó qué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i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"Que la gente no participe a la hora de hacer la compra o que tarden en pagar cuando dividimos gastos"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492240" y="3977640"/>
            <a:ext cx="4892040" cy="1554480"/>
          </a:xfrm>
          <a:prstGeom prst="roundRect">
            <a:avLst>
              <a:gd name="adj" fmla="val 5882"/>
            </a:avLst>
          </a:prstGeom>
          <a:solidFill>
            <a:srgbClr val="2E2119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720840" y="4096512"/>
            <a:ext cx="4480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 es exactamente History:  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 compró qué y quién debe a quién, resuelto sin depender de que alguien lo recuerde o lo apunte a mano.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48640" y="580644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6E9D8"/>
          </a:solidFill>
          <a:ln w="12700">
            <a:solidFill>
              <a:srgbClr val="C968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80644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Señal nueva a vigilar (Fridge):  </a:t>
            </a:r>
            <a:pPr indent="0" marL="0">
              <a:buNone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"Tener en cuenta qué productos quedan abiertos, cuáles se pierden antes, etc." — apunta a caducidad y frescura, no solo a stock o reparto de gasto.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C9682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593263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4389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3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676656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1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Estudio de mercado — A Coruña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463040"/>
            <a:ext cx="3566160" cy="2468880"/>
          </a:xfrm>
          <a:prstGeom prst="roundRect">
            <a:avLst>
              <a:gd name="adj" fmla="val 4444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77240" y="1645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TOTAL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01168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21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Hogares de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E21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España 2+ pers.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0632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7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Tamaño medio 2,50 pers./hogar (INE 2023)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297680" y="1463040"/>
            <a:ext cx="3566160" cy="2468880"/>
          </a:xfrm>
          <a:prstGeom prst="roundRect">
            <a:avLst>
              <a:gd name="adj" fmla="val 4444"/>
            </a:avLst>
          </a:prstGeom>
          <a:solidFill>
            <a:srgbClr val="2E211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26280" y="1645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ACCESIBLE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201168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99.700</a:t>
            </a:r>
            <a:endParaRPr lang="en-US" sz="340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30632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8CB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249.261 hab. ÷ 2,50 pers./hogar (INE/IGE 2024)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046720" y="1463040"/>
            <a:ext cx="3566160" cy="2468880"/>
          </a:xfrm>
          <a:prstGeom prst="roundRect">
            <a:avLst>
              <a:gd name="adj" fmla="val 4444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275320" y="1645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OBJETIVO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201168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21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99.700</a:t>
            </a:r>
            <a:endParaRPr lang="en-US" sz="3400" dirty="0"/>
          </a:p>
        </p:txBody>
      </p:sp>
      <p:sp>
        <p:nvSpPr>
          <p:cNvPr id="17" name="Text 14"/>
          <p:cNvSpPr txBox="1"/>
          <p:nvPr/>
        </p:nvSpPr>
        <p:spPr>
          <a:xfrm>
            <a:off x="8275320" y="30632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7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Coincide con el accesible — ver nota abajo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48640" y="4160520"/>
            <a:ext cx="11064240" cy="1965960"/>
          </a:xfrm>
          <a:prstGeom prst="roundRect">
            <a:avLst>
              <a:gd name="adj" fmla="val 4651"/>
            </a:avLst>
          </a:prstGeom>
          <a:solidFill>
            <a:srgbClr val="F6E9D8"/>
          </a:solidFill>
          <a:ln w="12700">
            <a:solidFill>
              <a:srgbClr val="C9682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77240" y="4279392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honesta sobre la búsqueda:  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encontró un desglose público fiable de "hogares no familiares/parejas sin hijos" a nivel de A Coruña — es un resultado válido en sí mismo, no un dato inventado.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Suelo verificable: 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650 pisos de estudiantes en A Coruña (UDC &gt;13.300 matriculados · 31% cambia de ciudad · 55% comparte piso — Fundación CYD).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C9682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593263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4389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4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676656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1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servilleta de 6 casillas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417320"/>
            <a:ext cx="3611880" cy="960120"/>
          </a:xfrm>
          <a:prstGeom prst="roundRect">
            <a:avLst>
              <a:gd name="adj" fmla="val 11429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31520" y="150876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VENDEMOS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764792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Suscripción mensual por hogar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297680" y="1417320"/>
            <a:ext cx="3611880" cy="960120"/>
          </a:xfrm>
          <a:prstGeom prst="roundRect">
            <a:avLst>
              <a:gd name="adj" fmla="val 11429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480560" y="150876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QUIÉN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480560" y="1764792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Quien organiza la compra en un hogar compartido de A Coruña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8046720" y="1417320"/>
            <a:ext cx="3611880" cy="960120"/>
          </a:xfrm>
          <a:prstGeom prst="roundRect">
            <a:avLst>
              <a:gd name="adj" fmla="val 11429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8229600" y="150876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CUÁNTO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0" y="1764792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0,99 €/mes por hogar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48640" y="2514600"/>
            <a:ext cx="3611880" cy="960120"/>
          </a:xfrm>
          <a:prstGeom prst="roundRect">
            <a:avLst>
              <a:gd name="adj" fmla="val 11429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31520" y="260604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NOS CUESTA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731520" y="2862072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Coste fijo: 0 € (hosting gratuito). Variable: 0 €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4297680" y="2514600"/>
            <a:ext cx="3611880" cy="960120"/>
          </a:xfrm>
          <a:prstGeom prst="roundRect">
            <a:avLst>
              <a:gd name="adj" fmla="val 11429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480560" y="260604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CUÁNTOS HACEN FALTA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4480560" y="2862072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de equilibrio: 1 hogar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8046720" y="2514600"/>
            <a:ext cx="3611880" cy="960120"/>
          </a:xfrm>
          <a:prstGeom prst="roundRect">
            <a:avLst>
              <a:gd name="adj" fmla="val 11429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229600" y="260604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CUÁNTOS HAY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0" y="2862072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99.700 hogares accesibles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48640" y="3657600"/>
            <a:ext cx="5349240" cy="1417320"/>
          </a:xfrm>
          <a:prstGeom prst="roundRect">
            <a:avLst>
              <a:gd name="adj" fmla="val 7742"/>
            </a:avLst>
          </a:prstGeom>
          <a:solidFill>
            <a:srgbClr val="2E2119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48640" y="3767328"/>
            <a:ext cx="5349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hogar</a:t>
            </a:r>
            <a:endParaRPr lang="en-US" sz="3400" dirty="0"/>
          </a:p>
        </p:txBody>
      </p:sp>
      <p:sp>
        <p:nvSpPr>
          <p:cNvPr id="26" name="Text 23"/>
          <p:cNvSpPr txBox="1"/>
          <p:nvPr/>
        </p:nvSpPr>
        <p:spPr>
          <a:xfrm>
            <a:off x="777240" y="443484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de equilibrio — coste fijo 0€ ÷ margen 0,99€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035040" y="3657600"/>
            <a:ext cx="5577840" cy="1417320"/>
          </a:xfrm>
          <a:prstGeom prst="roundRect">
            <a:avLst>
              <a:gd name="adj" fmla="val 6452"/>
            </a:avLst>
          </a:prstGeom>
          <a:solidFill>
            <a:srgbClr val="F6E9D8"/>
          </a:solidFill>
          <a:ln w="12700">
            <a:solidFill>
              <a:srgbClr val="C9682B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263640" y="3767328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honesta: el nivel gratuito "duerme" sin uso y el disco es efímero (riesgo real para SQLite). El reto no son los números — es que alguien pague por algo que la competencia da gratis.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53492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7A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 explícita: no se adelanta dinero propio en hosting mientras el proyecto no genere ingresos.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C9682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593263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4389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5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676656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1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3 columnas del alcance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417320"/>
            <a:ext cx="3611880" cy="3246120"/>
          </a:xfrm>
          <a:prstGeom prst="roundRect">
            <a:avLst>
              <a:gd name="adj" fmla="val 3380"/>
            </a:avLst>
          </a:prstGeom>
          <a:solidFill>
            <a:srgbClr val="F6E4D3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31520" y="1600200"/>
            <a:ext cx="3246120" cy="411480"/>
          </a:xfrm>
          <a:prstGeom prst="roundRect">
            <a:avLst>
              <a:gd name="adj" fmla="val 17778"/>
            </a:avLst>
          </a:prstGeom>
          <a:solidFill>
            <a:srgbClr val="C9682B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31520" y="160020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construimos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194560"/>
            <a:ext cx="3154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Nevera: inventario + aviso de stock bajo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compartida con control de concurrencia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+ cálculo de quién debe a quién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Comparador de precios por tienda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297680" y="1417320"/>
            <a:ext cx="3611880" cy="3246120"/>
          </a:xfrm>
          <a:prstGeom prst="roundRect">
            <a:avLst>
              <a:gd name="adj" fmla="val 3380"/>
            </a:avLst>
          </a:prstGeom>
          <a:solidFill>
            <a:srgbClr val="F4EFE8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480560" y="1600200"/>
            <a:ext cx="3246120" cy="411480"/>
          </a:xfrm>
          <a:prstGeom prst="roundRect">
            <a:avLst>
              <a:gd name="adj" fmla="val 17778"/>
            </a:avLst>
          </a:prstGeom>
          <a:solidFill>
            <a:srgbClr val="D9A44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480560" y="160020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hace Odoo (ERP)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2194560"/>
            <a:ext cx="3154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de productos y precios por tienda (Pricelists)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Facturación real de la suscripción, si se cobrase algún día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46720" y="1417320"/>
            <a:ext cx="3611880" cy="3246120"/>
          </a:xfrm>
          <a:prstGeom prst="roundRect">
            <a:avLst>
              <a:gd name="adj" fmla="val 3380"/>
            </a:avLst>
          </a:prstGeom>
          <a:solidFill>
            <a:srgbClr val="F4EFE8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229600" y="1600200"/>
            <a:ext cx="3246120" cy="411480"/>
          </a:xfrm>
          <a:prstGeom prst="roundRect">
            <a:avLst>
              <a:gd name="adj" fmla="val 17778"/>
            </a:avLst>
          </a:prstGeom>
          <a:solidFill>
            <a:srgbClr val="8A7A6D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229600" y="160020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se hace este curso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275320" y="2194560"/>
            <a:ext cx="3154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Escaneo de código de barras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Cobro real con tarjeta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 push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Liquidar deudas de verdad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48640" y="484632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2E211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68680" y="4956048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"En P1, un hogar de A Coruña controla su nevera y organiza la lista de la compra compartida sin usar el grupo de WhatsApp, y puede consultar su historial de gasto repartido y comparar precios entre tiendas."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68680" y="585216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CB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 de construcción: Nevera → Lista (concurrencia) → Historial → Precios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C9682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4703" y="593263"/>
            <a:ext cx="294803" cy="294803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80160" y="4389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6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280160" y="676656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21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Documento de una página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417320"/>
            <a:ext cx="5440680" cy="896112"/>
          </a:xfrm>
          <a:prstGeom prst="roundRect">
            <a:avLst>
              <a:gd name="adj" fmla="val 12245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31520" y="1490472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Y MENSAJE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728216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Larder — controlar la nevera y la compra sin duplicados ni viajes extra, sin depender de un WhatsApp desordenado.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172200" y="1417320"/>
            <a:ext cx="5440680" cy="896112"/>
          </a:xfrm>
          <a:prstGeom prst="roundRect">
            <a:avLst>
              <a:gd name="adj" fmla="val 12245"/>
            </a:avLst>
          </a:prstGeom>
          <a:solidFill>
            <a:srgbClr val="EDE6DC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355080" y="1490472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6355080" y="1728216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Quien organiza la compra en un hogar compartido de A Coruña. ≈99.700 hogares accesibles.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48640" y="2432304"/>
            <a:ext cx="5440680" cy="896112"/>
          </a:xfrm>
          <a:prstGeom prst="roundRect">
            <a:avLst>
              <a:gd name="adj" fmla="val 12245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31520" y="2505456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2743200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10-15 min/lista a ojo, 2 viajes/semana sin plan, ≈1.040€/año perdidos.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72200" y="2432304"/>
            <a:ext cx="5440680" cy="896112"/>
          </a:xfrm>
          <a:prstGeom prst="roundRect">
            <a:avLst>
              <a:gd name="adj" fmla="val 12245"/>
            </a:avLst>
          </a:prstGeom>
          <a:solidFill>
            <a:srgbClr val="EDE6DC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355080" y="2505456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NÚMEROS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6355080" y="2743200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0,99€/mes · coste fijo 0€ · equilibrio: 1 hogar.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" y="3447288"/>
            <a:ext cx="5440680" cy="896112"/>
          </a:xfrm>
          <a:prstGeom prst="roundRect">
            <a:avLst>
              <a:gd name="adj" fmla="val 12245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31520" y="3520440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P1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731520" y="3758184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Nevera + Lista + Historial + Precios. Cobro real, fuera de alcance.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172200" y="3447288"/>
            <a:ext cx="5440680" cy="896112"/>
          </a:xfrm>
          <a:prstGeom prst="roundRect">
            <a:avLst>
              <a:gd name="adj" fmla="val 12245"/>
            </a:avLst>
          </a:prstGeom>
          <a:solidFill>
            <a:srgbClr val="EDE6DC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6355080" y="3520440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355080" y="3758184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Directo: el propio hogar es el primer usuario real.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48640" y="4462272"/>
            <a:ext cx="5440680" cy="896112"/>
          </a:xfrm>
          <a:prstGeom prst="roundRect">
            <a:avLst>
              <a:gd name="adj" fmla="val 12245"/>
            </a:avLst>
          </a:prstGeom>
          <a:solidFill>
            <a:srgbClr val="F4E9D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731520" y="4535424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96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NO HAREMOS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4773168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E21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de barras, cobro con tarjeta, notificaciones push, liquidar deudas de verdad.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E21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31520"/>
            <a:ext cx="777240" cy="777240"/>
          </a:xfrm>
          <a:prstGeom prst="ellipse">
            <a:avLst/>
          </a:prstGeom>
          <a:solidFill>
            <a:srgbClr val="C9682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498" y="918058"/>
            <a:ext cx="404165" cy="40416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" y="17373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Próximos pasos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2697480"/>
            <a:ext cx="9601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→"/>
            </a:pPr>
            <a:r>
              <a:rPr lang="en-US" sz="1600" dirty="0">
                <a:solidFill>
                  <a:srgbClr val="EF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Terminar la pantalla de la Nevera (frontend con React + TypeScript)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→"/>
            </a:pPr>
            <a:r>
              <a:rPr lang="en-US" sz="1600" dirty="0">
                <a:solidFill>
                  <a:srgbClr val="EF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la compra con control de concurrencia real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→"/>
            </a:pPr>
            <a:r>
              <a:rPr lang="en-US" sz="1600" dirty="0">
                <a:solidFill>
                  <a:srgbClr val="EF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Instalar y parametrizar Odoo (catálogo + precios por tienda)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→"/>
            </a:pPr>
            <a:r>
              <a:rPr lang="en-US" sz="1600" dirty="0">
                <a:solidFill>
                  <a:srgbClr val="EF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Conectar el backend con la API de Odoo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→"/>
            </a:pPr>
            <a:r>
              <a:rPr lang="en-US" sz="1600" dirty="0">
                <a:solidFill>
                  <a:srgbClr val="EFE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de gasto y comparador de precios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822960" y="5806440"/>
            <a:ext cx="7772400" cy="640080"/>
          </a:xfrm>
          <a:prstGeom prst="roundRect">
            <a:avLst>
              <a:gd name="adj" fmla="val 11429"/>
            </a:avLst>
          </a:prstGeom>
          <a:solidFill>
            <a:srgbClr val="3D2E23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51560" y="58064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viernes: idea validada, con números y decisiones que se pueden defender.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2026-09-16T09:44:49Z</dcterms:created>
  <dcterms:modified xsi:type="dcterms:W3CDTF">2026-09-16T09:44:49Z</dcterms:modified>
</cp:coreProperties>
</file>