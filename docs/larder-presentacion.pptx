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18/09: 40 semanas activas en vez de 52 (se descuentan vacaciones/viajes en los que no se hace la compra habitual del piso). Un rango (200-400€/ano) sigue siendo mas honesto que un unico numero porque la frecuencia real varia semana a semana.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simplificada 17/09: se quito la cita de Bring! sobre el Apple Watch (real pero irrelevante para el argumento, quedaba "cringe") y la nota de correccion de "Out of Milk" (queda documentada en ideacion.md y en la bitacora de IA, no hacia falta duplicarla en la diapositiva). En su lugar, el razonamiento real de por que se paso de resenas a conversaciones directas: buenas resenas no sirven para encontrar el hueco, malas resenas eran solo compatibilidad tecnica, no quejas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(18/09): capturas reales de Bring! extraidas directamente del PDF final de Nadia (estaban insertadas como imagenes individuales, no un collage). Cada una respalda visualmente una fila de la tabla de "Estado del arte -- la competencia": el paso extra al anadir un item, y que "Inspiracion" no resuelve el caso de uso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(18/09): capturas reales de AnyList (3 del PDF final + 1 nueva, el menu de Crear receta / Importar recetas web, anadida hoy por Nadia). Respaldan la fila de la tabla: "todo el valor apunta a cocinar, no a compartir la lista ni saber que hay en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(el formulario sigue tecnicamente abierto en Vercel; "cerrada" en el documento significa "version usada para la entrega", no "imposible que llegue alguna mas"). El dato mas fuerte de toda la encuesta: 0/35 usa una app HOY como metodo (Pregunta 3) -- las 3 que probaron una app la abandonaron, sin excepcion. Novedad de esta tanda: una TERCERA persona probo Bring! y lo dejo, pero por un motivo nuevo (pereza/friccion, no cooperacion) -- dos motivos de abandono distintos apuntando al mismo sitio. El "metodo ganador" (Papel vs Notas) nunca se asento -- empate tecnico. El dato conjunto (54%, 19/35) se mantiene estable por encima de la mitad en toda la recogida.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Actualizado con una respuesta real de la encuesta (llegada 17/09, ver n=35) que confirma esto sin que se preguntara: compra pensando en cocinar algo elaborado, nunca lo hace, la comida se pudre. Conclusion: ni siquiera cumplen bien la funcion de lista, porque el paso intermedio da pereza. Reordenada (18/09) para ir despues de la encuesta n=35, a peticion de Nadia.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(formulario sigue tecnicamente abierto).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sigue como el tema mas repetido (8/35, 23%). Las 3 respuestas nuevas no anadieron menciones de coop/gasto -- dos son sobre comida que se pudre (movidas a la diapositiva de recetas, donde encajan mejor) y una sobre "tener que mirar que falta". "Caducidad/comida que se estropea" (3 menciones) entra en el plan de construccion; "se acaba y nadie avisa" (1 mencion) se resuelve gratis con Fridge compartida.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Publico fijado como estudiantes (18/09): el embudo ahora parte de la UDC (&gt;13.300) en vez de hogares genericos. El mercado objetivo es directamente ~650 pisos, no "coincide con el accesible". Los ~99.700 hogares de A Coruna quedan solo como techo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Groq,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402C"/>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E3A94A"/>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3513A"/>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C7D0C2"/>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3E8DD"/>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5B6559"/>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6402C"/>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2EFE7"/>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6821E"/>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6402C"/>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6402C"/>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E3A94A"/>
                </a:solidFill>
                <a:latin typeface="Cambria" pitchFamily="34" charset="0"/>
                <a:ea typeface="Cambria" pitchFamily="34" charset="-122"/>
                <a:cs typeface="Cambria" pitchFamily="34" charset="-120"/>
              </a:rPr>
              <a:t>200-400 €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6402C"/>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6402C"/>
                </a:solidFill>
                <a:latin typeface="Calibri" pitchFamily="34" charset="0"/>
                <a:ea typeface="Calibri" pitchFamily="34" charset="-122"/>
                <a:cs typeface="Calibri" pitchFamily="34" charset="-120"/>
              </a:rPr>
              <a:t>5 €/viaje × 1-2 viajes/semana × 40 semanas activas ≈ 200-400 €/año</a:t>
            </a:r>
            <a:endParaRPr lang="en-US" sz="1300" dirty="0"/>
          </a:p>
          <a:p>
            <a:pPr indent="0" marL="0">
              <a:buNone/>
            </a:pPr>
            <a:r>
              <a:rPr lang="en-US" sz="1300" b="1" dirty="0">
                <a:solidFill>
                  <a:srgbClr val="26402C"/>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6402C"/>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26402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26402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26402C"/>
                    </a:solidFill>
                  </a:tcPr>
                </a:tc>
              </a:tr>
              <a:tr h="457200">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c>
                  <a:txBody>
                    <a:bodyPr/>
                    <a:lstStyle/>
                    <a:p>
                      <a:pPr indent="0" marL="0">
                        <a:buNone/>
                      </a:pPr>
                      <a:r>
                        <a:rPr lang="en-US" sz="1200" dirty="0">
                          <a:solidFill>
                            <a:srgbClr val="26402C"/>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D6DED2"/>
                      </a:solidFill>
                      <a:prstDash val="solid"/>
                      <a:round/>
                      <a:headEnd type="none" w="med" len="med"/>
                      <a:tailEnd type="none" w="med" len="med"/>
                    </a:lnL>
                    <a:lnR w="12700" cap="flat" cmpd="sng" algn="ctr">
                      <a:solidFill>
                        <a:srgbClr val="D6DED2"/>
                      </a:solidFill>
                      <a:prstDash val="solid"/>
                      <a:round/>
                      <a:headEnd type="none" w="med" len="med"/>
                      <a:tailEnd type="none" w="med" len="med"/>
                    </a:lnR>
                    <a:lnT w="12700" cap="flat" cmpd="sng" algn="ctr">
                      <a:solidFill>
                        <a:srgbClr val="D6DED2"/>
                      </a:solidFill>
                      <a:prstDash val="solid"/>
                      <a:round/>
                      <a:headEnd type="none" w="med" len="med"/>
                      <a:tailEnd type="none" w="med" len="med"/>
                    </a:lnT>
                    <a:lnB w="12700" cap="flat" cmpd="sng" algn="ctr">
                      <a:solidFill>
                        <a:srgbClr val="D6DED2"/>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2423160"/>
          </a:xfrm>
          <a:prstGeom prst="roundRect">
            <a:avLst>
              <a:gd name="adj" fmla="val 4528"/>
            </a:avLst>
          </a:prstGeom>
          <a:solidFill>
            <a:srgbClr val="F2EFE7"/>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160520"/>
            <a:ext cx="10607040" cy="320040"/>
          </a:xfrm>
          <a:prstGeom prst="rect">
            <a:avLst/>
          </a:prstGeom>
          <a:noFill/>
          <a:ln/>
        </p:spPr>
        <p:txBody>
          <a:bodyPr wrap="square" lIns="0" tIns="0" rIns="0" bIns="0" rtlCol="0" anchor="ctr"/>
          <a:lstStyle/>
          <a:p>
            <a:pPr indent="0" marL="0">
              <a:buNone/>
            </a:pPr>
            <a:r>
              <a:rPr lang="en-US" sz="1300" b="1" dirty="0">
                <a:solidFill>
                  <a:srgbClr val="C6821E"/>
                </a:solidFill>
                <a:latin typeface="Calibri" pitchFamily="34" charset="0"/>
                <a:ea typeface="Calibri" pitchFamily="34" charset="-122"/>
                <a:cs typeface="Calibri" pitchFamily="34" charset="-120"/>
              </a:rPr>
              <a:t>Por qué no nos basamos en reseñas de las apps</a:t>
            </a:r>
            <a:endParaRPr lang="en-US" sz="1300" dirty="0"/>
          </a:p>
        </p:txBody>
      </p:sp>
      <p:sp>
        <p:nvSpPr>
          <p:cNvPr id="10" name="Text 6"/>
          <p:cNvSpPr txBox="1"/>
          <p:nvPr/>
        </p:nvSpPr>
        <p:spPr>
          <a:xfrm>
            <a:off x="777240" y="4526280"/>
            <a:ext cx="10607040" cy="1783080"/>
          </a:xfrm>
          <a:prstGeom prst="rect">
            <a:avLst/>
          </a:prstGeom>
          <a:noFill/>
          <a:ln/>
        </p:spPr>
        <p:txBody>
          <a:bodyPr wrap="square" lIns="0" tIns="0" rIns="0" bIns="0" rtlCol="0" anchor="t"/>
          <a:lstStyle/>
          <a:p>
            <a:pPr indent="0" marL="0">
              <a:spcAft>
                <a:spcPts val="800"/>
              </a:spcAft>
              <a:buNone/>
            </a:pPr>
            <a:r>
              <a:rPr lang="en-US" sz="1250" dirty="0">
                <a:solidFill>
                  <a:srgbClr val="26402C"/>
                </a:solidFill>
                <a:latin typeface="Calibri" pitchFamily="34" charset="0"/>
                <a:ea typeface="Calibri" pitchFamily="34" charset="-122"/>
                <a:cs typeface="Calibri" pitchFamily="34" charset="-120"/>
              </a:rPr>
              <a:t>Las reseñas buenas no sirven para encontrar un hueco — obviamente no hablan de lo que falta. </a:t>
            </a:r>
            <a:endParaRPr lang="en-US" sz="1250" dirty="0"/>
          </a:p>
          <a:p>
            <a:pPr indent="0" marL="0">
              <a:spcAft>
                <a:spcPts val="800"/>
              </a:spcAft>
              <a:buNone/>
            </a:pPr>
            <a:r>
              <a:rPr lang="en-US" sz="1250" dirty="0">
                <a:solidFill>
                  <a:srgbClr val="26402C"/>
                </a:solidFill>
                <a:latin typeface="Calibri" pitchFamily="34" charset="0"/>
                <a:ea typeface="Calibri" pitchFamily="34" charset="-122"/>
                <a:cs typeface="Calibri" pitchFamily="34" charset="-120"/>
              </a:rPr>
              <a:t>Las malas, casi todas, eran quejas de compatibilidad técnica (se cuelga, no sincroniza...), no gente pidiendo una función o diciendo que el enfoque no encajaba con su forma de comprar. </a:t>
            </a:r>
            <a:endParaRPr lang="en-US" sz="1250" dirty="0"/>
          </a:p>
          <a:p>
            <a:pPr indent="0" marL="0">
              <a:buNone/>
            </a:pPr>
            <a:r>
              <a:rPr lang="en-US" sz="1250" dirty="0">
                <a:solidFill>
                  <a:srgbClr val="26402C"/>
                </a:solidFill>
                <a:latin typeface="Calibri" pitchFamily="34" charset="0"/>
                <a:ea typeface="Calibri" pitchFamily="34" charset="-122"/>
                <a:cs typeface="Calibri" pitchFamily="34" charset="-120"/>
              </a:rPr>
              <a:t>Por eso se pasó a hablar directamente con quien vive el problema (estudiantes y gente joven) — la vía que el propio guion marca como "la más cara y la más fiable de las tres".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Bring! por dentro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Capturas propias de la app (17/09/2026) — el paso extra de la tabla anterior, visto de cerca.</a:t>
            </a:r>
            <a:endParaRPr lang="en-US" sz="1000" dirty="0"/>
          </a:p>
        </p:txBody>
      </p:sp>
      <p:sp>
        <p:nvSpPr>
          <p:cNvPr id="7" name="Shape 4"/>
          <p:cNvSpPr/>
          <p:nvPr/>
        </p:nvSpPr>
        <p:spPr>
          <a:xfrm>
            <a:off x="512064" y="1655064"/>
            <a:ext cx="2139696" cy="4553712"/>
          </a:xfrm>
          <a:prstGeom prst="roundRect">
            <a:avLst>
              <a:gd name="adj" fmla="val 3419"/>
            </a:avLst>
          </a:prstGeom>
          <a:solidFill>
            <a:srgbClr val="26402C"/>
          </a:solidFill>
          <a:ln/>
        </p:spPr>
      </p:sp>
      <p:pic>
        <p:nvPicPr>
          <p:cNvPr id="8" name="Image 1" descr="/tmp/claude-0/-home-user-Larder/7e643651-6dd6-5b59-8da1-0d3b37b8e2cc/scratchpad/pptx-build/screenshots/bring-1-item-details.jpg">    </p:cNvPr>
          <p:cNvPicPr>
            <a:picLocks noChangeAspect="1"/>
          </p:cNvPicPr>
          <p:nvPr/>
        </p:nvPicPr>
        <p:blipFill>
          <a:blip r:embed="rId2"/>
          <a:srcRect l="0" r="0" t="0" b="0"/>
          <a:stretch/>
        </p:blipFill>
        <p:spPr>
          <a:xfrm>
            <a:off x="548640" y="1691640"/>
            <a:ext cx="2066544" cy="4480560"/>
          </a:xfrm>
          <a:prstGeom prst="rect">
            <a:avLst/>
          </a:prstGeom>
        </p:spPr>
      </p:pic>
      <p:sp>
        <p:nvSpPr>
          <p:cNvPr id="9" name="Text 5"/>
          <p:cNvSpPr txBox="1"/>
          <p:nvPr/>
        </p:nvSpPr>
        <p:spPr>
          <a:xfrm>
            <a:off x="502920"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Añadir "Avocado" abre "Item Details": cantidad, bolsa, aceite, prioridad — antes de poder seguir escribiendo.</a:t>
            </a:r>
            <a:endParaRPr lang="en-US" sz="950" dirty="0"/>
          </a:p>
        </p:txBody>
      </p:sp>
      <p:sp>
        <p:nvSpPr>
          <p:cNvPr id="10" name="Shape 6"/>
          <p:cNvSpPr/>
          <p:nvPr/>
        </p:nvSpPr>
        <p:spPr>
          <a:xfrm>
            <a:off x="3521354" y="1655064"/>
            <a:ext cx="2139696" cy="4553712"/>
          </a:xfrm>
          <a:prstGeom prst="roundRect">
            <a:avLst>
              <a:gd name="adj" fmla="val 3419"/>
            </a:avLst>
          </a:prstGeom>
          <a:solidFill>
            <a:srgbClr val="26402C"/>
          </a:solidFill>
          <a:ln/>
        </p:spPr>
      </p:sp>
      <p:pic>
        <p:nvPicPr>
          <p:cNvPr id="11" name="Image 2" descr="/tmp/claude-0/-home-user-Larder/7e643651-6dd6-5b59-8da1-0d3b37b8e2cc/scratchpad/pptx-build/screenshots/bring-2-inspiration.jpg">    </p:cNvPr>
          <p:cNvPicPr>
            <a:picLocks noChangeAspect="1"/>
          </p:cNvPicPr>
          <p:nvPr/>
        </p:nvPicPr>
        <p:blipFill>
          <a:blip r:embed="rId3"/>
          <a:srcRect l="0" r="0" t="0" b="0"/>
          <a:stretch/>
        </p:blipFill>
        <p:spPr>
          <a:xfrm>
            <a:off x="3557930" y="1691640"/>
            <a:ext cx="2066544" cy="4480560"/>
          </a:xfrm>
          <a:prstGeom prst="rect">
            <a:avLst/>
          </a:prstGeom>
        </p:spPr>
      </p:pic>
      <p:sp>
        <p:nvSpPr>
          <p:cNvPr id="12" name="Text 7"/>
          <p:cNvSpPr txBox="1"/>
          <p:nvPr/>
        </p:nvSpPr>
        <p:spPr>
          <a:xfrm>
            <a:off x="3512210"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"Inspiration" son recetas externas (Jamie Oliver, BBC) — no ayuda a compartir la lista ni a saber qué hay en casa.</a:t>
            </a:r>
            <a:endParaRPr lang="en-US" sz="950" dirty="0"/>
          </a:p>
        </p:txBody>
      </p:sp>
      <p:sp>
        <p:nvSpPr>
          <p:cNvPr id="13" name="Shape 8"/>
          <p:cNvSpPr/>
          <p:nvPr/>
        </p:nvSpPr>
        <p:spPr>
          <a:xfrm>
            <a:off x="6530645" y="1655064"/>
            <a:ext cx="2139696" cy="4553712"/>
          </a:xfrm>
          <a:prstGeom prst="roundRect">
            <a:avLst>
              <a:gd name="adj" fmla="val 3419"/>
            </a:avLst>
          </a:prstGeom>
          <a:solidFill>
            <a:srgbClr val="26402C"/>
          </a:solidFill>
          <a:ln/>
        </p:spPr>
      </p:sp>
      <p:pic>
        <p:nvPicPr>
          <p:cNvPr id="14" name="Image 3" descr="/tmp/claude-0/-home-user-Larder/7e643651-6dd6-5b59-8da1-0d3b37b8e2cc/scratchpad/pptx-build/screenshots/bring-3-search.jpg">    </p:cNvPr>
          <p:cNvPicPr>
            <a:picLocks noChangeAspect="1"/>
          </p:cNvPicPr>
          <p:nvPr/>
        </p:nvPicPr>
        <p:blipFill>
          <a:blip r:embed="rId4"/>
          <a:srcRect l="0" r="0" t="0" b="0"/>
          <a:stretch/>
        </p:blipFill>
        <p:spPr>
          <a:xfrm>
            <a:off x="6567221" y="1691640"/>
            <a:ext cx="2066544" cy="4480560"/>
          </a:xfrm>
          <a:prstGeom prst="rect">
            <a:avLst/>
          </a:prstGeom>
        </p:spPr>
      </p:pic>
      <p:sp>
        <p:nvSpPr>
          <p:cNvPr id="15" name="Text 9"/>
          <p:cNvSpPr txBox="1"/>
          <p:nvPr/>
        </p:nvSpPr>
        <p:spPr>
          <a:xfrm>
            <a:off x="6521501"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Cada producto se busca en su propio catálogo con icono — un paso más que abrir Notas y escribir "avocado".</a:t>
            </a:r>
            <a:endParaRPr lang="en-US" sz="950" dirty="0"/>
          </a:p>
        </p:txBody>
      </p:sp>
      <p:sp>
        <p:nvSpPr>
          <p:cNvPr id="16" name="Shape 10"/>
          <p:cNvSpPr/>
          <p:nvPr/>
        </p:nvSpPr>
        <p:spPr>
          <a:xfrm>
            <a:off x="9539935" y="1655064"/>
            <a:ext cx="2139696" cy="4553712"/>
          </a:xfrm>
          <a:prstGeom prst="roundRect">
            <a:avLst>
              <a:gd name="adj" fmla="val 3419"/>
            </a:avLst>
          </a:prstGeom>
          <a:solidFill>
            <a:srgbClr val="26402C"/>
          </a:solidFill>
          <a:ln/>
        </p:spPr>
      </p:sp>
      <p:pic>
        <p:nvPicPr>
          <p:cNvPr id="17" name="Image 4" descr="/tmp/claude-0/-home-user-Larder/7e643651-6dd6-5b59-8da1-0d3b37b8e2cc/scratchpad/pptx-build/screenshots/bring-4-onboarding.jpg">    </p:cNvPr>
          <p:cNvPicPr>
            <a:picLocks noChangeAspect="1"/>
          </p:cNvPicPr>
          <p:nvPr/>
        </p:nvPicPr>
        <p:blipFill>
          <a:blip r:embed="rId5"/>
          <a:srcRect l="0" r="0" t="0" b="0"/>
          <a:stretch/>
        </p:blipFill>
        <p:spPr>
          <a:xfrm>
            <a:off x="9576511" y="1691640"/>
            <a:ext cx="2066544" cy="4480560"/>
          </a:xfrm>
          <a:prstGeom prst="rect">
            <a:avLst/>
          </a:prstGeom>
        </p:spPr>
      </p:pic>
      <p:sp>
        <p:nvSpPr>
          <p:cNvPr id="18" name="Text 11"/>
          <p:cNvSpPr txBox="1"/>
          <p:nvPr/>
        </p:nvSpPr>
        <p:spPr>
          <a:xfrm>
            <a:off x="9530791"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Hasta el primer uso empuja a elegir de una lista predefinida (Milk, Soy Milk...) en vez de escribir libremente.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AnyList por dentro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Capturas propias de la app (17/09/2026) — la parte que funciona bien, y hacia dónde apunta el resto.</a:t>
            </a:r>
            <a:endParaRPr lang="en-US" sz="1000" dirty="0"/>
          </a:p>
        </p:txBody>
      </p:sp>
      <p:sp>
        <p:nvSpPr>
          <p:cNvPr id="7" name="Shape 4"/>
          <p:cNvSpPr/>
          <p:nvPr/>
        </p:nvSpPr>
        <p:spPr>
          <a:xfrm>
            <a:off x="512064" y="1655064"/>
            <a:ext cx="2139696" cy="4553712"/>
          </a:xfrm>
          <a:prstGeom prst="roundRect">
            <a:avLst>
              <a:gd name="adj" fmla="val 3419"/>
            </a:avLst>
          </a:prstGeom>
          <a:solidFill>
            <a:srgbClr val="26402C"/>
          </a:solidFill>
          <a:ln/>
        </p:spPr>
      </p:sp>
      <p:pic>
        <p:nvPicPr>
          <p:cNvPr id="8" name="Image 1" descr="/tmp/claude-0/-home-user-Larder/7e643651-6dd6-5b59-8da1-0d3b37b8e2cc/scratchpad/pptx-build/screenshots/anylist-1-autocomplete.jpg">    </p:cNvPr>
          <p:cNvPicPr>
            <a:picLocks noChangeAspect="1"/>
          </p:cNvPicPr>
          <p:nvPr/>
        </p:nvPicPr>
        <p:blipFill>
          <a:blip r:embed="rId2"/>
          <a:srcRect l="0" r="0" t="0" b="0"/>
          <a:stretch/>
        </p:blipFill>
        <p:spPr>
          <a:xfrm>
            <a:off x="548640" y="1691640"/>
            <a:ext cx="2066544" cy="4480560"/>
          </a:xfrm>
          <a:prstGeom prst="rect">
            <a:avLst/>
          </a:prstGeom>
        </p:spPr>
      </p:pic>
      <p:sp>
        <p:nvSpPr>
          <p:cNvPr id="9" name="Text 5"/>
          <p:cNvSpPr txBox="1"/>
          <p:nvPr/>
        </p:nvSpPr>
        <p:spPr>
          <a:xfrm>
            <a:off x="502920"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Autocompletado real al escribir ("Strawberries") — la parte que sí funciona bien.</a:t>
            </a:r>
            <a:endParaRPr lang="en-US" sz="950" dirty="0"/>
          </a:p>
        </p:txBody>
      </p:sp>
      <p:sp>
        <p:nvSpPr>
          <p:cNvPr id="10" name="Shape 6"/>
          <p:cNvSpPr/>
          <p:nvPr/>
        </p:nvSpPr>
        <p:spPr>
          <a:xfrm>
            <a:off x="3521354" y="1655064"/>
            <a:ext cx="2139696" cy="4553712"/>
          </a:xfrm>
          <a:prstGeom prst="roundRect">
            <a:avLst>
              <a:gd name="adj" fmla="val 3419"/>
            </a:avLst>
          </a:prstGeom>
          <a:solidFill>
            <a:srgbClr val="26402C"/>
          </a:solidFill>
          <a:ln/>
        </p:spPr>
      </p:sp>
      <p:pic>
        <p:nvPicPr>
          <p:cNvPr id="11" name="Image 2" descr="/tmp/claude-0/-home-user-Larder/7e643651-6dd6-5b59-8da1-0d3b37b8e2cc/scratchpad/pptx-build/screenshots/anylist-2-categories.jpg">    </p:cNvPr>
          <p:cNvPicPr>
            <a:picLocks noChangeAspect="1"/>
          </p:cNvPicPr>
          <p:nvPr/>
        </p:nvPicPr>
        <p:blipFill>
          <a:blip r:embed="rId3"/>
          <a:srcRect l="0" r="0" t="0" b="0"/>
          <a:stretch/>
        </p:blipFill>
        <p:spPr>
          <a:xfrm>
            <a:off x="3557930" y="1691640"/>
            <a:ext cx="2066544" cy="4480560"/>
          </a:xfrm>
          <a:prstGeom prst="rect">
            <a:avLst/>
          </a:prstGeom>
        </p:spPr>
      </p:pic>
      <p:sp>
        <p:nvSpPr>
          <p:cNvPr id="12" name="Text 7"/>
          <p:cNvSpPr txBox="1"/>
          <p:nvPr/>
        </p:nvSpPr>
        <p:spPr>
          <a:xfrm>
            <a:off x="3512210"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Organiza por categorías (Dairy, Produce) — más ordenado, pero sigue siendo tecleo manual, item a item.</a:t>
            </a:r>
            <a:endParaRPr lang="en-US" sz="950" dirty="0"/>
          </a:p>
        </p:txBody>
      </p:sp>
      <p:sp>
        <p:nvSpPr>
          <p:cNvPr id="13" name="Shape 8"/>
          <p:cNvSpPr/>
          <p:nvPr/>
        </p:nvSpPr>
        <p:spPr>
          <a:xfrm>
            <a:off x="6530645" y="1655064"/>
            <a:ext cx="2139696" cy="4553712"/>
          </a:xfrm>
          <a:prstGeom prst="roundRect">
            <a:avLst>
              <a:gd name="adj" fmla="val 3419"/>
            </a:avLst>
          </a:prstGeom>
          <a:solidFill>
            <a:srgbClr val="26402C"/>
          </a:solidFill>
          <a:ln/>
        </p:spPr>
      </p:sp>
      <p:pic>
        <p:nvPicPr>
          <p:cNvPr id="14" name="Image 3" descr="/tmp/claude-0/-home-user-Larder/7e643651-6dd6-5b59-8da1-0d3b37b8e2cc/scratchpad/pptx-build/screenshots/anylist-3-recipes.jpg">    </p:cNvPr>
          <p:cNvPicPr>
            <a:picLocks noChangeAspect="1"/>
          </p:cNvPicPr>
          <p:nvPr/>
        </p:nvPicPr>
        <p:blipFill>
          <a:blip r:embed="rId4"/>
          <a:srcRect l="0" r="0" t="0" b="0"/>
          <a:stretch/>
        </p:blipFill>
        <p:spPr>
          <a:xfrm>
            <a:off x="6567221" y="1691640"/>
            <a:ext cx="2066544" cy="4480560"/>
          </a:xfrm>
          <a:prstGeom prst="rect">
            <a:avLst/>
          </a:prstGeom>
        </p:spPr>
      </p:pic>
      <p:sp>
        <p:nvSpPr>
          <p:cNvPr id="15" name="Text 9"/>
          <p:cNvSpPr txBox="1"/>
          <p:nvPr/>
        </p:nvSpPr>
        <p:spPr>
          <a:xfrm>
            <a:off x="6521501"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Recetas tiene pestaña propia, con fecha e imagen — la mitad de la identidad de la app es cocinar.</a:t>
            </a:r>
            <a:endParaRPr lang="en-US" sz="950" dirty="0"/>
          </a:p>
        </p:txBody>
      </p:sp>
      <p:sp>
        <p:nvSpPr>
          <p:cNvPr id="16" name="Shape 10"/>
          <p:cNvSpPr/>
          <p:nvPr/>
        </p:nvSpPr>
        <p:spPr>
          <a:xfrm>
            <a:off x="9539935" y="1655064"/>
            <a:ext cx="2139696" cy="4553712"/>
          </a:xfrm>
          <a:prstGeom prst="roundRect">
            <a:avLst>
              <a:gd name="adj" fmla="val 3419"/>
            </a:avLst>
          </a:prstGeom>
          <a:solidFill>
            <a:srgbClr val="26402C"/>
          </a:solidFill>
          <a:ln/>
        </p:spPr>
      </p:sp>
      <p:pic>
        <p:nvPicPr>
          <p:cNvPr id="17" name="Image 4" descr="/tmp/claude-0/-home-user-Larder/7e643651-6dd6-5b59-8da1-0d3b37b8e2cc/scratchpad/pptx-build/screenshots/anylist-4-import-recipes.jpg">    </p:cNvPr>
          <p:cNvPicPr>
            <a:picLocks noChangeAspect="1"/>
          </p:cNvPicPr>
          <p:nvPr/>
        </p:nvPicPr>
        <p:blipFill>
          <a:blip r:embed="rId5"/>
          <a:srcRect l="0" r="0" t="0" b="0"/>
          <a:stretch/>
        </p:blipFill>
        <p:spPr>
          <a:xfrm>
            <a:off x="9576511" y="1691640"/>
            <a:ext cx="2066544" cy="4480560"/>
          </a:xfrm>
          <a:prstGeom prst="rect">
            <a:avLst/>
          </a:prstGeom>
        </p:spPr>
      </p:pic>
      <p:sp>
        <p:nvSpPr>
          <p:cNvPr id="18" name="Text 11"/>
          <p:cNvSpPr txBox="1"/>
          <p:nvPr/>
        </p:nvSpPr>
        <p:spPr>
          <a:xfrm>
            <a:off x="9530791" y="6245352"/>
            <a:ext cx="2157984" cy="502920"/>
          </a:xfrm>
          <a:prstGeom prst="rect">
            <a:avLst/>
          </a:prstGeom>
          <a:noFill/>
          <a:ln/>
        </p:spPr>
        <p:txBody>
          <a:bodyPr wrap="square" lIns="0" tIns="0" rIns="0" bIns="0" rtlCol="0" anchor="t"/>
          <a:lstStyle/>
          <a:p>
            <a:pPr indent="0" marL="0">
              <a:buNone/>
            </a:pPr>
            <a:r>
              <a:rPr lang="en-US" sz="950" i="1" dirty="0">
                <a:solidFill>
                  <a:srgbClr val="26402C"/>
                </a:solidFill>
                <a:latin typeface="Calibri" pitchFamily="34" charset="0"/>
                <a:ea typeface="Calibri" pitchFamily="34" charset="-122"/>
                <a:cs typeface="Calibri" pitchFamily="34" charset="-120"/>
              </a:rPr>
              <a:t>Hasta importar recetas de la web tiene su propio menú — más funciones sobre cocinar, ninguna sobre compartir en tiempo real.</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La encuesta confirma el hueco (n=35)</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Encuesta bilingüe (ES/EN), 9 preguntas sobre hechos del último mes — no opiniones sobre una app futura. 35 respuestas únicas a fecha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6402C"/>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E3A94A"/>
                </a:solidFill>
                <a:latin typeface="Cambria" pitchFamily="34" charset="0"/>
                <a:ea typeface="Cambria" pitchFamily="34" charset="-122"/>
                <a:cs typeface="Cambria" pitchFamily="34" charset="-120"/>
              </a:rPr>
              <a:t>0/35</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C7D0C2"/>
                </a:solidFill>
                <a:latin typeface="Calibri" pitchFamily="34" charset="0"/>
                <a:ea typeface="Calibri" pitchFamily="34" charset="-122"/>
                <a:cs typeface="Calibri" pitchFamily="34" charset="-120"/>
              </a:rPr>
              <a:t>usa hoy una app específica como método — aunque 3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6402C"/>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E3A94A"/>
                </a:solidFill>
                <a:latin typeface="Cambria" pitchFamily="34" charset="0"/>
                <a:ea typeface="Cambria" pitchFamily="34" charset="-122"/>
                <a:cs typeface="Cambria" pitchFamily="34" charset="-120"/>
              </a:rPr>
              <a:t>74%</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C7D0C2"/>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6402C"/>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E3A94A"/>
                </a:solidFill>
                <a:latin typeface="Cambria" pitchFamily="34" charset="0"/>
                <a:ea typeface="Cambria" pitchFamily="34" charset="-122"/>
                <a:cs typeface="Cambria" pitchFamily="34" charset="-120"/>
              </a:rPr>
              <a:t>74%</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C7D0C2"/>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5B6559"/>
                </a:solidFill>
                <a:latin typeface="Calibri" pitchFamily="34" charset="0"/>
                <a:ea typeface="Calibri" pitchFamily="34" charset="-122"/>
                <a:cs typeface="Calibri" pitchFamily="34" charset="-120"/>
              </a:rPr>
              <a:t>El 54% (19 de 35) sufrió ambas cosas en el mismo mes — el mismo tiempo y dinero (200-400€/año)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2EFE7"/>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6821E"/>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6402C"/>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DCE3D6"/>
          </a:solidFill>
          <a:ln/>
        </p:spPr>
      </p:sp>
      <p:sp>
        <p:nvSpPr>
          <p:cNvPr id="21" name="Shape 18"/>
          <p:cNvSpPr/>
          <p:nvPr/>
        </p:nvSpPr>
        <p:spPr>
          <a:xfrm>
            <a:off x="2788920" y="3675888"/>
            <a:ext cx="3566160" cy="219456"/>
          </a:xfrm>
          <a:prstGeom prst="roundRect">
            <a:avLst>
              <a:gd name="adj" fmla="val 16667"/>
            </a:avLst>
          </a:prstGeom>
          <a:solidFill>
            <a:srgbClr val="E3A94A"/>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6402C"/>
                </a:solidFill>
                <a:latin typeface="Calibri" pitchFamily="34" charset="0"/>
                <a:ea typeface="Calibri" pitchFamily="34" charset="-122"/>
                <a:cs typeface="Calibri" pitchFamily="34" charset="-120"/>
              </a:rPr>
              <a:t>13</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6402C"/>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DCE3D6"/>
          </a:solidFill>
          <a:ln/>
        </p:spPr>
      </p:sp>
      <p:sp>
        <p:nvSpPr>
          <p:cNvPr id="25" name="Shape 22"/>
          <p:cNvSpPr/>
          <p:nvPr/>
        </p:nvSpPr>
        <p:spPr>
          <a:xfrm>
            <a:off x="2788920" y="3986784"/>
            <a:ext cx="3291840" cy="219456"/>
          </a:xfrm>
          <a:prstGeom prst="roundRect">
            <a:avLst>
              <a:gd name="adj" fmla="val 16667"/>
            </a:avLst>
          </a:prstGeom>
          <a:solidFill>
            <a:srgbClr val="C6821E"/>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6402C"/>
                </a:solidFill>
                <a:latin typeface="Calibri" pitchFamily="34" charset="0"/>
                <a:ea typeface="Calibri" pitchFamily="34" charset="-122"/>
                <a:cs typeface="Calibri" pitchFamily="34" charset="-120"/>
              </a:rPr>
              <a:t>12</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6402C"/>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DCE3D6"/>
          </a:solidFill>
          <a:ln/>
        </p:spPr>
      </p:sp>
      <p:sp>
        <p:nvSpPr>
          <p:cNvPr id="29" name="Shape 26"/>
          <p:cNvSpPr/>
          <p:nvPr/>
        </p:nvSpPr>
        <p:spPr>
          <a:xfrm>
            <a:off x="2788920" y="4297680"/>
            <a:ext cx="2468880" cy="219456"/>
          </a:xfrm>
          <a:prstGeom prst="roundRect">
            <a:avLst>
              <a:gd name="adj" fmla="val 16667"/>
            </a:avLst>
          </a:prstGeom>
          <a:solidFill>
            <a:srgbClr val="5B6559"/>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6402C"/>
                </a:solidFill>
                <a:latin typeface="Calibri" pitchFamily="34" charset="0"/>
                <a:ea typeface="Calibri" pitchFamily="34" charset="-122"/>
                <a:cs typeface="Calibri" pitchFamily="34" charset="-120"/>
              </a:rPr>
              <a:t>9</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6402C"/>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DCE3D6"/>
          </a:solidFill>
          <a:ln/>
        </p:spPr>
      </p:sp>
      <p:sp>
        <p:nvSpPr>
          <p:cNvPr id="33" name="Shape 30"/>
          <p:cNvSpPr/>
          <p:nvPr/>
        </p:nvSpPr>
        <p:spPr>
          <a:xfrm>
            <a:off x="2788920" y="4608576"/>
            <a:ext cx="274320" cy="219456"/>
          </a:xfrm>
          <a:prstGeom prst="roundRect">
            <a:avLst>
              <a:gd name="adj" fmla="val 16667"/>
            </a:avLst>
          </a:prstGeom>
          <a:solidFill>
            <a:srgbClr val="5B6559"/>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6402C"/>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6402C"/>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DCE3D6"/>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6821E"/>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6821E"/>
                </a:solidFill>
                <a:latin typeface="Calibri" pitchFamily="34" charset="0"/>
                <a:ea typeface="Calibri" pitchFamily="34" charset="-122"/>
                <a:cs typeface="Calibri" pitchFamily="34" charset="-120"/>
              </a:rPr>
              <a:t>↑ 3 personas la probaron alguna vez (Pregunta 7) — pero 0/35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0E0BE"/>
          </a:solidFill>
          <a:ln w="12700">
            <a:solidFill>
              <a:srgbClr val="C6821E"/>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00" b="1" dirty="0">
                <a:solidFill>
                  <a:srgbClr val="C6821E"/>
                </a:solidFill>
                <a:latin typeface="Calibri" pitchFamily="34" charset="0"/>
                <a:ea typeface="Calibri" pitchFamily="34" charset="-122"/>
                <a:cs typeface="Calibri" pitchFamily="34" charset="-120"/>
              </a:rPr>
              <a:t>Las apps no son el problema — la retención sí.  </a:t>
            </a:r>
            <a:endParaRPr lang="en-US" sz="1100" dirty="0"/>
          </a:p>
          <a:p>
            <a:pPr indent="0" marL="0">
              <a:buNone/>
            </a:pPr>
            <a:r>
              <a:rPr lang="en-US" sz="1100" dirty="0">
                <a:solidFill>
                  <a:srgbClr val="26402C"/>
                </a:solidFill>
                <a:latin typeface="Calibri" pitchFamily="34" charset="0"/>
                <a:ea typeface="Calibri" pitchFamily="34" charset="-122"/>
                <a:cs typeface="Calibri" pitchFamily="34" charset="-120"/>
              </a:rPr>
              <a:t>Bring! y AnyList llevan años disponibles y son razonablemente buenas (estado del arte). 3 de 35 personas confirman haberlas probado — pero ninguna las usa hoy. Dos de ellas probaron Bring! y lo dejaron por motivos distintos: una por falta de cooperación de sus compañeros, otra "porque me acaba dando pereza usarla". El hueco no está en construir "una app más" — está en resolver por qué las que existen no retienen ni a quien sí las prueba.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3E8DD"/>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6402C"/>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6821E"/>
                </a:solidFill>
                <a:latin typeface="Calibri" pitchFamily="34" charset="0"/>
                <a:ea typeface="Calibri" pitchFamily="34" charset="-122"/>
                <a:cs typeface="Calibri" pitchFamily="34" charset="-120"/>
              </a:rPr>
              <a:t>Cierto. </a:t>
            </a:r>
            <a:pPr indent="0" marL="0">
              <a:buNone/>
            </a:pPr>
            <a:r>
              <a:rPr lang="en-US" sz="1300" dirty="0">
                <a:solidFill>
                  <a:srgbClr val="26402C"/>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2EFE7"/>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6821E"/>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6402C"/>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ECD9B8"/>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6821E"/>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spcAft>
                <a:spcPts val="600"/>
              </a:spcAft>
              <a:buNone/>
            </a:pPr>
            <a:r>
              <a:rPr lang="en-US" sz="1150" dirty="0">
                <a:solidFill>
                  <a:srgbClr val="26402C"/>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 </a:t>
            </a:r>
            <a:endParaRPr lang="en-US" sz="1150" dirty="0"/>
          </a:p>
          <a:p>
            <a:pPr indent="0" marL="0">
              <a:buNone/>
            </a:pPr>
            <a:r>
              <a:rPr lang="en-US" sz="1150" b="1" dirty="0">
                <a:solidFill>
                  <a:srgbClr val="C6821E"/>
                </a:solidFill>
                <a:latin typeface="Calibri" pitchFamily="34" charset="0"/>
                <a:ea typeface="Calibri" pitchFamily="34" charset="-122"/>
                <a:cs typeface="Calibri" pitchFamily="34" charset="-120"/>
              </a:rPr>
              <a:t>Confirmado en la encuesta: </a:t>
            </a:r>
            <a:pPr indent="0" marL="0">
              <a:buNone/>
            </a:pPr>
            <a:r>
              <a:rPr lang="en-US" sz="1150" i="1" dirty="0">
                <a:solidFill>
                  <a:srgbClr val="26402C"/>
                </a:solidFill>
                <a:latin typeface="Calibri" pitchFamily="34" charset="0"/>
                <a:ea typeface="Calibri" pitchFamily="34" charset="-122"/>
                <a:cs typeface="Calibri" pitchFamily="34" charset="-120"/>
              </a:rPr>
              <a:t>"compro cosas pensando en hacer comidas elaboradas pero nunca las llego a hacer, y acaban pudriéndose".</a:t>
            </a:r>
            <a:endParaRPr lang="en-US" sz="1150" dirty="0"/>
          </a:p>
        </p:txBody>
      </p:sp>
      <p:sp>
        <p:nvSpPr>
          <p:cNvPr id="16" name="Shape 13"/>
          <p:cNvSpPr/>
          <p:nvPr/>
        </p:nvSpPr>
        <p:spPr>
          <a:xfrm>
            <a:off x="548640" y="5760720"/>
            <a:ext cx="11064240" cy="822960"/>
          </a:xfrm>
          <a:prstGeom prst="roundRect">
            <a:avLst>
              <a:gd name="adj" fmla="val 13333"/>
            </a:avLst>
          </a:prstGeom>
          <a:solidFill>
            <a:srgbClr val="26402C"/>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E3A94A"/>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2EFE7"/>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6821E"/>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6402C"/>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3E8DD"/>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6821E"/>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6402C"/>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2EFE7"/>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6821E"/>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6402C"/>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6402C"/>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E3A94A"/>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2EFE7"/>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6821E"/>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5B6559"/>
                </a:solidFill>
                <a:latin typeface="Calibri" pitchFamily="34" charset="0"/>
                <a:ea typeface="Calibri" pitchFamily="34" charset="-122"/>
                <a:cs typeface="Calibri" pitchFamily="34" charset="-120"/>
              </a:rPr>
              <a:t>8 de 35 personas (23%)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6402C"/>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6402C"/>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6402C"/>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6402C"/>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6402C"/>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6402C"/>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3E8DD"/>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6821E"/>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5B6559"/>
                </a:solidFill>
                <a:latin typeface="Calibri" pitchFamily="34" charset="0"/>
                <a:ea typeface="Calibri" pitchFamily="34" charset="-122"/>
                <a:cs typeface="Calibri" pitchFamily="34" charset="-120"/>
              </a:rPr>
              <a:t>3 menciones espontáneas + 12/35 (34%)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6402C"/>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6402C"/>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6402C"/>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6402C"/>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E3A94A"/>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0E0BE"/>
          </a:solidFill>
          <a:ln w="12700">
            <a:solidFill>
              <a:srgbClr val="C6821E"/>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6821E"/>
                </a:solidFill>
                <a:latin typeface="Calibri" pitchFamily="34" charset="0"/>
                <a:ea typeface="Calibri" pitchFamily="34" charset="-122"/>
                <a:cs typeface="Calibri" pitchFamily="34" charset="-120"/>
              </a:rPr>
              <a:t>Ya resuelto en P1, gratis:  </a:t>
            </a:r>
            <a:pPr indent="0" marL="0">
              <a:buNone/>
            </a:pPr>
            <a:r>
              <a:rPr lang="en-US" sz="1100" dirty="0">
                <a:solidFill>
                  <a:srgbClr val="26402C"/>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2EFE7"/>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6821E"/>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3400" b="1" dirty="0">
                <a:solidFill>
                  <a:srgbClr val="26402C"/>
                </a:solidFill>
                <a:latin typeface="Cambria" pitchFamily="34" charset="0"/>
                <a:ea typeface="Cambria" pitchFamily="34" charset="-122"/>
                <a:cs typeface="Cambria" pitchFamily="34" charset="-120"/>
              </a:rPr>
              <a:t>&gt; 13.300</a:t>
            </a:r>
            <a:endParaRPr lang="en-US" sz="34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5B6559"/>
                </a:solidFill>
                <a:latin typeface="Calibri" pitchFamily="34" charset="0"/>
                <a:ea typeface="Calibri" pitchFamily="34" charset="-122"/>
                <a:cs typeface="Calibri" pitchFamily="34" charset="-120"/>
              </a:rPr>
              <a:t>Estudiantes matriculados en la UDC (curso 2025-26, ambos campus)</a:t>
            </a:r>
            <a:endParaRPr lang="en-US" sz="1050" dirty="0"/>
          </a:p>
        </p:txBody>
      </p:sp>
      <p:sp>
        <p:nvSpPr>
          <p:cNvPr id="10" name="Shape 7"/>
          <p:cNvSpPr/>
          <p:nvPr/>
        </p:nvSpPr>
        <p:spPr>
          <a:xfrm>
            <a:off x="4297680" y="1463040"/>
            <a:ext cx="3566160" cy="2468880"/>
          </a:xfrm>
          <a:prstGeom prst="roundRect">
            <a:avLst>
              <a:gd name="adj" fmla="val 4444"/>
            </a:avLst>
          </a:prstGeom>
          <a:solidFill>
            <a:srgbClr val="26402C"/>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E3A94A"/>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4.123</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C7D0C2"/>
                </a:solidFill>
                <a:latin typeface="Calibri" pitchFamily="34" charset="0"/>
                <a:ea typeface="Calibri" pitchFamily="34" charset="-122"/>
                <a:cs typeface="Calibri" pitchFamily="34" charset="-120"/>
              </a:rPr>
              <a:t>31% cambia de ciudad para estudiar — % nacional aplicado a la UDC (Fundación CYD)</a:t>
            </a:r>
            <a:endParaRPr lang="en-US" sz="1050" dirty="0"/>
          </a:p>
        </p:txBody>
      </p:sp>
      <p:sp>
        <p:nvSpPr>
          <p:cNvPr id="14" name="Shape 11"/>
          <p:cNvSpPr/>
          <p:nvPr/>
        </p:nvSpPr>
        <p:spPr>
          <a:xfrm>
            <a:off x="8046720" y="1463040"/>
            <a:ext cx="3566160" cy="2468880"/>
          </a:xfrm>
          <a:prstGeom prst="roundRect">
            <a:avLst>
              <a:gd name="adj" fmla="val 4444"/>
            </a:avLst>
          </a:prstGeom>
          <a:solidFill>
            <a:srgbClr val="F2EFE7"/>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6821E"/>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6402C"/>
                </a:solidFill>
                <a:latin typeface="Cambria" pitchFamily="34" charset="0"/>
                <a:ea typeface="Cambria" pitchFamily="34" charset="-122"/>
                <a:cs typeface="Cambria" pitchFamily="34" charset="-120"/>
              </a:rPr>
              <a:t>≈ 650 pisos</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5B6559"/>
                </a:solidFill>
                <a:latin typeface="Calibri" pitchFamily="34" charset="0"/>
                <a:ea typeface="Calibri" pitchFamily="34" charset="-122"/>
                <a:cs typeface="Calibri" pitchFamily="34" charset="-120"/>
              </a:rPr>
              <a:t>55% de esos comparte piso ÷ 3,5 pers./piso de media</a:t>
            </a:r>
            <a:endParaRPr lang="en-US" sz="1050" dirty="0"/>
          </a:p>
        </p:txBody>
      </p:sp>
      <p:sp>
        <p:nvSpPr>
          <p:cNvPr id="18" name="Shape 15"/>
          <p:cNvSpPr/>
          <p:nvPr/>
        </p:nvSpPr>
        <p:spPr>
          <a:xfrm>
            <a:off x="548640" y="4160520"/>
            <a:ext cx="11064240" cy="1965960"/>
          </a:xfrm>
          <a:prstGeom prst="roundRect">
            <a:avLst>
              <a:gd name="adj" fmla="val 4651"/>
            </a:avLst>
          </a:prstGeom>
          <a:solidFill>
            <a:srgbClr val="F0E0BE"/>
          </a:solidFill>
          <a:ln w="12700">
            <a:solidFill>
              <a:srgbClr val="C6821E"/>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6821E"/>
                </a:solidFill>
                <a:latin typeface="Calibri" pitchFamily="34" charset="0"/>
                <a:ea typeface="Calibri" pitchFamily="34" charset="-122"/>
                <a:cs typeface="Calibri" pitchFamily="34" charset="-120"/>
              </a:rPr>
              <a:t>Margen de error reconocido:  </a:t>
            </a:r>
            <a:endParaRPr lang="en-US" sz="1200" dirty="0"/>
          </a:p>
          <a:p>
            <a:pPr indent="0" marL="0">
              <a:spcAft>
                <a:spcPts val="600"/>
              </a:spcAft>
              <a:buNone/>
            </a:pPr>
            <a:r>
              <a:rPr lang="en-US" sz="1200" dirty="0">
                <a:solidFill>
                  <a:srgbClr val="26402C"/>
                </a:solidFill>
                <a:latin typeface="Calibri" pitchFamily="34" charset="0"/>
                <a:ea typeface="Calibri" pitchFamily="34" charset="-122"/>
                <a:cs typeface="Calibri" pitchFamily="34" charset="-120"/>
              </a:rPr>
              <a:t>la cifra de ≈650 pisos encadena 3 supuestos (% que cambia de ciudad, % que comparte piso, tamaño medio del piso) — es una estimación gruesa, no un conteo exacto. Deja fuera a jóvenes trabajadores que comparten piso y sufren el mismo problema, pero no salen en estas estadísticas.</a:t>
            </a:r>
            <a:endParaRPr lang="en-US" sz="1200" dirty="0"/>
          </a:p>
          <a:p>
            <a:pPr indent="0" marL="0">
              <a:buNone/>
            </a:pPr>
            <a:r>
              <a:rPr lang="en-US" sz="1200" b="1" dirty="0">
                <a:solidFill>
                  <a:srgbClr val="C6821E"/>
                </a:solidFill>
                <a:latin typeface="Calibri" pitchFamily="34" charset="0"/>
                <a:ea typeface="Calibri" pitchFamily="34" charset="-122"/>
                <a:cs typeface="Calibri" pitchFamily="34" charset="-120"/>
              </a:rPr>
              <a:t>Para contexto, no como objetivo:  </a:t>
            </a:r>
            <a:endParaRPr lang="en-US" sz="1200" dirty="0"/>
          </a:p>
          <a:p>
            <a:pPr indent="0" marL="0">
              <a:buNone/>
            </a:pPr>
            <a:r>
              <a:rPr lang="en-US" sz="1200" dirty="0">
                <a:solidFill>
                  <a:srgbClr val="26402C"/>
                </a:solidFill>
                <a:latin typeface="Calibri" pitchFamily="34" charset="0"/>
                <a:ea typeface="Calibri" pitchFamily="34" charset="-122"/>
                <a:cs typeface="Calibri" pitchFamily="34" charset="-120"/>
              </a:rPr>
              <a:t>A Coruña tiene ≈99.700 hogares de 2+ personas — el techo si algún día se sirviera a cualquier hogar, no solo a estudiantes.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2EFE7"/>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6402C"/>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2EFE7"/>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6402C"/>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2EFE7"/>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6402C"/>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2EFE7"/>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6402C"/>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2EFE7"/>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6402C"/>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2EFE7"/>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6402C"/>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6402C"/>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E3A94A"/>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0E0BE"/>
          </a:solidFill>
          <a:ln w="12700">
            <a:solidFill>
              <a:srgbClr val="C6821E"/>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6402C"/>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5B6559"/>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ECD9B8"/>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6821E"/>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EDEAE1"/>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E3A94A"/>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Lectura de tickets → items (Groq API, free tier — la IA solo se usa aquí)</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EDEAE1"/>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5B6559"/>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6402C"/>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6402C"/>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E3A94A"/>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C7D0C2"/>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6821E"/>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6402C"/>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2EFE7"/>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3E8DD"/>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2EFE7"/>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10-15 min/lista a ojo, 1-2 viajes/semana sin plan, 200-400€/año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3E8DD"/>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2EFE7"/>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3E8DD"/>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2EFE7"/>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6821E"/>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6402C"/>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6402C"/>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6821E"/>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DCE3D6"/>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DCE3D6"/>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DCE3D6"/>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DCE3D6"/>
                </a:solidFill>
                <a:latin typeface="Calibri" pitchFamily="34" charset="0"/>
                <a:ea typeface="Calibri" pitchFamily="34" charset="-122"/>
                <a:cs typeface="Calibri" pitchFamily="34" charset="-120"/>
              </a:rPr>
              <a:t>Lectura de tickets (Groq API) y aviso de turno de compra (bot de Telegram)</a:t>
            </a:r>
            <a:endParaRPr lang="en-US" sz="1600" dirty="0"/>
          </a:p>
          <a:p>
            <a:pPr marL="342900" indent="-342900">
              <a:spcAft>
                <a:spcPts val="1200"/>
              </a:spcAft>
              <a:buSzPct val="100000"/>
              <a:buChar char="→"/>
            </a:pPr>
            <a:r>
              <a:rPr lang="en-US" sz="1600" dirty="0">
                <a:solidFill>
                  <a:srgbClr val="DCE3D6"/>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3513A"/>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E3A94A"/>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2026-09-18T11:15:10Z</dcterms:created>
  <dcterms:modified xsi:type="dcterms:W3CDTF">2026-09-18T11:15:10Z</dcterms:modified>
</cp:coreProperties>
</file>