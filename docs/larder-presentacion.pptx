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Portada. Larder es el Proyecto Transversal de 2o DAM (P1). Presentar el nombre y encuadrar: es un documento de ideacion, no todavia el producto acabado.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dato de 1.040€/año sale de una estimacion propia (10€ de media perdidos por viaje), no de una fuente externa. Es honesto explicar que la primera cifra que se penso (120€/ano) no cuadraba con las cuentas reales, y se corrigio.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fila de Out of Milk se genero con IA (nivel IA-2) y no se pudo verificar como app real. Se documenta la retractacion en vez de ocultarla: es exactamente lo que pide el guion sobre no dar por cierto un dato de IA sin comprobar.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Conclusion del estado del arte: el hueco es de usabilidad y de combinar nevera+lista, no de estetica.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 amplio el segmento objetivo a estudiantes+parejas+cualquiera que comparta gastos. Al no encontrar un desglose fiable para ese cruce en A Coruña, el mercado objetivo se iguala al accesible, y se documenta honestamente la limitacion de la busqueda.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Coste fijo 0 porque se usa el tier gratuito de Render, sin dominio de pago. Eso hace el punto de equilibrio trivial (1 hogar), pero viene con un coste tecnico real: sleep del servicio y disco efimero para SQLite.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Nadie nos elegiria por construir facturacion o cobro con tarjeta propios; si por como llevamos nevera y lista compartida. Orden de construccion: una pantalla completa antes de abrir la siguiente.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nombre Larder es una palabra inglesa comun (despensa) — revisar en P5 si dificulta encontrarlo en buscadores. De momento se mantiene.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Cierre. Recalcar que lo entregado el viernes es la ideacion completa (docs/ideacion.md), no codigo terminado — eso es correcto para P1 en esta fase.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E21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85800"/>
            <a:ext cx="822960" cy="822960"/>
          </a:xfrm>
          <a:prstGeom prst="ellipse">
            <a:avLst/>
          </a:prstGeom>
          <a:solidFill>
            <a:srgbClr val="C9682B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0470" y="883310"/>
            <a:ext cx="427939" cy="427939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77240" y="228600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LARDER</a:t>
            </a:r>
            <a:endParaRPr lang="en-US" sz="60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3429000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nevera y la compra de un hogar compartido, sin líos ni WhatsApp</a:t>
            </a:r>
            <a:endParaRPr lang="en-US" sz="1800" dirty="0"/>
          </a:p>
        </p:txBody>
      </p:sp>
      <p:sp>
        <p:nvSpPr>
          <p:cNvPr id="6" name="Shape 3"/>
          <p:cNvSpPr/>
          <p:nvPr/>
        </p:nvSpPr>
        <p:spPr>
          <a:xfrm>
            <a:off x="822960" y="5394960"/>
            <a:ext cx="7498080" cy="777240"/>
          </a:xfrm>
          <a:prstGeom prst="roundRect">
            <a:avLst>
              <a:gd name="adj" fmla="val 11765"/>
            </a:avLst>
          </a:prstGeom>
          <a:solidFill>
            <a:srgbClr val="3D2E23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1051560" y="5486400"/>
            <a:ext cx="7132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Transversal · Sesión 00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8CB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2º DAM  ·  Bloque P1 — Que exista  ·  Documento de ideación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C9682B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4703" y="593263"/>
            <a:ext cx="294803" cy="294803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280160" y="43891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6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PASO 1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1280160" y="676656"/>
            <a:ext cx="9601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1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frase del dolor</a:t>
            </a:r>
            <a:endParaRPr lang="en-US" sz="2800" dirty="0"/>
          </a:p>
        </p:txBody>
      </p:sp>
      <p:sp>
        <p:nvSpPr>
          <p:cNvPr id="6" name="Shape 3"/>
          <p:cNvSpPr/>
          <p:nvPr/>
        </p:nvSpPr>
        <p:spPr>
          <a:xfrm>
            <a:off x="548640" y="1417320"/>
            <a:ext cx="5212080" cy="2286000"/>
          </a:xfrm>
          <a:prstGeom prst="roundRect">
            <a:avLst>
              <a:gd name="adj" fmla="val 4800"/>
            </a:avLst>
          </a:prstGeom>
          <a:solidFill>
            <a:srgbClr val="EDE6DC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777240" y="16002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A7A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1920240"/>
            <a:ext cx="47548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2E21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"En mi casa perdemos tiempo controlando qué queda en la nevera y organizando la compra."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5989320" y="1417320"/>
            <a:ext cx="5669280" cy="2286000"/>
          </a:xfrm>
          <a:prstGeom prst="roundRect">
            <a:avLst>
              <a:gd name="adj" fmla="val 4800"/>
            </a:avLst>
          </a:prstGeom>
          <a:solidFill>
            <a:srgbClr val="F4E9DA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6217920" y="16002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C96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DESPUÉS — con datos reales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6217920" y="1920240"/>
            <a:ext cx="521208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E21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Iago y Nadia pierden 10-15 min cada vez que hacen la lista a ojo con papel y boli, van a la tienda 2 veces/semana sin planificar, y casi siempre acaban comprando algo duplicado o volviendo por algo olvidado.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548640" y="3977640"/>
            <a:ext cx="4754880" cy="1737360"/>
          </a:xfrm>
          <a:prstGeom prst="roundRect">
            <a:avLst>
              <a:gd name="adj" fmla="val 6316"/>
            </a:avLst>
          </a:prstGeom>
          <a:solidFill>
            <a:srgbClr val="2E2119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548640" y="4160520"/>
            <a:ext cx="4754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D9A4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1.040 €</a:t>
            </a:r>
            <a:endParaRPr lang="en-US" sz="4400" dirty="0"/>
          </a:p>
        </p:txBody>
      </p:sp>
      <p:sp>
        <p:nvSpPr>
          <p:cNvPr id="14" name="Text 11"/>
          <p:cNvSpPr txBox="1"/>
          <p:nvPr/>
        </p:nvSpPr>
        <p:spPr>
          <a:xfrm>
            <a:off x="731520" y="5074920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perdidos al año en compras mal planificadas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5532120" y="3977640"/>
            <a:ext cx="6126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E21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se calculó:  </a:t>
            </a:r>
            <a:endParaRPr lang="en-US" sz="13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2E21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10 €/viaje × 2 viajes/semana × 52 semanas ≈ 1.040 €/año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E21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 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E21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experiencia directa del hogar (Iago, Nadia, Muxia) — dato de primera mano, sin fuente externa.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C9682B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4703" y="593263"/>
            <a:ext cx="294803" cy="294803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280160" y="43891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6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PASO 2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1280160" y="676656"/>
            <a:ext cx="9601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1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Estado del arte — la competencia</a:t>
            </a:r>
            <a:endParaRPr lang="en-US" sz="2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64240" cy="2194560"/>
        </p:xfrm>
        <a:graphic>
          <a:graphicData uri="http://schemas.openxmlformats.org/drawingml/2006/table">
            <a:tbl>
              <a:tblPr/>
              <a:tblGrid>
                <a:gridCol w="2377440"/>
                <a:gridCol w="4297680"/>
                <a:gridCol w="438912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Solución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11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Qué resuelve bien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11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Qué le reprochan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119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E211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Papel y boli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E211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Gratis, sin curva de aprendizaje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E211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 overview fija: no evita duplicados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E211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Grupo de WhatsApp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E211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Ya instalado, se mira a diario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E211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 aviso se pierde entre mensajes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E211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Bring!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E211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Listas simples por categorías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E211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Borra items sin querer; pide cuenta hasta en solitario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E211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AnyList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E211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Listas compartidas + recetas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E211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Interfaz "obtusa"; borra el item al marcarlo comprado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3"/>
          <p:cNvSpPr/>
          <p:nvPr/>
        </p:nvSpPr>
        <p:spPr>
          <a:xfrm>
            <a:off x="548640" y="3840480"/>
            <a:ext cx="11064240" cy="1417320"/>
          </a:xfrm>
          <a:prstGeom prst="roundRect">
            <a:avLst>
              <a:gd name="adj" fmla="val 7742"/>
            </a:avLst>
          </a:prstGeom>
          <a:solidFill>
            <a:srgbClr val="F4E9DA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4"/>
          <p:cNvSpPr txBox="1"/>
          <p:nvPr/>
        </p:nvSpPr>
        <p:spPr>
          <a:xfrm>
            <a:off x="777240" y="39776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96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Cita literal verificada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425196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2E21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"El icono de la aplicación aparece marcado como comprado en el Apple Watch pero no llega a descargarse ni a instalarse."</a:t>
            </a:r>
            <a:endParaRPr lang="en-US" sz="1300" dirty="0"/>
          </a:p>
        </p:txBody>
      </p:sp>
      <p:sp>
        <p:nvSpPr>
          <p:cNvPr id="10" name="Text 6"/>
          <p:cNvSpPr txBox="1"/>
          <p:nvPr/>
        </p:nvSpPr>
        <p:spPr>
          <a:xfrm>
            <a:off x="777240" y="4800600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7A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Reseña real verificada de Bring! Grocery Shopping List, App Store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548640" y="5440680"/>
            <a:ext cx="11064240" cy="960120"/>
          </a:xfrm>
          <a:prstGeom prst="roundRect">
            <a:avLst>
              <a:gd name="adj" fmla="val 9524"/>
            </a:avLst>
          </a:prstGeom>
          <a:solidFill>
            <a:srgbClr val="F6E9D8"/>
          </a:solidFill>
          <a:ln w="12700">
            <a:solidFill>
              <a:srgbClr val="C9682B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777240" y="553212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96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Corrección honesta:  </a:t>
            </a:r>
            <a:pPr indent="0" marL="0">
              <a:buNone/>
            </a:pPr>
            <a:r>
              <a:rPr lang="en-US" sz="1200" dirty="0">
                <a:solidFill>
                  <a:srgbClr val="2E21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tercera app ("Out of Milk") encontrada por búsqueda IA no superó la verificación real y se retiró del análisis, en vez de darse por buena.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C9682B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4703" y="593263"/>
            <a:ext cx="294803" cy="294803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280160" y="43891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6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PASO 2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1280160" y="676656"/>
            <a:ext cx="9601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1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Estado del arte — el hueco detectado</a:t>
            </a:r>
            <a:endParaRPr lang="en-US" sz="2800" dirty="0"/>
          </a:p>
        </p:txBody>
      </p:sp>
      <p:sp>
        <p:nvSpPr>
          <p:cNvPr id="6" name="Shape 3"/>
          <p:cNvSpPr/>
          <p:nvPr/>
        </p:nvSpPr>
        <p:spPr>
          <a:xfrm>
            <a:off x="548640" y="150876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4E9DA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822960" y="1618488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68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 usabilidad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3657600" y="1618488"/>
            <a:ext cx="7772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E21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 solución exige abrir "otra app" aparte del WhatsApp de siempre — por eso se abandonan a las 2 pruebas.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548640" y="269748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EDE6DC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822960" y="2807208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68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Funcional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3657600" y="2807208"/>
            <a:ext cx="7772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E21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Ninguna combina lista de la compra con inventario real de nevera.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48640" y="38862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4E9DA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822960" y="3995928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68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 fiabilidad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3657600" y="3995928"/>
            <a:ext cx="7772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E21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las apps "serias" tienen fallos básicos (AnyList borra items al marcarlos comprados).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548640" y="521208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2E2119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868680" y="5330952"/>
            <a:ext cx="10424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hueco no es "una lista más bonita": es combinar nevera + lista compartida sin fricción de aprendizaje, resistiendo bien que dos personas la usen a la vez.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C9682B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4703" y="593263"/>
            <a:ext cx="294803" cy="294803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280160" y="43891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6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PASO 3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1280160" y="676656"/>
            <a:ext cx="9601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1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Estudio de mercado — A Coruña</a:t>
            </a:r>
            <a:endParaRPr lang="en-US" sz="2800" dirty="0"/>
          </a:p>
        </p:txBody>
      </p:sp>
      <p:sp>
        <p:nvSpPr>
          <p:cNvPr id="6" name="Shape 3"/>
          <p:cNvSpPr/>
          <p:nvPr/>
        </p:nvSpPr>
        <p:spPr>
          <a:xfrm>
            <a:off x="548640" y="1463040"/>
            <a:ext cx="3566160" cy="2468880"/>
          </a:xfrm>
          <a:prstGeom prst="roundRect">
            <a:avLst>
              <a:gd name="adj" fmla="val 4444"/>
            </a:avLst>
          </a:prstGeom>
          <a:solidFill>
            <a:srgbClr val="F4E9DA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777240" y="164592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96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 TOTAL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01168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21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Hogares de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2E21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España 2+ pers.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306324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A7A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Tamaño medio 2,50 pers./hogar (INE 2023)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4297680" y="1463040"/>
            <a:ext cx="3566160" cy="2468880"/>
          </a:xfrm>
          <a:prstGeom prst="roundRect">
            <a:avLst>
              <a:gd name="adj" fmla="val 4444"/>
            </a:avLst>
          </a:prstGeom>
          <a:solidFill>
            <a:srgbClr val="2E211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4526280" y="164592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 ACCESIBLE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4526280" y="201168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99.700</a:t>
            </a:r>
            <a:endParaRPr lang="en-US" sz="3400" dirty="0"/>
          </a:p>
        </p:txBody>
      </p:sp>
      <p:sp>
        <p:nvSpPr>
          <p:cNvPr id="13" name="Text 10"/>
          <p:cNvSpPr txBox="1"/>
          <p:nvPr/>
        </p:nvSpPr>
        <p:spPr>
          <a:xfrm>
            <a:off x="4526280" y="306324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D8CB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249.261 hab. ÷ 2,50 pers./hogar (INE/IGE 2024)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8046720" y="1463040"/>
            <a:ext cx="3566160" cy="2468880"/>
          </a:xfrm>
          <a:prstGeom prst="roundRect">
            <a:avLst>
              <a:gd name="adj" fmla="val 4444"/>
            </a:avLst>
          </a:prstGeom>
          <a:solidFill>
            <a:srgbClr val="F4E9DA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Text 12"/>
          <p:cNvSpPr txBox="1"/>
          <p:nvPr/>
        </p:nvSpPr>
        <p:spPr>
          <a:xfrm>
            <a:off x="8275320" y="164592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96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 OBJETIVO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8275320" y="201168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21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99.700</a:t>
            </a:r>
            <a:endParaRPr lang="en-US" sz="3400" dirty="0"/>
          </a:p>
        </p:txBody>
      </p:sp>
      <p:sp>
        <p:nvSpPr>
          <p:cNvPr id="17" name="Text 14"/>
          <p:cNvSpPr txBox="1"/>
          <p:nvPr/>
        </p:nvSpPr>
        <p:spPr>
          <a:xfrm>
            <a:off x="8275320" y="306324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A7A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Coincide con el accesible — ver nota abajo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548640" y="4160520"/>
            <a:ext cx="11064240" cy="1965960"/>
          </a:xfrm>
          <a:prstGeom prst="roundRect">
            <a:avLst>
              <a:gd name="adj" fmla="val 4651"/>
            </a:avLst>
          </a:prstGeom>
          <a:solidFill>
            <a:srgbClr val="F6E9D8"/>
          </a:solidFill>
          <a:ln w="12700">
            <a:solidFill>
              <a:srgbClr val="C9682B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77240" y="4279392"/>
            <a:ext cx="10607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96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 honesta sobre la búsqueda:  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2E21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se encontró un desglose público fiable de "hogares no familiares/parejas sin hijos" a nivel de A Coruña — es un resultado válido en sí mismo, no un dato inventado.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C96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Suelo verificable:  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E21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650 pisos de estudiantes en A Coruña (UDC &gt;13.300 matriculados · 31% cambia de ciudad · 55% comparte piso — Fundación CYD).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C9682B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4703" y="593263"/>
            <a:ext cx="294803" cy="294803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280160" y="43891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6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PASO 4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1280160" y="676656"/>
            <a:ext cx="9601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1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servilleta de 6 casillas</a:t>
            </a:r>
            <a:endParaRPr lang="en-US" sz="2800" dirty="0"/>
          </a:p>
        </p:txBody>
      </p:sp>
      <p:sp>
        <p:nvSpPr>
          <p:cNvPr id="6" name="Shape 3"/>
          <p:cNvSpPr/>
          <p:nvPr/>
        </p:nvSpPr>
        <p:spPr>
          <a:xfrm>
            <a:off x="548640" y="1417320"/>
            <a:ext cx="3611880" cy="960120"/>
          </a:xfrm>
          <a:prstGeom prst="roundRect">
            <a:avLst>
              <a:gd name="adj" fmla="val 11429"/>
            </a:avLst>
          </a:prstGeom>
          <a:solidFill>
            <a:srgbClr val="F4E9DA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731520" y="1508760"/>
            <a:ext cx="3246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96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VENDEMOS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1764792"/>
            <a:ext cx="3246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E21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Suscripción mensual por hogar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4297680" y="1417320"/>
            <a:ext cx="3611880" cy="960120"/>
          </a:xfrm>
          <a:prstGeom prst="roundRect">
            <a:avLst>
              <a:gd name="adj" fmla="val 11429"/>
            </a:avLst>
          </a:prstGeom>
          <a:solidFill>
            <a:srgbClr val="F4E9DA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4480560" y="1508760"/>
            <a:ext cx="3246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96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QUIÉN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4480560" y="1764792"/>
            <a:ext cx="3246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E21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Quien organiza la compra en un hogar compartido de A Coruña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8046720" y="1417320"/>
            <a:ext cx="3611880" cy="960120"/>
          </a:xfrm>
          <a:prstGeom prst="roundRect">
            <a:avLst>
              <a:gd name="adj" fmla="val 11429"/>
            </a:avLst>
          </a:prstGeom>
          <a:solidFill>
            <a:srgbClr val="F4E9DA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8229600" y="1508760"/>
            <a:ext cx="3246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96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CUÁNTO</a:t>
            </a:r>
            <a:endParaRPr lang="en-US" sz="1000" dirty="0"/>
          </a:p>
        </p:txBody>
      </p:sp>
      <p:sp>
        <p:nvSpPr>
          <p:cNvPr id="14" name="Text 11"/>
          <p:cNvSpPr txBox="1"/>
          <p:nvPr/>
        </p:nvSpPr>
        <p:spPr>
          <a:xfrm>
            <a:off x="8229600" y="1764792"/>
            <a:ext cx="3246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E21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0,99 €/mes por hogar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548640" y="2514600"/>
            <a:ext cx="3611880" cy="960120"/>
          </a:xfrm>
          <a:prstGeom prst="roundRect">
            <a:avLst>
              <a:gd name="adj" fmla="val 11429"/>
            </a:avLst>
          </a:prstGeom>
          <a:solidFill>
            <a:srgbClr val="F4E9DA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731520" y="2606040"/>
            <a:ext cx="3246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96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NOS CUESTA</a:t>
            </a:r>
            <a:endParaRPr lang="en-US" sz="1000" dirty="0"/>
          </a:p>
        </p:txBody>
      </p:sp>
      <p:sp>
        <p:nvSpPr>
          <p:cNvPr id="17" name="Text 14"/>
          <p:cNvSpPr txBox="1"/>
          <p:nvPr/>
        </p:nvSpPr>
        <p:spPr>
          <a:xfrm>
            <a:off x="731520" y="2862072"/>
            <a:ext cx="3246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E21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Coste fijo: 0 € (hosting gratuito). Variable: 0 €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4297680" y="2514600"/>
            <a:ext cx="3611880" cy="960120"/>
          </a:xfrm>
          <a:prstGeom prst="roundRect">
            <a:avLst>
              <a:gd name="adj" fmla="val 11429"/>
            </a:avLst>
          </a:prstGeom>
          <a:solidFill>
            <a:srgbClr val="F4E9DA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4480560" y="2606040"/>
            <a:ext cx="3246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96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CUÁNTOS HACEN FALTA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4480560" y="2862072"/>
            <a:ext cx="3246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E21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Punto de equilibrio: 1 hogar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8046720" y="2514600"/>
            <a:ext cx="3611880" cy="960120"/>
          </a:xfrm>
          <a:prstGeom prst="roundRect">
            <a:avLst>
              <a:gd name="adj" fmla="val 11429"/>
            </a:avLst>
          </a:prstGeom>
          <a:solidFill>
            <a:srgbClr val="F4E9DA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8229600" y="2606040"/>
            <a:ext cx="3246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96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CUÁNTOS HAY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8229600" y="2862072"/>
            <a:ext cx="3246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E21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99.700 hogares accesibles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548640" y="3657600"/>
            <a:ext cx="5349240" cy="1417320"/>
          </a:xfrm>
          <a:prstGeom prst="roundRect">
            <a:avLst>
              <a:gd name="adj" fmla="val 7742"/>
            </a:avLst>
          </a:prstGeom>
          <a:solidFill>
            <a:srgbClr val="2E2119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548640" y="3767328"/>
            <a:ext cx="5349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D9A4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hogar</a:t>
            </a:r>
            <a:endParaRPr lang="en-US" sz="3400" dirty="0"/>
          </a:p>
        </p:txBody>
      </p:sp>
      <p:sp>
        <p:nvSpPr>
          <p:cNvPr id="26" name="Text 23"/>
          <p:cNvSpPr txBox="1"/>
          <p:nvPr/>
        </p:nvSpPr>
        <p:spPr>
          <a:xfrm>
            <a:off x="777240" y="4434840"/>
            <a:ext cx="4892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punto de equilibrio — coste fijo 0€ ÷ margen 0,99€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6035040" y="3657600"/>
            <a:ext cx="5577840" cy="1417320"/>
          </a:xfrm>
          <a:prstGeom prst="roundRect">
            <a:avLst>
              <a:gd name="adj" fmla="val 6452"/>
            </a:avLst>
          </a:prstGeom>
          <a:solidFill>
            <a:srgbClr val="F6E9D8"/>
          </a:solidFill>
          <a:ln w="12700">
            <a:solidFill>
              <a:srgbClr val="C9682B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263640" y="3767328"/>
            <a:ext cx="5120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2E21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Lectura honesta: el nivel gratuito "duerme" sin uso y el disco es efímero (riesgo real para SQLite). El reto no son los números — es que alguien pague por algo que la competencia da gratis.</a:t>
            </a:r>
            <a:endParaRPr lang="en-US" sz="1150" dirty="0"/>
          </a:p>
        </p:txBody>
      </p:sp>
      <p:sp>
        <p:nvSpPr>
          <p:cNvPr id="29" name="Text 26"/>
          <p:cNvSpPr txBox="1"/>
          <p:nvPr/>
        </p:nvSpPr>
        <p:spPr>
          <a:xfrm>
            <a:off x="548640" y="534924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7A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Decisión explícita: no se adelanta dinero propio en hosting mientras el proyecto no genere ingresos.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C9682B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4703" y="593263"/>
            <a:ext cx="294803" cy="294803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280160" y="43891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6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PASO 5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1280160" y="676656"/>
            <a:ext cx="9601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1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Las 3 columnas del alcance</a:t>
            </a:r>
            <a:endParaRPr lang="en-US" sz="2800" dirty="0"/>
          </a:p>
        </p:txBody>
      </p:sp>
      <p:sp>
        <p:nvSpPr>
          <p:cNvPr id="6" name="Shape 3"/>
          <p:cNvSpPr/>
          <p:nvPr/>
        </p:nvSpPr>
        <p:spPr>
          <a:xfrm>
            <a:off x="548640" y="1417320"/>
            <a:ext cx="3611880" cy="3246120"/>
          </a:xfrm>
          <a:prstGeom prst="roundRect">
            <a:avLst>
              <a:gd name="adj" fmla="val 3380"/>
            </a:avLst>
          </a:prstGeom>
          <a:solidFill>
            <a:srgbClr val="F6E4D3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31520" y="1600200"/>
            <a:ext cx="3246120" cy="411480"/>
          </a:xfrm>
          <a:prstGeom prst="roundRect">
            <a:avLst>
              <a:gd name="adj" fmla="val 17778"/>
            </a:avLst>
          </a:prstGeom>
          <a:solidFill>
            <a:srgbClr val="C9682B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31520" y="1600200"/>
            <a:ext cx="3246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construimos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2194560"/>
            <a:ext cx="31546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2E21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Nevera: inventario + aviso de stock bajo</a:t>
            </a:r>
            <a:endParaRPr lang="en-US" sz="11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2E21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Lista compartida con control de concurrencia</a:t>
            </a:r>
            <a:endParaRPr lang="en-US" sz="11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2E21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Historial + cálculo de quién debe a quién</a:t>
            </a:r>
            <a:endParaRPr lang="en-US" sz="11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2E21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Comparador de precios por tienda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297680" y="1417320"/>
            <a:ext cx="3611880" cy="3246120"/>
          </a:xfrm>
          <a:prstGeom prst="roundRect">
            <a:avLst>
              <a:gd name="adj" fmla="val 3380"/>
            </a:avLst>
          </a:prstGeom>
          <a:solidFill>
            <a:srgbClr val="F4EFE8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480560" y="1600200"/>
            <a:ext cx="3246120" cy="411480"/>
          </a:xfrm>
          <a:prstGeom prst="roundRect">
            <a:avLst>
              <a:gd name="adj" fmla="val 17778"/>
            </a:avLst>
          </a:prstGeom>
          <a:solidFill>
            <a:srgbClr val="D9A441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480560" y="1600200"/>
            <a:ext cx="3246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hace Odoo (ERP)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4526280" y="2194560"/>
            <a:ext cx="31546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2E21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Catálogo de productos y precios por tienda (Pricelists)</a:t>
            </a:r>
            <a:endParaRPr lang="en-US" sz="11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2E21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Facturación real de la suscripción, si se cobrase algún día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8046720" y="1417320"/>
            <a:ext cx="3611880" cy="3246120"/>
          </a:xfrm>
          <a:prstGeom prst="roundRect">
            <a:avLst>
              <a:gd name="adj" fmla="val 3380"/>
            </a:avLst>
          </a:prstGeom>
          <a:solidFill>
            <a:srgbClr val="F4EFE8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8229600" y="1600200"/>
            <a:ext cx="3246120" cy="411480"/>
          </a:xfrm>
          <a:prstGeom prst="roundRect">
            <a:avLst>
              <a:gd name="adj" fmla="val 17778"/>
            </a:avLst>
          </a:prstGeom>
          <a:solidFill>
            <a:srgbClr val="8A7A6D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8229600" y="1600200"/>
            <a:ext cx="3246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se hace este curso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8275320" y="2194560"/>
            <a:ext cx="31546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2E21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Escaneo de código de barras</a:t>
            </a:r>
            <a:endParaRPr lang="en-US" sz="11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2E21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Cobro real con tarjeta</a:t>
            </a:r>
            <a:endParaRPr lang="en-US" sz="11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2E21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Notificaciones push</a:t>
            </a:r>
            <a:endParaRPr lang="en-US" sz="11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2E21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Liquidar deudas de verdad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548640" y="4846320"/>
            <a:ext cx="11064240" cy="1417320"/>
          </a:xfrm>
          <a:prstGeom prst="roundRect">
            <a:avLst>
              <a:gd name="adj" fmla="val 7742"/>
            </a:avLst>
          </a:prstGeom>
          <a:solidFill>
            <a:srgbClr val="2E2119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868680" y="4956048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"En P1, un hogar de A Coruña controla su nevera y organiza la lista de la compra compartida sin usar el grupo de WhatsApp, y puede consultar su historial de gasto repartido y comparar precios entre tiendas."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868680" y="5852160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8CB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Orden de construcción: Nevera → Lista (concurrencia) → Historial → Precios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C9682B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4703" y="593263"/>
            <a:ext cx="294803" cy="294803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280160" y="43891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6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PASO 6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1280160" y="676656"/>
            <a:ext cx="9601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1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Documento de una página</a:t>
            </a:r>
            <a:endParaRPr lang="en-US" sz="2800" dirty="0"/>
          </a:p>
        </p:txBody>
      </p:sp>
      <p:sp>
        <p:nvSpPr>
          <p:cNvPr id="6" name="Shape 3"/>
          <p:cNvSpPr/>
          <p:nvPr/>
        </p:nvSpPr>
        <p:spPr>
          <a:xfrm>
            <a:off x="548640" y="1417320"/>
            <a:ext cx="5440680" cy="896112"/>
          </a:xfrm>
          <a:prstGeom prst="roundRect">
            <a:avLst>
              <a:gd name="adj" fmla="val 12245"/>
            </a:avLst>
          </a:prstGeom>
          <a:solidFill>
            <a:srgbClr val="F4E9DA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731520" y="1490472"/>
            <a:ext cx="5074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96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NOMBRE Y MENSAJE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1728216"/>
            <a:ext cx="5074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E21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Larder — controlar la nevera y la compra sin duplicados ni viajes extra, sin depender de un WhatsApp desordenado.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172200" y="1417320"/>
            <a:ext cx="5440680" cy="896112"/>
          </a:xfrm>
          <a:prstGeom prst="roundRect">
            <a:avLst>
              <a:gd name="adj" fmla="val 12245"/>
            </a:avLst>
          </a:prstGeom>
          <a:solidFill>
            <a:srgbClr val="EDE6DC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6355080" y="1490472"/>
            <a:ext cx="5074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96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PÚBLICO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6355080" y="1728216"/>
            <a:ext cx="5074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E21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Quien organiza la compra en un hogar compartido de A Coruña. ≈99.700 hogares accesibles.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548640" y="2432304"/>
            <a:ext cx="5440680" cy="896112"/>
          </a:xfrm>
          <a:prstGeom prst="roundRect">
            <a:avLst>
              <a:gd name="adj" fmla="val 12245"/>
            </a:avLst>
          </a:prstGeom>
          <a:solidFill>
            <a:srgbClr val="F4E9DA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731520" y="2505456"/>
            <a:ext cx="5074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96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PROBLEMA</a:t>
            </a:r>
            <a:endParaRPr lang="en-US" sz="1000" dirty="0"/>
          </a:p>
        </p:txBody>
      </p:sp>
      <p:sp>
        <p:nvSpPr>
          <p:cNvPr id="14" name="Text 11"/>
          <p:cNvSpPr txBox="1"/>
          <p:nvPr/>
        </p:nvSpPr>
        <p:spPr>
          <a:xfrm>
            <a:off x="731520" y="2743200"/>
            <a:ext cx="5074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E21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10-15 min/lista a ojo, 2 viajes/semana sin plan, ≈1.040€/año perdidos.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6172200" y="2432304"/>
            <a:ext cx="5440680" cy="896112"/>
          </a:xfrm>
          <a:prstGeom prst="roundRect">
            <a:avLst>
              <a:gd name="adj" fmla="val 12245"/>
            </a:avLst>
          </a:prstGeom>
          <a:solidFill>
            <a:srgbClr val="EDE6DC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6355080" y="2505456"/>
            <a:ext cx="5074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96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NÚMEROS</a:t>
            </a:r>
            <a:endParaRPr lang="en-US" sz="1000" dirty="0"/>
          </a:p>
        </p:txBody>
      </p:sp>
      <p:sp>
        <p:nvSpPr>
          <p:cNvPr id="17" name="Text 14"/>
          <p:cNvSpPr txBox="1"/>
          <p:nvPr/>
        </p:nvSpPr>
        <p:spPr>
          <a:xfrm>
            <a:off x="6355080" y="2743200"/>
            <a:ext cx="5074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E21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0,99€/mes · coste fijo 0€ · equilibrio: 1 hogar.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548640" y="3447288"/>
            <a:ext cx="5440680" cy="896112"/>
          </a:xfrm>
          <a:prstGeom prst="roundRect">
            <a:avLst>
              <a:gd name="adj" fmla="val 12245"/>
            </a:avLst>
          </a:prstGeom>
          <a:solidFill>
            <a:srgbClr val="F4E9DA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731520" y="3520440"/>
            <a:ext cx="5074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96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ALCANCE P1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731520" y="3758184"/>
            <a:ext cx="5074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E21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Nevera + Lista + Historial + Precios. Cobro real, fuera de alcance.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6172200" y="3447288"/>
            <a:ext cx="5440680" cy="896112"/>
          </a:xfrm>
          <a:prstGeom prst="roundRect">
            <a:avLst>
              <a:gd name="adj" fmla="val 12245"/>
            </a:avLst>
          </a:prstGeom>
          <a:solidFill>
            <a:srgbClr val="EDE6DC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6355080" y="3520440"/>
            <a:ext cx="5074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96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CANAL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6355080" y="3758184"/>
            <a:ext cx="5074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E21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Directo: el propio hogar es el primer usuario real.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548640" y="4462272"/>
            <a:ext cx="5440680" cy="896112"/>
          </a:xfrm>
          <a:prstGeom prst="roundRect">
            <a:avLst>
              <a:gd name="adj" fmla="val 12245"/>
            </a:avLst>
          </a:prstGeom>
          <a:solidFill>
            <a:srgbClr val="F4E9DA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5" name="Text 22"/>
          <p:cNvSpPr txBox="1"/>
          <p:nvPr/>
        </p:nvSpPr>
        <p:spPr>
          <a:xfrm>
            <a:off x="731520" y="4535424"/>
            <a:ext cx="5074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96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NO HAREMOS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731520" y="4773168"/>
            <a:ext cx="5074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E21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 de barras, cobro con tarjeta, notificaciones push, liquidar deudas de verdad.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2E21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731520"/>
            <a:ext cx="777240" cy="777240"/>
          </a:xfrm>
          <a:prstGeom prst="ellipse">
            <a:avLst/>
          </a:prstGeom>
          <a:solidFill>
            <a:srgbClr val="C9682B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9498" y="918058"/>
            <a:ext cx="404165" cy="404165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77240" y="173736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Próximos pasos</a:t>
            </a:r>
            <a:endParaRPr lang="en-US" sz="38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2697480"/>
            <a:ext cx="96012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→"/>
            </a:pPr>
            <a:r>
              <a:rPr lang="en-US" sz="1600" dirty="0">
                <a:solidFill>
                  <a:srgbClr val="EFE6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Terminar la pantalla de la Nevera (frontend con React + TypeScript)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→"/>
            </a:pPr>
            <a:r>
              <a:rPr lang="en-US" sz="1600" dirty="0">
                <a:solidFill>
                  <a:srgbClr val="EFE6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Lista de la compra con control de concurrencia real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→"/>
            </a:pPr>
            <a:r>
              <a:rPr lang="en-US" sz="1600" dirty="0">
                <a:solidFill>
                  <a:srgbClr val="EFE6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Instalar y parametrizar Odoo (catálogo + precios por tienda)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→"/>
            </a:pPr>
            <a:r>
              <a:rPr lang="en-US" sz="1600" dirty="0">
                <a:solidFill>
                  <a:srgbClr val="EFE6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Conectar el backend con la API de Odoo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→"/>
            </a:pPr>
            <a:r>
              <a:rPr lang="en-US" sz="1600" dirty="0">
                <a:solidFill>
                  <a:srgbClr val="EFE6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Historial de gasto y comparador de precios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822960" y="5806440"/>
            <a:ext cx="7772400" cy="640080"/>
          </a:xfrm>
          <a:prstGeom prst="roundRect">
            <a:avLst>
              <a:gd name="adj" fmla="val 11429"/>
            </a:avLst>
          </a:prstGeom>
          <a:solidFill>
            <a:srgbClr val="3D2E23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1051560" y="580644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Entrega viernes: idea validada, con números y decisiones que se pueden defender.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2026-09-15T20:09:41Z</dcterms:created>
  <dcterms:modified xsi:type="dcterms:W3CDTF">2026-09-15T20:09:41Z</dcterms:modified>
</cp:coreProperties>
</file>